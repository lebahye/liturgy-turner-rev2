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628" r:id="rId3"/>
    <p:sldId id="257" r:id="rId4"/>
    <p:sldId id="259" r:id="rId5"/>
    <p:sldId id="261" r:id="rId6"/>
    <p:sldId id="262" r:id="rId7"/>
    <p:sldId id="264" r:id="rId8"/>
    <p:sldId id="266" r:id="rId9"/>
    <p:sldId id="267" r:id="rId10"/>
    <p:sldId id="269" r:id="rId11"/>
    <p:sldId id="270" r:id="rId12"/>
    <p:sldId id="272" r:id="rId13"/>
    <p:sldId id="274" r:id="rId14"/>
    <p:sldId id="275" r:id="rId15"/>
    <p:sldId id="471" r:id="rId16"/>
    <p:sldId id="278" r:id="rId17"/>
    <p:sldId id="456" r:id="rId18"/>
    <p:sldId id="280" r:id="rId19"/>
    <p:sldId id="282" r:id="rId20"/>
    <p:sldId id="284" r:id="rId21"/>
    <p:sldId id="286" r:id="rId22"/>
    <p:sldId id="287" r:id="rId23"/>
    <p:sldId id="289" r:id="rId24"/>
    <p:sldId id="458" r:id="rId25"/>
    <p:sldId id="459" r:id="rId26"/>
    <p:sldId id="460" r:id="rId27"/>
    <p:sldId id="461" r:id="rId28"/>
    <p:sldId id="462" r:id="rId29"/>
    <p:sldId id="617" r:id="rId30"/>
    <p:sldId id="300" r:id="rId31"/>
    <p:sldId id="618" r:id="rId32"/>
    <p:sldId id="301" r:id="rId33"/>
    <p:sldId id="303" r:id="rId34"/>
    <p:sldId id="304" r:id="rId35"/>
    <p:sldId id="305" r:id="rId36"/>
    <p:sldId id="464" r:id="rId37"/>
    <p:sldId id="465" r:id="rId38"/>
    <p:sldId id="466" r:id="rId39"/>
    <p:sldId id="467" r:id="rId40"/>
    <p:sldId id="468" r:id="rId41"/>
    <p:sldId id="469" r:id="rId42"/>
    <p:sldId id="470" r:id="rId43"/>
    <p:sldId id="619" r:id="rId44"/>
    <p:sldId id="317" r:id="rId45"/>
    <p:sldId id="475" r:id="rId46"/>
    <p:sldId id="476" r:id="rId47"/>
    <p:sldId id="477" r:id="rId48"/>
    <p:sldId id="478" r:id="rId49"/>
    <p:sldId id="479" r:id="rId50"/>
    <p:sldId id="481" r:id="rId51"/>
    <p:sldId id="620" r:id="rId52"/>
    <p:sldId id="483" r:id="rId53"/>
    <p:sldId id="484" r:id="rId54"/>
    <p:sldId id="485" r:id="rId55"/>
    <p:sldId id="486" r:id="rId56"/>
    <p:sldId id="621" r:id="rId57"/>
    <p:sldId id="488" r:id="rId58"/>
    <p:sldId id="489" r:id="rId59"/>
    <p:sldId id="490" r:id="rId60"/>
    <p:sldId id="491" r:id="rId61"/>
    <p:sldId id="492" r:id="rId62"/>
    <p:sldId id="493" r:id="rId63"/>
    <p:sldId id="494" r:id="rId64"/>
    <p:sldId id="495" r:id="rId65"/>
    <p:sldId id="496" r:id="rId66"/>
    <p:sldId id="497" r:id="rId67"/>
    <p:sldId id="510" r:id="rId68"/>
    <p:sldId id="509" r:id="rId69"/>
    <p:sldId id="499" r:id="rId70"/>
    <p:sldId id="500" r:id="rId71"/>
    <p:sldId id="501" r:id="rId72"/>
    <p:sldId id="502" r:id="rId73"/>
    <p:sldId id="503" r:id="rId74"/>
    <p:sldId id="504" r:id="rId75"/>
    <p:sldId id="622" r:id="rId76"/>
    <p:sldId id="506" r:id="rId77"/>
    <p:sldId id="507" r:id="rId78"/>
    <p:sldId id="508" r:id="rId79"/>
    <p:sldId id="511" r:id="rId80"/>
    <p:sldId id="512" r:id="rId81"/>
    <p:sldId id="513" r:id="rId82"/>
    <p:sldId id="514" r:id="rId83"/>
    <p:sldId id="515" r:id="rId84"/>
    <p:sldId id="516" r:id="rId85"/>
    <p:sldId id="517" r:id="rId86"/>
    <p:sldId id="518" r:id="rId87"/>
    <p:sldId id="519" r:id="rId88"/>
    <p:sldId id="520" r:id="rId89"/>
    <p:sldId id="521" r:id="rId90"/>
    <p:sldId id="522" r:id="rId91"/>
    <p:sldId id="523" r:id="rId92"/>
    <p:sldId id="524" r:id="rId93"/>
    <p:sldId id="526" r:id="rId94"/>
    <p:sldId id="527" r:id="rId95"/>
    <p:sldId id="528" r:id="rId96"/>
    <p:sldId id="529" r:id="rId97"/>
    <p:sldId id="530" r:id="rId98"/>
    <p:sldId id="531" r:id="rId99"/>
    <p:sldId id="532" r:id="rId100"/>
    <p:sldId id="533" r:id="rId101"/>
    <p:sldId id="534" r:id="rId102"/>
    <p:sldId id="535" r:id="rId103"/>
    <p:sldId id="536" r:id="rId104"/>
    <p:sldId id="537" r:id="rId105"/>
    <p:sldId id="538" r:id="rId106"/>
    <p:sldId id="539" r:id="rId107"/>
    <p:sldId id="540" r:id="rId108"/>
    <p:sldId id="541" r:id="rId109"/>
    <p:sldId id="542" r:id="rId110"/>
    <p:sldId id="543" r:id="rId111"/>
    <p:sldId id="544" r:id="rId112"/>
    <p:sldId id="545" r:id="rId113"/>
    <p:sldId id="546" r:id="rId114"/>
    <p:sldId id="548" r:id="rId115"/>
    <p:sldId id="549" r:id="rId116"/>
    <p:sldId id="550" r:id="rId117"/>
    <p:sldId id="551" r:id="rId118"/>
    <p:sldId id="552" r:id="rId119"/>
    <p:sldId id="553" r:id="rId120"/>
    <p:sldId id="554" r:id="rId121"/>
    <p:sldId id="555" r:id="rId122"/>
    <p:sldId id="623" r:id="rId123"/>
    <p:sldId id="557" r:id="rId124"/>
    <p:sldId id="558" r:id="rId125"/>
    <p:sldId id="559" r:id="rId126"/>
    <p:sldId id="560" r:id="rId127"/>
    <p:sldId id="561" r:id="rId128"/>
    <p:sldId id="562" r:id="rId129"/>
    <p:sldId id="563" r:id="rId130"/>
    <p:sldId id="564" r:id="rId131"/>
    <p:sldId id="565" r:id="rId132"/>
    <p:sldId id="566" r:id="rId133"/>
    <p:sldId id="567" r:id="rId134"/>
    <p:sldId id="568" r:id="rId135"/>
    <p:sldId id="569" r:id="rId136"/>
    <p:sldId id="570" r:id="rId137"/>
    <p:sldId id="571" r:id="rId138"/>
    <p:sldId id="572" r:id="rId139"/>
    <p:sldId id="573" r:id="rId140"/>
    <p:sldId id="624" r:id="rId141"/>
    <p:sldId id="575" r:id="rId142"/>
    <p:sldId id="578" r:id="rId143"/>
    <p:sldId id="579" r:id="rId144"/>
    <p:sldId id="580" r:id="rId145"/>
    <p:sldId id="581" r:id="rId146"/>
    <p:sldId id="582" r:id="rId147"/>
    <p:sldId id="583" r:id="rId148"/>
    <p:sldId id="422" r:id="rId149"/>
    <p:sldId id="423" r:id="rId150"/>
    <p:sldId id="424" r:id="rId151"/>
    <p:sldId id="425" r:id="rId152"/>
    <p:sldId id="426" r:id="rId153"/>
    <p:sldId id="584" r:id="rId154"/>
    <p:sldId id="625" r:id="rId155"/>
    <p:sldId id="585" r:id="rId156"/>
    <p:sldId id="586" r:id="rId157"/>
    <p:sldId id="587" r:id="rId158"/>
    <p:sldId id="588" r:id="rId159"/>
    <p:sldId id="626" r:id="rId160"/>
    <p:sldId id="589" r:id="rId161"/>
    <p:sldId id="590" r:id="rId162"/>
    <p:sldId id="591" r:id="rId163"/>
    <p:sldId id="592" r:id="rId164"/>
    <p:sldId id="593" r:id="rId165"/>
    <p:sldId id="594" r:id="rId166"/>
    <p:sldId id="627" r:id="rId167"/>
    <p:sldId id="595" r:id="rId168"/>
    <p:sldId id="596" r:id="rId169"/>
    <p:sldId id="597" r:id="rId170"/>
    <p:sldId id="598" r:id="rId171"/>
    <p:sldId id="599" r:id="rId172"/>
    <p:sldId id="603" r:id="rId173"/>
    <p:sldId id="600" r:id="rId174"/>
    <p:sldId id="602" r:id="rId175"/>
    <p:sldId id="605" r:id="rId176"/>
    <p:sldId id="606" r:id="rId177"/>
    <p:sldId id="607" r:id="rId178"/>
    <p:sldId id="608" r:id="rId179"/>
    <p:sldId id="609" r:id="rId180"/>
    <p:sldId id="610" r:id="rId181"/>
    <p:sldId id="611" r:id="rId182"/>
    <p:sldId id="612" r:id="rId183"/>
    <p:sldId id="613" r:id="rId184"/>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9073A8C-0244-4292-8522-52CA2606518E}">
          <p14:sldIdLst>
            <p14:sldId id="256"/>
            <p14:sldId id="628"/>
            <p14:sldId id="257"/>
            <p14:sldId id="259"/>
            <p14:sldId id="261"/>
            <p14:sldId id="262"/>
            <p14:sldId id="264"/>
            <p14:sldId id="266"/>
            <p14:sldId id="267"/>
            <p14:sldId id="269"/>
            <p14:sldId id="270"/>
            <p14:sldId id="272"/>
            <p14:sldId id="274"/>
            <p14:sldId id="275"/>
            <p14:sldId id="471"/>
            <p14:sldId id="278"/>
            <p14:sldId id="456"/>
            <p14:sldId id="280"/>
            <p14:sldId id="282"/>
            <p14:sldId id="284"/>
            <p14:sldId id="286"/>
            <p14:sldId id="287"/>
            <p14:sldId id="289"/>
            <p14:sldId id="458"/>
            <p14:sldId id="459"/>
            <p14:sldId id="460"/>
            <p14:sldId id="461"/>
            <p14:sldId id="462"/>
            <p14:sldId id="617"/>
            <p14:sldId id="300"/>
            <p14:sldId id="618"/>
            <p14:sldId id="301"/>
            <p14:sldId id="303"/>
            <p14:sldId id="304"/>
            <p14:sldId id="305"/>
            <p14:sldId id="464"/>
            <p14:sldId id="465"/>
            <p14:sldId id="466"/>
            <p14:sldId id="467"/>
            <p14:sldId id="468"/>
            <p14:sldId id="469"/>
            <p14:sldId id="470"/>
            <p14:sldId id="619"/>
            <p14:sldId id="317"/>
            <p14:sldId id="475"/>
            <p14:sldId id="476"/>
            <p14:sldId id="477"/>
            <p14:sldId id="478"/>
            <p14:sldId id="479"/>
            <p14:sldId id="481"/>
            <p14:sldId id="620"/>
            <p14:sldId id="483"/>
            <p14:sldId id="484"/>
            <p14:sldId id="485"/>
            <p14:sldId id="486"/>
            <p14:sldId id="621"/>
            <p14:sldId id="488"/>
            <p14:sldId id="489"/>
            <p14:sldId id="490"/>
            <p14:sldId id="491"/>
            <p14:sldId id="492"/>
            <p14:sldId id="493"/>
            <p14:sldId id="494"/>
            <p14:sldId id="495"/>
            <p14:sldId id="496"/>
            <p14:sldId id="497"/>
            <p14:sldId id="510"/>
            <p14:sldId id="509"/>
            <p14:sldId id="499"/>
            <p14:sldId id="500"/>
            <p14:sldId id="501"/>
            <p14:sldId id="502"/>
            <p14:sldId id="503"/>
            <p14:sldId id="504"/>
            <p14:sldId id="622"/>
            <p14:sldId id="506"/>
            <p14:sldId id="507"/>
            <p14:sldId id="508"/>
            <p14:sldId id="511"/>
            <p14:sldId id="512"/>
            <p14:sldId id="513"/>
            <p14:sldId id="514"/>
            <p14:sldId id="515"/>
            <p14:sldId id="516"/>
            <p14:sldId id="517"/>
            <p14:sldId id="518"/>
            <p14:sldId id="519"/>
            <p14:sldId id="520"/>
            <p14:sldId id="521"/>
            <p14:sldId id="522"/>
            <p14:sldId id="523"/>
            <p14:sldId id="524"/>
            <p14:sldId id="526"/>
            <p14:sldId id="527"/>
            <p14:sldId id="528"/>
            <p14:sldId id="529"/>
            <p14:sldId id="530"/>
            <p14:sldId id="531"/>
            <p14:sldId id="532"/>
            <p14:sldId id="533"/>
            <p14:sldId id="534"/>
            <p14:sldId id="535"/>
            <p14:sldId id="536"/>
            <p14:sldId id="537"/>
            <p14:sldId id="538"/>
            <p14:sldId id="539"/>
            <p14:sldId id="540"/>
            <p14:sldId id="541"/>
            <p14:sldId id="542"/>
            <p14:sldId id="543"/>
            <p14:sldId id="544"/>
            <p14:sldId id="545"/>
            <p14:sldId id="546"/>
            <p14:sldId id="548"/>
            <p14:sldId id="549"/>
            <p14:sldId id="550"/>
            <p14:sldId id="551"/>
            <p14:sldId id="552"/>
            <p14:sldId id="553"/>
            <p14:sldId id="554"/>
            <p14:sldId id="555"/>
            <p14:sldId id="623"/>
            <p14:sldId id="557"/>
            <p14:sldId id="558"/>
            <p14:sldId id="559"/>
            <p14:sldId id="560"/>
            <p14:sldId id="561"/>
            <p14:sldId id="562"/>
            <p14:sldId id="563"/>
            <p14:sldId id="564"/>
            <p14:sldId id="565"/>
            <p14:sldId id="566"/>
            <p14:sldId id="567"/>
            <p14:sldId id="568"/>
            <p14:sldId id="569"/>
            <p14:sldId id="570"/>
            <p14:sldId id="571"/>
            <p14:sldId id="572"/>
            <p14:sldId id="573"/>
            <p14:sldId id="624"/>
            <p14:sldId id="575"/>
            <p14:sldId id="578"/>
            <p14:sldId id="579"/>
            <p14:sldId id="580"/>
            <p14:sldId id="581"/>
            <p14:sldId id="582"/>
            <p14:sldId id="583"/>
            <p14:sldId id="422"/>
            <p14:sldId id="423"/>
            <p14:sldId id="424"/>
            <p14:sldId id="425"/>
            <p14:sldId id="426"/>
            <p14:sldId id="584"/>
            <p14:sldId id="625"/>
            <p14:sldId id="585"/>
            <p14:sldId id="586"/>
            <p14:sldId id="587"/>
            <p14:sldId id="588"/>
            <p14:sldId id="626"/>
            <p14:sldId id="589"/>
            <p14:sldId id="590"/>
            <p14:sldId id="591"/>
            <p14:sldId id="592"/>
            <p14:sldId id="593"/>
            <p14:sldId id="594"/>
            <p14:sldId id="627"/>
            <p14:sldId id="595"/>
            <p14:sldId id="596"/>
            <p14:sldId id="597"/>
            <p14:sldId id="598"/>
            <p14:sldId id="599"/>
            <p14:sldId id="603"/>
            <p14:sldId id="600"/>
            <p14:sldId id="602"/>
            <p14:sldId id="605"/>
            <p14:sldId id="606"/>
            <p14:sldId id="607"/>
            <p14:sldId id="608"/>
            <p14:sldId id="609"/>
            <p14:sldId id="610"/>
            <p14:sldId id="611"/>
            <p14:sldId id="612"/>
            <p14:sldId id="6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varScale="1">
        <p:scale>
          <a:sx n="83" d="100"/>
          <a:sy n="83" d="100"/>
        </p:scale>
        <p:origin x="50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32000" y="1496484"/>
            <a:ext cx="121920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2032000" y="4802717"/>
            <a:ext cx="12192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BDF1DC-4672-47EA-A809-F09B534C97E0}"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913674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BDF1DC-4672-47EA-A809-F09B534C97E0}"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1014879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9133" y="2279652"/>
            <a:ext cx="140208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1109133" y="6119285"/>
            <a:ext cx="14020800" cy="2000249"/>
          </a:xfrm>
        </p:spPr>
        <p:txBody>
          <a:bodyPr/>
          <a:lstStyle>
            <a:lvl1pPr marL="0" indent="0">
              <a:buNone/>
              <a:defRPr sz="3200">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BDF1DC-4672-47EA-A809-F09B534C97E0}"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2554285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BDF1DC-4672-47EA-A809-F09B534C97E0}"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291381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19717" y="486834"/>
            <a:ext cx="140208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19718" y="2241551"/>
            <a:ext cx="6877049"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1119718"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29600" y="2241551"/>
            <a:ext cx="691091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8229600"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BDF1DC-4672-47EA-A809-F09B534C97E0}" type="datetimeFigureOut">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203423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BDF1DC-4672-47EA-A809-F09B534C97E0}" type="datetimeFigureOut">
              <a:rPr lang="en-US" smtClean="0"/>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3810164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BDF1DC-4672-47EA-A809-F09B534C97E0}" type="datetimeFigureOut">
              <a:rPr lang="en-US" smtClean="0"/>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669401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6910917" y="1316567"/>
            <a:ext cx="82296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AEBDF1DC-4672-47EA-A809-F09B534C97E0}"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2385761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6910917" y="1316567"/>
            <a:ext cx="82296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AEBDF1DC-4672-47EA-A809-F09B534C97E0}"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697443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BDF1DC-4672-47EA-A809-F09B534C97E0}"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611110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633200" y="486834"/>
            <a:ext cx="35052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BDF1DC-4672-47EA-A809-F09B534C97E0}"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ACFDCD-DA3E-4EC9-B0B4-7C6075BCFE95}" type="slidenum">
              <a:rPr lang="en-US" smtClean="0"/>
              <a:t>‹#›</a:t>
            </a:fld>
            <a:endParaRPr lang="en-US"/>
          </a:p>
        </p:txBody>
      </p:sp>
    </p:spTree>
    <p:extLst>
      <p:ext uri="{BB962C8B-B14F-4D97-AF65-F5344CB8AC3E}">
        <p14:creationId xmlns:p14="http://schemas.microsoft.com/office/powerpoint/2010/main" val="1772239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600" y="8475134"/>
            <a:ext cx="36576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AEBDF1DC-4672-47EA-A809-F09B534C97E0}" type="datetimeFigureOut">
              <a:rPr lang="en-US" smtClean="0"/>
              <a:t>10/10/2025</a:t>
            </a:fld>
            <a:endParaRPr lang="en-US"/>
          </a:p>
        </p:txBody>
      </p:sp>
      <p:sp>
        <p:nvSpPr>
          <p:cNvPr id="5" name="Footer Placeholder 4"/>
          <p:cNvSpPr>
            <a:spLocks noGrp="1"/>
          </p:cNvSpPr>
          <p:nvPr>
            <p:ph type="ftr" sz="quarter" idx="3"/>
          </p:nvPr>
        </p:nvSpPr>
        <p:spPr>
          <a:xfrm>
            <a:off x="5384800" y="8475134"/>
            <a:ext cx="54864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480800" y="8475134"/>
            <a:ext cx="36576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F1ACFDCD-DA3E-4EC9-B0B4-7C6075BCFE95}" type="slidenum">
              <a:rPr lang="en-US" smtClean="0"/>
              <a:t>‹#›</a:t>
            </a:fld>
            <a:endParaRPr lang="en-US"/>
          </a:p>
        </p:txBody>
      </p:sp>
    </p:spTree>
    <p:extLst>
      <p:ext uri="{BB962C8B-B14F-4D97-AF65-F5344CB8AC3E}">
        <p14:creationId xmlns:p14="http://schemas.microsoft.com/office/powerpoint/2010/main" val="256475325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75F7C7-B2DB-4AF2-A0CA-031339EC1718}"/>
              </a:ext>
            </a:extLst>
          </p:cNvPr>
          <p:cNvSpPr txBox="1"/>
          <p:nvPr/>
        </p:nvSpPr>
        <p:spPr>
          <a:xfrm>
            <a:off x="8906939" y="1954274"/>
            <a:ext cx="6858000" cy="5632311"/>
          </a:xfrm>
          <a:prstGeom prst="rect">
            <a:avLst/>
          </a:prstGeom>
          <a:noFill/>
          <a:ln>
            <a:noFill/>
          </a:ln>
        </p:spPr>
        <p:txBody>
          <a:bodyPr wrap="square" rtlCol="0">
            <a:spAutoFit/>
          </a:bodyPr>
          <a:lstStyle/>
          <a:p>
            <a:pPr algn="ctr"/>
            <a:r>
              <a:rPr lang="en-US" sz="6000" dirty="0">
                <a:latin typeface="Times New Roman" panose="02020603050405020304" pitchFamily="18" charset="0"/>
                <a:ea typeface="Calibri" panose="020F0502020204030204" pitchFamily="34" charset="0"/>
              </a:rPr>
              <a:t>THE DIVINE LITURGY </a:t>
            </a:r>
          </a:p>
          <a:p>
            <a:pPr algn="ctr"/>
            <a:r>
              <a:rPr lang="en-US" sz="6000" dirty="0">
                <a:latin typeface="Times New Roman" panose="02020603050405020304" pitchFamily="18" charset="0"/>
                <a:ea typeface="Calibri" panose="020F0502020204030204" pitchFamily="34" charset="0"/>
              </a:rPr>
              <a:t>OF THE ARMENIAN APOSTOLIC</a:t>
            </a:r>
            <a:r>
              <a:rPr lang="en-US" sz="6000" dirty="0">
                <a:latin typeface="Cambria Math" panose="02040503050406030204" pitchFamily="18" charset="0"/>
                <a:ea typeface="Calibri" panose="020F0502020204030204" pitchFamily="34" charset="0"/>
                <a:cs typeface="Cambria Math" panose="02040503050406030204" pitchFamily="18" charset="0"/>
              </a:rPr>
              <a:t>           </a:t>
            </a:r>
            <a:r>
              <a:rPr lang="en-US" sz="6000" dirty="0">
                <a:latin typeface="Times New Roman" panose="02020603050405020304" pitchFamily="18" charset="0"/>
                <a:ea typeface="Calibri" panose="020F0502020204030204" pitchFamily="34" charset="0"/>
              </a:rPr>
              <a:t>HOLY CHURCH</a:t>
            </a:r>
          </a:p>
        </p:txBody>
      </p:sp>
      <p:sp>
        <p:nvSpPr>
          <p:cNvPr id="5" name="TextBox 4">
            <a:extLst>
              <a:ext uri="{FF2B5EF4-FFF2-40B4-BE49-F238E27FC236}">
                <a16:creationId xmlns:a16="http://schemas.microsoft.com/office/drawing/2014/main" id="{9DE048ED-A26E-41C7-8586-6AFA4E4B4738}"/>
              </a:ext>
            </a:extLst>
          </p:cNvPr>
          <p:cNvSpPr txBox="1"/>
          <p:nvPr/>
        </p:nvSpPr>
        <p:spPr>
          <a:xfrm>
            <a:off x="1054319" y="1954274"/>
            <a:ext cx="6179857" cy="5632311"/>
          </a:xfrm>
          <a:prstGeom prst="rect">
            <a:avLst/>
          </a:prstGeom>
          <a:noFill/>
          <a:ln>
            <a:noFill/>
          </a:ln>
        </p:spPr>
        <p:txBody>
          <a:bodyPr wrap="square" rtlCol="0">
            <a:spAutoFit/>
          </a:bodyPr>
          <a:lstStyle/>
          <a:p>
            <a:pPr algn="ctr"/>
            <a:r>
              <a:rPr lang="hy-AM" sz="6000" dirty="0">
                <a:latin typeface="Arm HelvU" pitchFamily="2" charset="0"/>
                <a:ea typeface="Calibri" panose="020F0502020204030204" pitchFamily="34" charset="0"/>
              </a:rPr>
              <a:t>ՍՈՒՐԲ ՊԱՏԱՐԱԳ </a:t>
            </a:r>
          </a:p>
          <a:p>
            <a:pPr algn="ctr"/>
            <a:r>
              <a:rPr lang="hy-AM" sz="6000" dirty="0">
                <a:latin typeface="Arm HelvU" pitchFamily="2" charset="0"/>
                <a:ea typeface="Calibri" panose="020F0502020204030204" pitchFamily="34" charset="0"/>
              </a:rPr>
              <a:t>ՀԱՅԱՍՏԱՆԵԱՅՑԱՌԱՔԵԼԱԿԱՆ ՍՈՒՐԲ</a:t>
            </a:r>
          </a:p>
          <a:p>
            <a:pPr algn="ctr"/>
            <a:r>
              <a:rPr lang="hy-AM" sz="6000" dirty="0">
                <a:latin typeface="Arm HelvU" pitchFamily="2" charset="0"/>
                <a:ea typeface="Calibri" panose="020F0502020204030204" pitchFamily="34" charset="0"/>
              </a:rPr>
              <a:t>ԵԿԵՂԵՑՒՈՅ</a:t>
            </a:r>
          </a:p>
        </p:txBody>
      </p:sp>
      <p:cxnSp>
        <p:nvCxnSpPr>
          <p:cNvPr id="6" name="Straight Connector 5">
            <a:extLst>
              <a:ext uri="{FF2B5EF4-FFF2-40B4-BE49-F238E27FC236}">
                <a16:creationId xmlns:a16="http://schemas.microsoft.com/office/drawing/2014/main" id="{28637A75-69FA-4077-AFC6-E464BADF98A4}"/>
              </a:ext>
            </a:extLst>
          </p:cNvPr>
          <p:cNvCxnSpPr>
            <a:cxnSpLocks/>
          </p:cNvCxnSpPr>
          <p:nvPr/>
        </p:nvCxnSpPr>
        <p:spPr>
          <a:xfrm>
            <a:off x="8128000" y="0"/>
            <a:ext cx="0" cy="91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617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861774"/>
          </a:xfrm>
          <a:prstGeom prst="rect">
            <a:avLst/>
          </a:prstGeom>
          <a:noFill/>
          <a:ln>
            <a:noFill/>
          </a:ln>
        </p:spPr>
        <p:txBody>
          <a:bodyPr wrap="square" rtlCol="0">
            <a:spAutoFit/>
          </a:bodyPr>
          <a:lstStyle/>
          <a:p>
            <a:pPr algn="ctr"/>
            <a:r>
              <a:rPr lang="en-US" sz="5000" b="0" i="0" u="none" strike="noStrike" baseline="0" dirty="0">
                <a:latin typeface="TimesNewRomanPSMT"/>
              </a:rPr>
              <a:t>BADRASDOOTYOON</a:t>
            </a:r>
            <a:endParaRPr lang="en-US" sz="5000" dirty="0">
              <a:latin typeface="Arm HelvU" pitchFamily="2"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861774"/>
          </a:xfrm>
          <a:prstGeom prst="rect">
            <a:avLst/>
          </a:prstGeom>
          <a:noFill/>
          <a:ln>
            <a:noFill/>
          </a:ln>
        </p:spPr>
        <p:txBody>
          <a:bodyPr wrap="square" rtlCol="0">
            <a:spAutoFit/>
          </a:bodyPr>
          <a:lstStyle/>
          <a:p>
            <a:pPr algn="ctr"/>
            <a:r>
              <a:rPr lang="en-US" sz="5000" b="0" i="0" u="none" strike="noStrike" baseline="0" dirty="0">
                <a:latin typeface="TimesNewRomanPSMT"/>
              </a:rPr>
              <a:t>THE PREPARATION</a:t>
            </a:r>
            <a:endParaRPr lang="en-US" sz="5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861774"/>
          </a:xfrm>
          <a:prstGeom prst="rect">
            <a:avLst/>
          </a:prstGeom>
          <a:noFill/>
          <a:ln w="12700">
            <a:noFill/>
          </a:ln>
        </p:spPr>
        <p:txBody>
          <a:bodyPr wrap="square" rtlCol="0">
            <a:spAutoFit/>
          </a:bodyPr>
          <a:lstStyle/>
          <a:p>
            <a:pPr algn="ctr"/>
            <a:r>
              <a:rPr lang="hy-AM" sz="5000" dirty="0">
                <a:latin typeface="Arm HelvU" pitchFamily="2" charset="0"/>
                <a:ea typeface="Calibri" panose="020F0502020204030204" pitchFamily="34" charset="0"/>
              </a:rPr>
              <a:t>ՊԱՏՐԱՍՏՈՒԹԻՒՆ</a:t>
            </a:r>
            <a:endParaRPr lang="en-US" sz="5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6D2DDD5-F5C5-7062-528D-FFECDB30A6C5}"/>
              </a:ext>
            </a:extLst>
          </p:cNvPr>
          <p:cNvSpPr txBox="1"/>
          <p:nvPr/>
        </p:nvSpPr>
        <p:spPr>
          <a:xfrm>
            <a:off x="0" y="3376"/>
            <a:ext cx="16276320" cy="861774"/>
          </a:xfrm>
          <a:prstGeom prst="rect">
            <a:avLst/>
          </a:prstGeom>
          <a:noFill/>
          <a:ln>
            <a:noFill/>
          </a:ln>
        </p:spPr>
        <p:txBody>
          <a:bodyPr wrap="square" rtlCol="0">
            <a:spAutoFit/>
          </a:bodyPr>
          <a:lstStyle/>
          <a:p>
            <a:r>
              <a:rPr lang="hy-AM" sz="5000" dirty="0">
                <a:solidFill>
                  <a:srgbClr val="002060"/>
                </a:solidFill>
                <a:latin typeface="Times New Roman" panose="02020603050405020304" pitchFamily="18" charset="0"/>
                <a:ea typeface="Calibri" panose="020F0502020204030204" pitchFamily="34" charset="0"/>
              </a:rPr>
              <a:t>ՈՏՔԻ ԿԱՆԳՆԻԼ/</a:t>
            </a:r>
            <a:r>
              <a:rPr lang="en-US" sz="5000" dirty="0">
                <a:solidFill>
                  <a:srgbClr val="002060"/>
                </a:solidFill>
                <a:latin typeface="Times New Roman" panose="02020603050405020304" pitchFamily="18" charset="0"/>
                <a:ea typeface="Calibri" panose="020F0502020204030204" pitchFamily="34" charset="0"/>
              </a:rPr>
              <a:t>Stand   							                     </a:t>
            </a:r>
            <a:r>
              <a:rPr lang="hy-AM" sz="5000" dirty="0">
                <a:solidFill>
                  <a:srgbClr val="002060"/>
                </a:solidFill>
                <a:latin typeface="Times New Roman" panose="02020603050405020304" pitchFamily="18" charset="0"/>
                <a:ea typeface="Calibri" panose="020F0502020204030204" pitchFamily="34" charset="0"/>
              </a:rPr>
              <a:t>Էջ/</a:t>
            </a:r>
            <a:r>
              <a:rPr lang="en-US" sz="5000" dirty="0">
                <a:solidFill>
                  <a:srgbClr val="002060"/>
                </a:solidFill>
                <a:latin typeface="Times New Roman" panose="02020603050405020304" pitchFamily="18" charset="0"/>
                <a:ea typeface="Calibri" panose="020F0502020204030204" pitchFamily="34" charset="0"/>
              </a:rPr>
              <a:t>Page 1</a:t>
            </a:r>
          </a:p>
        </p:txBody>
      </p:sp>
    </p:spTree>
    <p:extLst>
      <p:ext uri="{BB962C8B-B14F-4D97-AF65-F5344CB8AC3E}">
        <p14:creationId xmlns:p14="http://schemas.microsoft.com/office/powerpoint/2010/main" val="342917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74720"/>
            <a:ext cx="16276320" cy="2400657"/>
          </a:xfrm>
          <a:prstGeom prst="rect">
            <a:avLst/>
          </a:prstGeom>
          <a:noFill/>
          <a:ln>
            <a:noFill/>
          </a:ln>
        </p:spPr>
        <p:txBody>
          <a:bodyPr wrap="square" rtlCol="0">
            <a:spAutoFit/>
          </a:bodyPr>
          <a:lstStyle/>
          <a:p>
            <a:r>
              <a:rPr lang="en-US" sz="5000" dirty="0">
                <a:solidFill>
                  <a:srgbClr val="00B050"/>
                </a:solidFill>
                <a:latin typeface="Times New Roman" panose="02020603050405020304" pitchFamily="18" charset="0"/>
                <a:ea typeface="Calibri" panose="020F0502020204030204" pitchFamily="34" charset="0"/>
              </a:rPr>
              <a:t>CHR. </a:t>
            </a:r>
            <a:r>
              <a:rPr lang="en-US" sz="5000" dirty="0" err="1">
                <a:latin typeface="Times New Roman" panose="02020603050405020304" pitchFamily="18" charset="0"/>
                <a:ea typeface="Calibri" panose="020F0502020204030204" pitchFamily="34" charset="0"/>
              </a:rPr>
              <a:t>Khorhoort</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khorin</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anhas</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anûsgizpn</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vor</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zartarétsér</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zvérin</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bédootyoont</a:t>
            </a:r>
            <a:r>
              <a:rPr lang="en-US" sz="5000" dirty="0">
                <a:latin typeface="Times New Roman" panose="02020603050405020304" pitchFamily="18" charset="0"/>
                <a:ea typeface="Calibri" panose="020F0502020204030204" pitchFamily="34" charset="0"/>
              </a:rPr>
              <a:t>, i </a:t>
            </a:r>
            <a:r>
              <a:rPr lang="en-US" sz="5000" dirty="0" err="1">
                <a:latin typeface="Times New Roman" panose="02020603050405020304" pitchFamily="18" charset="0"/>
                <a:ea typeface="Calibri" panose="020F0502020204030204" pitchFamily="34" charset="0"/>
              </a:rPr>
              <a:t>harakasd</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anmadooyts</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loosooyn</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kérabandz</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parok</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ztasûs</a:t>
            </a:r>
            <a:r>
              <a:rPr lang="en-US" sz="5000" dirty="0">
                <a:latin typeface="Times New Roman" panose="02020603050405020304" pitchFamily="18" charset="0"/>
                <a:ea typeface="Calibri" panose="020F0502020204030204" pitchFamily="34" charset="0"/>
              </a:rPr>
              <a:t> </a:t>
            </a:r>
            <a:r>
              <a:rPr lang="en-US" sz="5000" dirty="0" err="1">
                <a:latin typeface="Times New Roman" panose="02020603050405020304" pitchFamily="18" charset="0"/>
                <a:ea typeface="Calibri" panose="020F0502020204030204" pitchFamily="34" charset="0"/>
              </a:rPr>
              <a:t>hréghinats</a:t>
            </a:r>
            <a:r>
              <a:rPr lang="en-US" sz="5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010730"/>
            <a:ext cx="16276320" cy="3170099"/>
          </a:xfrm>
          <a:prstGeom prst="rect">
            <a:avLst/>
          </a:prstGeom>
          <a:noFill/>
          <a:ln>
            <a:noFill/>
          </a:ln>
        </p:spPr>
        <p:txBody>
          <a:bodyPr wrap="square" rtlCol="0">
            <a:spAutoFit/>
          </a:bodyPr>
          <a:lstStyle/>
          <a:p>
            <a:r>
              <a:rPr lang="en-US" sz="5000" dirty="0">
                <a:solidFill>
                  <a:srgbClr val="00B050"/>
                </a:solidFill>
                <a:latin typeface="Times New Roman" panose="02020603050405020304" pitchFamily="18" charset="0"/>
                <a:ea typeface="Calibri" panose="020F0502020204030204" pitchFamily="34" charset="0"/>
              </a:rPr>
              <a:t>CHR. </a:t>
            </a:r>
            <a:r>
              <a:rPr lang="en-US" sz="5000" dirty="0">
                <a:latin typeface="Times New Roman" panose="02020603050405020304" pitchFamily="18" charset="0"/>
                <a:ea typeface="Calibri" panose="020F0502020204030204" pitchFamily="34" charset="0"/>
              </a:rPr>
              <a:t>O profound mystery, incomprehensible and without beginning, you have decked your heavenly realm as a nuptial chamber to the light unapproachable and adorned the ranks of the fiery spirits with splendid glory.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400657"/>
          </a:xfrm>
          <a:prstGeom prst="rect">
            <a:avLst/>
          </a:prstGeom>
          <a:noFill/>
          <a:ln w="12700">
            <a:noFill/>
          </a:ln>
        </p:spPr>
        <p:txBody>
          <a:bodyPr wrap="square" rtlCol="0">
            <a:spAutoFit/>
          </a:bodyPr>
          <a:lstStyle/>
          <a:p>
            <a:r>
              <a:rPr lang="hy-AM" sz="5000" dirty="0">
                <a:solidFill>
                  <a:srgbClr val="00B050"/>
                </a:solidFill>
                <a:latin typeface="Arm HelvU" pitchFamily="2" charset="0"/>
                <a:ea typeface="Calibri" panose="020F0502020204030204" pitchFamily="34" charset="0"/>
              </a:rPr>
              <a:t>ԴՊՐ. </a:t>
            </a:r>
            <a:r>
              <a:rPr lang="hy-AM" sz="5000" dirty="0">
                <a:latin typeface="Arm HelvU" pitchFamily="2" charset="0"/>
                <a:ea typeface="Calibri" panose="020F0502020204030204" pitchFamily="34" charset="0"/>
              </a:rPr>
              <a:t>Խորհուրդ խորին անհաս անսկիզբն, որ զարդարեցեր զվերին պետութիւնդ, ի յառագաստ անմատոյց լուսոյն, գերապանծ փառօք զդասըս հրեղինաց:</a:t>
            </a:r>
            <a:endParaRPr lang="en-US" sz="5000" dirty="0">
              <a:latin typeface="Arm HelvU" pitchFamily="2" charset="0"/>
              <a:ea typeface="Calibri" panose="020F0502020204030204" pitchFamily="34" charset="0"/>
            </a:endParaRPr>
          </a:p>
        </p:txBody>
      </p:sp>
      <p:cxnSp>
        <p:nvCxnSpPr>
          <p:cNvPr id="9" name="Straight Connector 8"/>
          <p:cNvCxnSpPr/>
          <p:nvPr/>
        </p:nvCxnSpPr>
        <p:spPr>
          <a:xfrm>
            <a:off x="0" y="34747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99915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a:xfrm>
            <a:off x="0" y="91561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1686010-4CEC-1E7C-243A-9AF0F676FA5A}"/>
              </a:ext>
            </a:extLst>
          </p:cNvPr>
          <p:cNvSpPr txBox="1"/>
          <p:nvPr/>
        </p:nvSpPr>
        <p:spPr>
          <a:xfrm>
            <a:off x="0" y="3376"/>
            <a:ext cx="16276320" cy="861774"/>
          </a:xfrm>
          <a:prstGeom prst="rect">
            <a:avLst/>
          </a:prstGeom>
          <a:noFill/>
          <a:ln>
            <a:noFill/>
          </a:ln>
        </p:spPr>
        <p:txBody>
          <a:bodyPr wrap="square" rtlCol="0">
            <a:spAutoFit/>
          </a:bodyPr>
          <a:lstStyle/>
          <a:p>
            <a:r>
              <a:rPr lang="hy-AM" sz="5000" dirty="0">
                <a:solidFill>
                  <a:srgbClr val="002060"/>
                </a:solidFill>
                <a:latin typeface="Times New Roman" panose="02020603050405020304" pitchFamily="18" charset="0"/>
                <a:ea typeface="Calibri" panose="020F0502020204030204" pitchFamily="34" charset="0"/>
              </a:rPr>
              <a:t>ՈՏՔԻ ԿԱՆԳՆԻԼ/</a:t>
            </a:r>
            <a:r>
              <a:rPr lang="en-US" sz="5000" dirty="0">
                <a:solidFill>
                  <a:srgbClr val="002060"/>
                </a:solidFill>
                <a:latin typeface="Times New Roman" panose="02020603050405020304" pitchFamily="18" charset="0"/>
                <a:ea typeface="Calibri" panose="020F0502020204030204" pitchFamily="34" charset="0"/>
              </a:rPr>
              <a:t>Stand 								                     </a:t>
            </a:r>
            <a:r>
              <a:rPr lang="hy-AM" sz="5000" dirty="0">
                <a:solidFill>
                  <a:srgbClr val="002060"/>
                </a:solidFill>
                <a:latin typeface="Times New Roman" panose="02020603050405020304" pitchFamily="18" charset="0"/>
                <a:ea typeface="Calibri" panose="020F0502020204030204" pitchFamily="34" charset="0"/>
              </a:rPr>
              <a:t>Էջ/</a:t>
            </a:r>
            <a:r>
              <a:rPr lang="en-US" sz="5000" dirty="0">
                <a:solidFill>
                  <a:srgbClr val="002060"/>
                </a:solidFill>
                <a:latin typeface="Times New Roman" panose="02020603050405020304" pitchFamily="18" charset="0"/>
                <a:ea typeface="Calibri" panose="020F0502020204030204" pitchFamily="34" charset="0"/>
              </a:rPr>
              <a:t>Page 1</a:t>
            </a:r>
          </a:p>
        </p:txBody>
      </p:sp>
    </p:spTree>
    <p:extLst>
      <p:ext uri="{BB962C8B-B14F-4D97-AF65-F5344CB8AC3E}">
        <p14:creationId xmlns:p14="http://schemas.microsoft.com/office/powerpoint/2010/main" val="193723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74720"/>
            <a:ext cx="16276320" cy="1446550"/>
          </a:xfrm>
          <a:prstGeom prst="rect">
            <a:avLst/>
          </a:prstGeom>
          <a:noFill/>
          <a:ln>
            <a:noFill/>
          </a:ln>
        </p:spPr>
        <p:txBody>
          <a:bodyPr wrap="square" rtlCol="0">
            <a:spAutoFit/>
          </a:bodyPr>
          <a:lstStyle/>
          <a:p>
            <a:r>
              <a:rPr lang="en-US" sz="4400" dirty="0">
                <a:solidFill>
                  <a:srgbClr val="00B050"/>
                </a:solidFill>
                <a:latin typeface="Times New Roman" panose="02020603050405020304" pitchFamily="18" charset="0"/>
                <a:ea typeface="Calibri" panose="020F0502020204030204" pitchFamily="34" charset="0"/>
              </a:rPr>
              <a:t>CHR. </a:t>
            </a:r>
            <a:r>
              <a:rPr lang="en-US" sz="4400" dirty="0" err="1">
                <a:latin typeface="Times New Roman" panose="02020603050405020304" pitchFamily="18" charset="0"/>
                <a:ea typeface="Calibri" panose="020F0502020204030204" pitchFamily="34" charset="0"/>
              </a:rPr>
              <a:t>Takavor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yérgnavor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zégéghétsi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ansharzh</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bahya</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zérgûrbakoos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anvanût</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koom</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bahya</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khaghaghootyan</a:t>
            </a:r>
            <a:r>
              <a:rPr lang="en-US" sz="44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126480"/>
            <a:ext cx="16276320" cy="1446550"/>
          </a:xfrm>
          <a:prstGeom prst="rect">
            <a:avLst/>
          </a:prstGeom>
          <a:noFill/>
          <a:ln>
            <a:noFill/>
          </a:ln>
        </p:spPr>
        <p:txBody>
          <a:bodyPr wrap="square" rtlCol="0">
            <a:spAutoFit/>
          </a:bodyPr>
          <a:lstStyle/>
          <a:p>
            <a:r>
              <a:rPr lang="en-US" sz="4400" dirty="0">
                <a:solidFill>
                  <a:srgbClr val="00B050"/>
                </a:solidFill>
                <a:latin typeface="Times New Roman" panose="02020603050405020304" pitchFamily="18" charset="0"/>
                <a:ea typeface="Calibri" panose="020F0502020204030204" pitchFamily="34" charset="0"/>
              </a:rPr>
              <a:t>CHR. </a:t>
            </a:r>
            <a:r>
              <a:rPr lang="en-US" sz="4400" dirty="0">
                <a:latin typeface="Times New Roman" panose="02020603050405020304" pitchFamily="18" charset="0"/>
                <a:ea typeface="Calibri" panose="020F0502020204030204" pitchFamily="34" charset="0"/>
              </a:rPr>
              <a:t>Heavenly King, preserve your Church unshaken and keep in peace those who worship your name.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446550"/>
          </a:xfrm>
          <a:prstGeom prst="rect">
            <a:avLst/>
          </a:prstGeom>
          <a:noFill/>
          <a:ln w="12700">
            <a:noFill/>
          </a:ln>
        </p:spPr>
        <p:txBody>
          <a:bodyPr wrap="square" rtlCol="0">
            <a:spAutoFit/>
          </a:bodyPr>
          <a:lstStyle/>
          <a:p>
            <a:r>
              <a:rPr lang="hy-AM" sz="4400" dirty="0">
                <a:solidFill>
                  <a:srgbClr val="00B050"/>
                </a:solidFill>
                <a:latin typeface="Arm HelvU" pitchFamily="2" charset="0"/>
                <a:ea typeface="Calibri" panose="020F0502020204030204" pitchFamily="34" charset="0"/>
              </a:rPr>
              <a:t>ԴՊՐ. </a:t>
            </a:r>
            <a:r>
              <a:rPr lang="hy-AM" sz="4400" dirty="0">
                <a:latin typeface="Arm HelvU" pitchFamily="2" charset="0"/>
                <a:ea typeface="Calibri" panose="020F0502020204030204" pitchFamily="34" charset="0"/>
              </a:rPr>
              <a:t>Թագաւոր երկնաւոր, զեկեղեցի քո անշարժ պահեա, եւ զերկըրպագուս անուանըդ քում պահեա ի խաղաղութեան:</a:t>
            </a:r>
            <a:endParaRPr lang="en-US" sz="4400" dirty="0">
              <a:latin typeface="Arm HelvU" pitchFamily="2" charset="0"/>
              <a:ea typeface="Calibri" panose="020F0502020204030204" pitchFamily="34" charset="0"/>
            </a:endParaRPr>
          </a:p>
        </p:txBody>
      </p:sp>
      <p:cxnSp>
        <p:nvCxnSpPr>
          <p:cNvPr id="9" name="Straight Connector 8"/>
          <p:cNvCxnSpPr/>
          <p:nvPr/>
        </p:nvCxnSpPr>
        <p:spPr>
          <a:xfrm>
            <a:off x="0" y="34747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12648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C577F2D-D90E-CD01-DEDC-43B12C564FC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a:t>
            </a:r>
          </a:p>
        </p:txBody>
      </p:sp>
    </p:spTree>
    <p:extLst>
      <p:ext uri="{BB962C8B-B14F-4D97-AF65-F5344CB8AC3E}">
        <p14:creationId xmlns:p14="http://schemas.microsoft.com/office/powerpoint/2010/main" val="350229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74720"/>
            <a:ext cx="16276320" cy="1446550"/>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vasûn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sûrpoohvo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Asdvadzadznin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parékhosootyanûn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Dér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ûngal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zaghachanûs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gétso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ûzméz</a:t>
            </a:r>
            <a:r>
              <a:rPr lang="en-US" sz="44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126480"/>
            <a:ext cx="16276320" cy="2286000"/>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a:latin typeface="Times New Roman" panose="02020603050405020304" pitchFamily="18" charset="0"/>
                <a:ea typeface="Calibri" panose="020F0502020204030204" pitchFamily="34" charset="0"/>
              </a:rPr>
              <a:t>Through the intercession of the holy Mother of God, O Lord, receive our supplications and save us.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446550"/>
          </a:xfrm>
          <a:prstGeom prst="rect">
            <a:avLst/>
          </a:prstGeom>
          <a:noFill/>
          <a:ln w="12700">
            <a:noFill/>
          </a:ln>
        </p:spPr>
        <p:txBody>
          <a:bodyPr wrap="square" rtlCol="0">
            <a:spAutoFit/>
          </a:bodyPr>
          <a:lstStyle/>
          <a:p>
            <a:r>
              <a:rPr lang="hy-AM" sz="4400" dirty="0">
                <a:solidFill>
                  <a:srgbClr val="FF0000"/>
                </a:solidFill>
                <a:latin typeface="Arm HelvU" pitchFamily="2" charset="0"/>
                <a:ea typeface="Calibri" panose="020F0502020204030204" pitchFamily="34" charset="0"/>
              </a:rPr>
              <a:t>ՔՀՆ.</a:t>
            </a:r>
            <a:r>
              <a:rPr lang="hy-AM" sz="4400" dirty="0">
                <a:latin typeface="Arm HelvU" pitchFamily="2" charset="0"/>
                <a:ea typeface="Calibri" panose="020F0502020204030204" pitchFamily="34" charset="0"/>
              </a:rPr>
              <a:t>	Եւ վասն սրբուհւոյ Աստուածածնին բարեխօսութեանն, Տէր, ընկալ զաղաչանս մեր եւ կեցո զմեզ:</a:t>
            </a:r>
            <a:endParaRPr lang="en-US" sz="4400" dirty="0">
              <a:latin typeface="Arm HelvU" pitchFamily="2" charset="0"/>
              <a:ea typeface="Calibri" panose="020F0502020204030204" pitchFamily="34" charset="0"/>
            </a:endParaRPr>
          </a:p>
        </p:txBody>
      </p:sp>
      <p:cxnSp>
        <p:nvCxnSpPr>
          <p:cNvPr id="9" name="Straight Connector 8"/>
          <p:cNvCxnSpPr/>
          <p:nvPr/>
        </p:nvCxnSpPr>
        <p:spPr>
          <a:xfrm>
            <a:off x="0" y="34747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12648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CB992A5-630B-DB8B-2476-AA8B1175C4D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a:t>
            </a:r>
          </a:p>
        </p:txBody>
      </p:sp>
    </p:spTree>
    <p:extLst>
      <p:ext uri="{BB962C8B-B14F-4D97-AF65-F5344CB8AC3E}">
        <p14:creationId xmlns:p14="http://schemas.microsoft.com/office/powerpoint/2010/main" val="529607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743200"/>
          </a:xfrm>
          <a:prstGeom prst="rect">
            <a:avLst/>
          </a:prstGeom>
          <a:noFill/>
          <a:ln>
            <a:noFill/>
          </a:ln>
        </p:spPr>
        <p:txBody>
          <a:bodyPr wrap="square" rtlCol="0">
            <a:spAutoFit/>
          </a:bodyPr>
          <a:lstStyle/>
          <a:p>
            <a:r>
              <a:rPr lang="en-US" sz="4400" dirty="0">
                <a:solidFill>
                  <a:schemeClr val="accent1">
                    <a:lumMod val="75000"/>
                  </a:schemeClr>
                </a:solidFill>
                <a:latin typeface="Times New Roman" panose="02020603050405020304" pitchFamily="18" charset="0"/>
                <a:ea typeface="Calibri" panose="020F0502020204030204" pitchFamily="34" charset="0"/>
              </a:rPr>
              <a:t>DCN. </a:t>
            </a:r>
            <a:r>
              <a:rPr lang="en-US" sz="4400" dirty="0" err="1">
                <a:latin typeface="Times New Roman" panose="02020603050405020304" pitchFamily="18" charset="0"/>
                <a:ea typeface="Calibri" panose="020F0502020204030204" pitchFamily="34" charset="0"/>
              </a:rPr>
              <a:t>Soorp</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zAsdvadzadzinûn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zaménayn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soorpûs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parékhos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arastsook</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Hayr</a:t>
            </a:r>
            <a:r>
              <a:rPr lang="en-US" sz="4400" dirty="0">
                <a:latin typeface="Times New Roman" panose="02020603050405020304" pitchFamily="18" charset="0"/>
                <a:ea typeface="Calibri" panose="020F0502020204030204" pitchFamily="34" charset="0"/>
              </a:rPr>
              <a:t> i </a:t>
            </a:r>
            <a:r>
              <a:rPr lang="en-US" sz="4400" dirty="0" err="1">
                <a:latin typeface="Times New Roman" panose="02020603050405020304" pitchFamily="18" charset="0"/>
                <a:ea typeface="Calibri" panose="020F0502020204030204" pitchFamily="34" charset="0"/>
              </a:rPr>
              <a:t>hérgins</a:t>
            </a:r>
            <a:r>
              <a:rPr lang="en-US" sz="4400" dirty="0">
                <a:latin typeface="Times New Roman" panose="02020603050405020304" pitchFamily="18" charset="0"/>
                <a:ea typeface="Calibri" panose="020F0502020204030204" pitchFamily="34" charset="0"/>
              </a:rPr>
              <a:t>, zi </a:t>
            </a:r>
            <a:r>
              <a:rPr lang="en-US" sz="4400" dirty="0" err="1">
                <a:latin typeface="Times New Roman" panose="02020603050405020304" pitchFamily="18" charset="0"/>
                <a:ea typeface="Calibri" panose="020F0502020204030204" pitchFamily="34" charset="0"/>
              </a:rPr>
              <a:t>gamétsyal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voghorméstsi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kûtatsyal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gétsoostsé</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zararadzûs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yoor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Aménagal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Dér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Asdvadz</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gétso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voghormya</a:t>
            </a:r>
            <a:r>
              <a:rPr lang="en-US" sz="44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400800"/>
            <a:ext cx="16276320" cy="2743200"/>
          </a:xfrm>
          <a:prstGeom prst="rect">
            <a:avLst/>
          </a:prstGeom>
          <a:noFill/>
          <a:ln>
            <a:noFill/>
          </a:ln>
        </p:spPr>
        <p:txBody>
          <a:bodyPr wrap="square" rtlCol="0">
            <a:spAutoFit/>
          </a:bodyPr>
          <a:lstStyle/>
          <a:p>
            <a:r>
              <a:rPr lang="en-US" sz="4400" dirty="0">
                <a:solidFill>
                  <a:schemeClr val="accent1">
                    <a:lumMod val="75000"/>
                  </a:schemeClr>
                </a:solidFill>
                <a:latin typeface="Times New Roman" panose="02020603050405020304" pitchFamily="18" charset="0"/>
                <a:ea typeface="Calibri" panose="020F0502020204030204" pitchFamily="34" charset="0"/>
              </a:rPr>
              <a:t>DCN. </a:t>
            </a:r>
            <a:r>
              <a:rPr lang="en-US" sz="4400" dirty="0">
                <a:latin typeface="Times New Roman" panose="02020603050405020304" pitchFamily="18" charset="0"/>
                <a:ea typeface="Calibri" panose="020F0502020204030204" pitchFamily="34" charset="0"/>
              </a:rPr>
              <a:t>Let us ask the holy Mother of God and all the saints to intercede with the Father in heaven, that he may be pleased to have mercy and in compassion save his creatures. Almighty Lord, our God, save us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800767"/>
          </a:xfrm>
          <a:prstGeom prst="rect">
            <a:avLst/>
          </a:prstGeom>
          <a:noFill/>
          <a:ln w="12700">
            <a:noFill/>
          </a:ln>
        </p:spPr>
        <p:txBody>
          <a:bodyPr wrap="square" rtlCol="0">
            <a:spAutoFit/>
          </a:bodyPr>
          <a:lstStyle/>
          <a:p>
            <a:r>
              <a:rPr lang="hy-AM" sz="4400" dirty="0">
                <a:solidFill>
                  <a:schemeClr val="accent1">
                    <a:lumMod val="75000"/>
                  </a:schemeClr>
                </a:solidFill>
                <a:latin typeface="Arm HelvU" pitchFamily="2" charset="0"/>
                <a:ea typeface="Calibri" panose="020F0502020204030204" pitchFamily="34" charset="0"/>
              </a:rPr>
              <a:t>ՍՐԿ</a:t>
            </a:r>
            <a:r>
              <a:rPr lang="hy-AM" sz="4400" dirty="0">
                <a:solidFill>
                  <a:srgbClr val="00B0F0"/>
                </a:solidFill>
                <a:latin typeface="Arm HelvU" pitchFamily="2" charset="0"/>
                <a:ea typeface="Calibri" panose="020F0502020204030204" pitchFamily="34" charset="0"/>
              </a:rPr>
              <a:t>.</a:t>
            </a:r>
            <a:r>
              <a:rPr lang="hy-AM" sz="4400" dirty="0">
                <a:latin typeface="Arm HelvU" pitchFamily="2" charset="0"/>
                <a:ea typeface="Calibri" panose="020F0502020204030204" pitchFamily="34" charset="0"/>
              </a:rPr>
              <a:t>	Սուրբ զԱստուածածինըն եւ զամենայն սուրբըս բարեխօս արասցուք առ Հայր ի յերկինս, զի կամեցեալ ողորմեսցի եւ գըթացեալ կեցուսցէ զարարածըս իւր, ամենակալ Տէր Աստուած մեր, կեցո եւ ողորմեա: </a:t>
            </a:r>
            <a:endParaRPr lang="en-US" sz="44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4008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5578D36-D24F-9FBC-64F6-49F656B53FC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a:t>
            </a:r>
          </a:p>
        </p:txBody>
      </p:sp>
    </p:spTree>
    <p:extLst>
      <p:ext uri="{BB962C8B-B14F-4D97-AF65-F5344CB8AC3E}">
        <p14:creationId xmlns:p14="http://schemas.microsoft.com/office/powerpoint/2010/main" val="1929127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524824"/>
            <a:ext cx="16276320" cy="2123658"/>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err="1">
                <a:latin typeface="Times New Roman" panose="02020603050405020304" pitchFamily="18" charset="0"/>
                <a:ea typeface="Calibri" panose="020F0502020204030204" pitchFamily="34" charset="0"/>
              </a:rPr>
              <a:t>Ûngal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Dér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zaghachanûs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paré</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khosootyamp</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sûrpoohvo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Asdvadzadznin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anarad</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dzûnoghi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miyadzni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Vortvo</a:t>
            </a:r>
            <a:r>
              <a:rPr lang="en-US" sz="4400" dirty="0">
                <a:latin typeface="Times New Roman" panose="02020603050405020304" pitchFamily="18" charset="0"/>
                <a:ea typeface="Calibri" panose="020F0502020204030204" pitchFamily="34" charset="0"/>
              </a:rPr>
              <a:t> ko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aghachanok</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aménayn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sûrpots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kots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avoorûs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shnorhiv</a:t>
            </a:r>
            <a:r>
              <a:rPr lang="en-US" sz="44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338170"/>
            <a:ext cx="16276320" cy="2800767"/>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a:latin typeface="Times New Roman" panose="02020603050405020304" pitchFamily="18" charset="0"/>
                <a:ea typeface="Calibri" panose="020F0502020204030204" pitchFamily="34" charset="0"/>
              </a:rPr>
              <a:t>Receive, O Lord, our supplications through the intercession of the holy Mother of God, the immaculate mother of your only begotten Son, and by the supplication of all your saints, and by the grace of this day.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123658"/>
          </a:xfrm>
          <a:prstGeom prst="rect">
            <a:avLst/>
          </a:prstGeom>
          <a:noFill/>
          <a:ln w="12700">
            <a:noFill/>
          </a:ln>
        </p:spPr>
        <p:txBody>
          <a:bodyPr wrap="square" rtlCol="0">
            <a:spAutoFit/>
          </a:bodyPr>
          <a:lstStyle/>
          <a:p>
            <a:r>
              <a:rPr lang="hy-AM" sz="4400" dirty="0">
                <a:solidFill>
                  <a:srgbClr val="FF0000"/>
                </a:solidFill>
                <a:latin typeface="Arm HelvU" pitchFamily="2" charset="0"/>
                <a:ea typeface="Calibri" panose="020F0502020204030204" pitchFamily="34" charset="0"/>
              </a:rPr>
              <a:t>ՔՀՆ.</a:t>
            </a:r>
            <a:r>
              <a:rPr lang="hy-AM" sz="4400" dirty="0">
                <a:latin typeface="Arm HelvU" pitchFamily="2" charset="0"/>
                <a:ea typeface="Calibri" panose="020F0502020204030204" pitchFamily="34" charset="0"/>
              </a:rPr>
              <a:t>	Ընկալ, Տէր, զաղաչանս մեր բարեխօսութեամբ սրբուհւոյ Աստուածա-ծնին անարատ ծնողի միածնի Որդւոյ քո եւ աղաչանօք ամենայն սրբոց քոց եւ աւուրս շնորհիւ:</a:t>
            </a:r>
            <a:endParaRPr lang="en-US" sz="44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336792"/>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3ED8148-5595-7B65-C402-1240C36A4EA1}"/>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a:t>
            </a:r>
          </a:p>
        </p:txBody>
      </p:sp>
    </p:spTree>
    <p:extLst>
      <p:ext uri="{BB962C8B-B14F-4D97-AF65-F5344CB8AC3E}">
        <p14:creationId xmlns:p14="http://schemas.microsoft.com/office/powerpoint/2010/main" val="3817470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123658"/>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err="1">
                <a:latin typeface="Times New Roman" panose="02020603050405020304" pitchFamily="18" charset="0"/>
                <a:ea typeface="Calibri" panose="020F0502020204030204" pitchFamily="34" charset="0"/>
              </a:rPr>
              <a:t>Loor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méz</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Dér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voghormya</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nérya</a:t>
            </a:r>
            <a:r>
              <a:rPr lang="en-US" sz="4400" dirty="0">
                <a:latin typeface="Times New Roman" panose="02020603050405020304" pitchFamily="18" charset="0"/>
                <a:ea typeface="Calibri" panose="020F0502020204030204" pitchFamily="34" charset="0"/>
              </a:rPr>
              <a:t> kavya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togh</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ûzméghûs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Arzhanavorya</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kohootyamp</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paravorél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ûzkéz</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ûnt</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Vortvo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ûnt</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Sûrpo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Hokvooyt</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ayzhm</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mishd</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havidyanûs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havidénits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Amén</a:t>
            </a:r>
            <a:r>
              <a:rPr lang="en-US" sz="44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126480"/>
            <a:ext cx="16276320" cy="2123658"/>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a:latin typeface="Times New Roman" panose="02020603050405020304" pitchFamily="18" charset="0"/>
                <a:ea typeface="Calibri" panose="020F0502020204030204" pitchFamily="34" charset="0"/>
              </a:rPr>
              <a:t>forgive, expiate, and remit our sins. Make us worthy to thankfully glorify you with the Son and the Holy Spirit, now and always and forever and 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123658"/>
          </a:xfrm>
          <a:prstGeom prst="rect">
            <a:avLst/>
          </a:prstGeom>
          <a:noFill/>
          <a:ln w="12700">
            <a:noFill/>
          </a:ln>
        </p:spPr>
        <p:txBody>
          <a:bodyPr wrap="square" rtlCol="0">
            <a:spAutoFit/>
          </a:bodyPr>
          <a:lstStyle/>
          <a:p>
            <a:r>
              <a:rPr lang="hy-AM" sz="4400" dirty="0">
                <a:solidFill>
                  <a:srgbClr val="FF0000"/>
                </a:solidFill>
                <a:latin typeface="Arm HelvU" pitchFamily="2" charset="0"/>
                <a:ea typeface="Calibri" panose="020F0502020204030204" pitchFamily="34" charset="0"/>
              </a:rPr>
              <a:t>ՔՀՆ.</a:t>
            </a:r>
            <a:r>
              <a:rPr lang="hy-AM" sz="4400" dirty="0">
                <a:latin typeface="Arm HelvU" pitchFamily="2" charset="0"/>
                <a:ea typeface="Calibri" panose="020F0502020204030204" pitchFamily="34" charset="0"/>
              </a:rPr>
              <a:t>	Լուր մեզ, Տէր, եւ ողորմեա, ներեա, քաւեա եւ թող զմեղս մեր: Արժանաւորեա գոհութեամբ </a:t>
            </a:r>
            <a:r>
              <a:rPr lang="en-US" sz="4400" dirty="0">
                <a:latin typeface="Arm HelvU" pitchFamily="2" charset="0"/>
                <a:ea typeface="Calibri" panose="020F0502020204030204" pitchFamily="34" charset="0"/>
              </a:rPr>
              <a:t>w</a:t>
            </a:r>
            <a:r>
              <a:rPr lang="hy-AM" sz="4400" dirty="0">
                <a:latin typeface="Arm HelvU" pitchFamily="2" charset="0"/>
                <a:ea typeface="Calibri" panose="020F0502020204030204" pitchFamily="34" charset="0"/>
              </a:rPr>
              <a:t>առաւորել զքեզ ընդ Որդւոյ եւ ընդ Սրբոյ Հոգւոյդ, այժմ եւ միշտ եւ յաւիտեանս յաւիտենից։ Ամէն: </a:t>
            </a:r>
            <a:endParaRPr lang="en-US" sz="44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12648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7911A90-ED49-21D2-332A-54F6D5D7E04F}"/>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a:t>
            </a:r>
          </a:p>
        </p:txBody>
      </p:sp>
    </p:spTree>
    <p:extLst>
      <p:ext uri="{BB962C8B-B14F-4D97-AF65-F5344CB8AC3E}">
        <p14:creationId xmlns:p14="http://schemas.microsoft.com/office/powerpoint/2010/main" val="1116556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599980"/>
            <a:ext cx="16276320" cy="2123658"/>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err="1">
                <a:latin typeface="Times New Roman" panose="02020603050405020304" pitchFamily="18" charset="0"/>
                <a:ea typeface="Calibri" panose="020F0502020204030204" pitchFamily="34" charset="0"/>
              </a:rPr>
              <a:t>Méghootsyal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ém</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Asdoodzo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Khosdovanim</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arachi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Asdoodzo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Sûrpoohvo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Asdvadzadznin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arachi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aménayn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sûrpots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arachi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tsér</a:t>
            </a:r>
            <a:r>
              <a:rPr lang="en-US" sz="4400" dirty="0">
                <a:latin typeface="Times New Roman" panose="02020603050405020304" pitchFamily="18" charset="0"/>
                <a:ea typeface="Calibri" panose="020F0502020204030204" pitchFamily="34" charset="0"/>
              </a:rPr>
              <a:t>, hark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yéghpark</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zaménayn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méghûs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zors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kordzyal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ém</a:t>
            </a:r>
            <a:r>
              <a:rPr lang="en-US" sz="44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339422"/>
            <a:ext cx="16276320" cy="2123658"/>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a:latin typeface="Times New Roman" panose="02020603050405020304" pitchFamily="18" charset="0"/>
                <a:ea typeface="Calibri" panose="020F0502020204030204" pitchFamily="34" charset="0"/>
              </a:rPr>
              <a:t>I have sinned against God. I confess before God, and before the holy Mother of God, and before all the saints and before you, holy fathers and brethren, all the sins which I have committed;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800767"/>
          </a:xfrm>
          <a:prstGeom prst="rect">
            <a:avLst/>
          </a:prstGeom>
          <a:noFill/>
          <a:ln w="12700">
            <a:noFill/>
          </a:ln>
        </p:spPr>
        <p:txBody>
          <a:bodyPr wrap="square" rtlCol="0">
            <a:spAutoFit/>
          </a:bodyPr>
          <a:lstStyle/>
          <a:p>
            <a:r>
              <a:rPr lang="hy-AM" sz="4400" dirty="0">
                <a:solidFill>
                  <a:srgbClr val="FF0000"/>
                </a:solidFill>
                <a:latin typeface="Arm HelvU" pitchFamily="2" charset="0"/>
                <a:ea typeface="Calibri" panose="020F0502020204030204" pitchFamily="34" charset="0"/>
              </a:rPr>
              <a:t>ՔՀՆ.</a:t>
            </a:r>
            <a:r>
              <a:rPr lang="hy-AM" sz="4400" dirty="0">
                <a:latin typeface="Arm HelvU" pitchFamily="2" charset="0"/>
                <a:ea typeface="Calibri" panose="020F0502020204030204" pitchFamily="34" charset="0"/>
              </a:rPr>
              <a:t>	Մեղուցեալ եմ Աստուծոյ։ Խոստովանիմ առաջի Աստուծոյ եւ սրբուհւոյ Աստուածածնին եւ առաջի ամենայն սրբոց եւ առաջի ձեր` հարք եւ եղբարք, զամենայն մեղս զորս գործեալ եմ. </a:t>
            </a:r>
          </a:p>
          <a:p>
            <a:endParaRPr lang="en-US" sz="44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402052"/>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015594A-035D-12B2-2D7D-9A78AFCA0549}"/>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a:t>
            </a:r>
          </a:p>
        </p:txBody>
      </p:sp>
    </p:spTree>
    <p:extLst>
      <p:ext uri="{BB962C8B-B14F-4D97-AF65-F5344CB8AC3E}">
        <p14:creationId xmlns:p14="http://schemas.microsoft.com/office/powerpoint/2010/main" val="1758251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74720"/>
            <a:ext cx="16276320" cy="2123658"/>
          </a:xfrm>
          <a:prstGeom prst="rect">
            <a:avLst/>
          </a:prstGeom>
          <a:noFill/>
          <a:ln>
            <a:noFill/>
          </a:ln>
        </p:spPr>
        <p:txBody>
          <a:bodyPr wrap="square" rtlCol="0">
            <a:spAutoFit/>
          </a:bodyPr>
          <a:lstStyle/>
          <a:p>
            <a:r>
              <a:rPr lang="en-US" sz="4400" dirty="0">
                <a:solidFill>
                  <a:srgbClr val="FF0000"/>
                </a:solidFill>
                <a:latin typeface="Times New Roman" panose="02020603050405020304" pitchFamily="18" charset="0"/>
                <a:ea typeface="Calibri" panose="020F0502020204030204" pitchFamily="34" charset="0"/>
              </a:rPr>
              <a:t>CLB. </a:t>
            </a:r>
            <a:r>
              <a:rPr lang="en-US" sz="4400" dirty="0">
                <a:latin typeface="Times New Roman" panose="02020603050405020304" pitchFamily="18" charset="0"/>
                <a:ea typeface="Calibri" panose="020F0502020204030204" pitchFamily="34" charset="0"/>
              </a:rPr>
              <a:t>Kanzi </a:t>
            </a:r>
            <a:r>
              <a:rPr lang="en-US" sz="4400" dirty="0" err="1">
                <a:latin typeface="Times New Roman" panose="02020603050405020304" pitchFamily="18" charset="0"/>
                <a:ea typeface="Calibri" panose="020F0502020204030204" pitchFamily="34" charset="0"/>
              </a:rPr>
              <a:t>mégha</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khorhûrtov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paniv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kordzov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aménayn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méghok</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zor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kordzén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martig</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mégha</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mégha</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aghachém</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ûztséz</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khûntrétsék</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vasn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im</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hAsdoodzo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ûztoghootyoon</a:t>
            </a:r>
            <a:r>
              <a:rPr lang="en-US" sz="44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126480"/>
            <a:ext cx="16276320" cy="2123658"/>
          </a:xfrm>
          <a:prstGeom prst="rect">
            <a:avLst/>
          </a:prstGeom>
          <a:noFill/>
          <a:ln>
            <a:noFill/>
          </a:ln>
        </p:spPr>
        <p:txBody>
          <a:bodyPr wrap="square" rtlCol="0">
            <a:spAutoFit/>
          </a:bodyPr>
          <a:lstStyle/>
          <a:p>
            <a:pPr indent="457177"/>
            <a:r>
              <a:rPr lang="en-US" sz="4400" dirty="0">
                <a:solidFill>
                  <a:srgbClr val="FF0000"/>
                </a:solidFill>
                <a:latin typeface="Times New Roman" panose="02020603050405020304" pitchFamily="18" charset="0"/>
                <a:ea typeface="Calibri" panose="020F0502020204030204" pitchFamily="34" charset="0"/>
              </a:rPr>
              <a:t>CLB. </a:t>
            </a:r>
            <a:r>
              <a:rPr lang="en-US" sz="4400" dirty="0">
                <a:latin typeface="Times New Roman" panose="02020603050405020304" pitchFamily="18" charset="0"/>
                <a:ea typeface="Calibri" panose="020F0502020204030204" pitchFamily="34" charset="0"/>
              </a:rPr>
              <a:t>for I have sinned by thought, by word and by deed, and with all sins that men do commit. I have sinned, I have sinned; I beseech you, ask of God forgiveness for me.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031325"/>
          </a:xfrm>
          <a:prstGeom prst="rect">
            <a:avLst/>
          </a:prstGeom>
          <a:noFill/>
          <a:ln w="12700">
            <a:noFill/>
          </a:ln>
        </p:spPr>
        <p:txBody>
          <a:bodyPr wrap="square" rtlCol="0">
            <a:spAutoFit/>
          </a:bodyPr>
          <a:lstStyle/>
          <a:p>
            <a:r>
              <a:rPr lang="hy-AM" sz="4200" dirty="0">
                <a:solidFill>
                  <a:srgbClr val="FF0000"/>
                </a:solidFill>
                <a:latin typeface="Arm HelvU" pitchFamily="2" charset="0"/>
                <a:ea typeface="Calibri" panose="020F0502020204030204" pitchFamily="34" charset="0"/>
              </a:rPr>
              <a:t>ՔՀՆ. </a:t>
            </a:r>
            <a:r>
              <a:rPr lang="hy-AM" sz="4200" dirty="0">
                <a:latin typeface="Arm HelvU" pitchFamily="2" charset="0"/>
                <a:ea typeface="Calibri" panose="020F0502020204030204" pitchFamily="34" charset="0"/>
              </a:rPr>
              <a:t>քանզի մեղայ խորհըրդով, բանիւ եւ գործով եւ ամենայն մեղօք զոր գործեն մարդիկ. մեղայ, մեղայ, աղաչեմ զձեզ, խնդրեցէք վասն իմ յԱստուծոյ զթողութիւն:</a:t>
            </a:r>
            <a:endParaRPr lang="en-US" sz="4200" dirty="0">
              <a:latin typeface="Arm HelvU" pitchFamily="2" charset="0"/>
              <a:ea typeface="Calibri" panose="020F0502020204030204" pitchFamily="34" charset="0"/>
            </a:endParaRPr>
          </a:p>
        </p:txBody>
      </p:sp>
      <p:cxnSp>
        <p:nvCxnSpPr>
          <p:cNvPr id="9" name="Straight Connector 8"/>
          <p:cNvCxnSpPr/>
          <p:nvPr/>
        </p:nvCxnSpPr>
        <p:spPr>
          <a:xfrm>
            <a:off x="0" y="34747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12648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3058F6D-886E-C25F-96C8-F33EC3790987}"/>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a:t>
            </a:r>
          </a:p>
        </p:txBody>
      </p:sp>
    </p:spTree>
    <p:extLst>
      <p:ext uri="{BB962C8B-B14F-4D97-AF65-F5344CB8AC3E}">
        <p14:creationId xmlns:p14="http://schemas.microsoft.com/office/powerpoint/2010/main" val="2509643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Art </a:t>
            </a:r>
            <a:r>
              <a:rPr lang="en-US" sz="4000" dirty="0" err="1">
                <a:latin typeface="Times New Roman" panose="02020603050405020304" pitchFamily="18" charset="0"/>
                <a:ea typeface="Calibri" panose="020F0502020204030204" pitchFamily="34" charset="0"/>
              </a:rPr>
              <a:t>yégayk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aménékyan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khonarhyal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antsampk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pégyal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sûrdyook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angtsook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yev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latsook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ararchin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antsoostsé</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ménch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ûztsasoomûn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badoohasi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hantsanats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parérarootyampûn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yoorov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484620"/>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Now, therefore, come let all of us, with humble souls and broken hearts, fall down and weep before the Lord our Creator, that he may be pleased to let his wrath of the punishment of our transgressions turn away from us through his loving kindness. Almighty Lord our God, save us and have mercy upon us.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677656"/>
          </a:xfrm>
          <a:prstGeom prst="rect">
            <a:avLst/>
          </a:prstGeom>
          <a:noFill/>
          <a:ln w="12700">
            <a:noFill/>
          </a:ln>
        </p:spPr>
        <p:txBody>
          <a:bodyPr wrap="square" rtlCol="0">
            <a:spAutoFit/>
          </a:bodyPr>
          <a:lstStyle/>
          <a:p>
            <a:r>
              <a:rPr lang="hy-AM" sz="4200" dirty="0">
                <a:solidFill>
                  <a:schemeClr val="accent1">
                    <a:lumMod val="75000"/>
                  </a:schemeClr>
                </a:solidFill>
                <a:latin typeface="Arm HelvU" pitchFamily="2" charset="0"/>
                <a:ea typeface="Calibri" panose="020F0502020204030204" pitchFamily="34" charset="0"/>
              </a:rPr>
              <a:t>ՍՐԿ.</a:t>
            </a:r>
            <a:r>
              <a:rPr lang="en-US" sz="4200" dirty="0">
                <a:latin typeface="Arm HelvU" pitchFamily="2" charset="0"/>
                <a:ea typeface="Calibri" panose="020F0502020204030204" pitchFamily="34" charset="0"/>
              </a:rPr>
              <a:t> </a:t>
            </a:r>
            <a:r>
              <a:rPr lang="hy-AM" sz="4200" dirty="0">
                <a:latin typeface="Arm HelvU" pitchFamily="2" charset="0"/>
                <a:ea typeface="Calibri" panose="020F0502020204030204" pitchFamily="34" charset="0"/>
              </a:rPr>
              <a:t>Արդ եկայք ամենեքեան խոնարհեալ անձամբք, բեկեալ սրտիւք, անկցուք եւ լացցուք առաջի Տեառն արարչին մերոյ, զի անցուսցէ ի մէնջ զցասումն պատուհասի յանցանաց մերոց բարերարութեամբն իւրով, ամենակալ Տէր Աստուած մեր, կեցո եւ ողորմեա։</a:t>
            </a:r>
            <a:endParaRPr lang="en-US" sz="4200" dirty="0">
              <a:latin typeface="Arm HelvU" pitchFamily="2" charset="0"/>
              <a:ea typeface="Calibri" panose="020F0502020204030204" pitchFamily="34" charset="0"/>
            </a:endParaRPr>
          </a:p>
        </p:txBody>
      </p:sp>
      <p:cxnSp>
        <p:nvCxnSpPr>
          <p:cNvPr id="9" name="Straight Connector 8"/>
          <p:cNvCxnSpPr/>
          <p:nvPr/>
        </p:nvCxnSpPr>
        <p:spPr>
          <a:xfrm>
            <a:off x="0" y="35687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3195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A020C67-4EFC-D47A-9196-2E5D768C4B6E}"/>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a:t>
            </a:r>
          </a:p>
        </p:txBody>
      </p:sp>
    </p:spTree>
    <p:extLst>
      <p:ext uri="{BB962C8B-B14F-4D97-AF65-F5344CB8AC3E}">
        <p14:creationId xmlns:p14="http://schemas.microsoft.com/office/powerpoint/2010/main" val="1231029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Azadéstsé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ûztséz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martasérn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toghtsé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hantsanûs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Datsé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zhamanag</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abashkharélo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kordzélo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ûzparis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Ooghghéstsé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zarachaga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hûzorûn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voghormadzûn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nûma</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217920"/>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May God, the lover of mankind, set you also free and forgive all your transgressions. May he give you time to repent and to do good works. May the mighty and merciful God guide your life by the grace of the Holy Spirit, and to him be glory, forever. Amen.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Ազատեսցէ եւ զձեզ մարդասէրն Աստուած եւ թողցէ զամենայն յանցանս ձեր. տացէ ժամանակ ապաշխարելոյ եւ գործելոյ զբարիս, ուղղեսցէ եւ զառաջակայ կեանս ձեր շնորհօք Սուրբ Հոգւոյն, հզօրն եւ ողորմածն, եւ նմա </a:t>
            </a:r>
            <a:r>
              <a:rPr lang="en-US" sz="4000" dirty="0">
                <a:latin typeface="Arm HelvU" pitchFamily="2" charset="0"/>
                <a:ea typeface="Calibri" panose="020F0502020204030204" pitchFamily="34" charset="0"/>
              </a:rPr>
              <a:t>w</a:t>
            </a:r>
            <a:r>
              <a:rPr lang="hy-AM" sz="4000" dirty="0">
                <a:latin typeface="Arm HelvU" pitchFamily="2" charset="0"/>
                <a:ea typeface="Calibri" panose="020F0502020204030204" pitchFamily="34" charset="0"/>
              </a:rPr>
              <a:t>առք յաւիտեանս։ Ամէն: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19254E6-9284-E422-5941-5388AEF953F9}"/>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a:t>
            </a:r>
          </a:p>
        </p:txBody>
      </p:sp>
    </p:spTree>
    <p:extLst>
      <p:ext uri="{BB962C8B-B14F-4D97-AF65-F5344CB8AC3E}">
        <p14:creationId xmlns:p14="http://schemas.microsoft.com/office/powerpoint/2010/main" val="4268185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132343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Hishéschir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anmah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Karinn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p>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Hishyal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lichik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anmah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217920"/>
            <a:ext cx="16276320" cy="132343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Remember us also before the immortal Lamb of God. </a:t>
            </a: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You shall be remembered before the immortal Son of God.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Յիշեսջիր եւ ըզմեզ առաջի անմահ Գառինն Աստուծոյ:  </a:t>
            </a:r>
          </a:p>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Յիշեալ լիջիք առաջի անմահ Որդւոյն Աստուծոյ:</a:t>
            </a:r>
            <a:endParaRPr lang="en-US" sz="4000" dirty="0">
              <a:latin typeface="Arm HelvU" pitchFamily="2" charset="0"/>
              <a:ea typeface="Calibri" panose="020F0502020204030204" pitchFamily="34" charset="0"/>
            </a:endParaRPr>
          </a:p>
          <a:p>
            <a:endParaRPr lang="hy-AM" sz="4000" dirty="0">
              <a:latin typeface="Arm HelvU" pitchFamily="2" charset="0"/>
              <a:ea typeface="Calibri" panose="020F0502020204030204" pitchFamily="34" charset="0"/>
            </a:endParaRP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6D770C6-34E3-1ECD-8B9F-E7562D62AEBE}"/>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a:t>
            </a:r>
          </a:p>
        </p:txBody>
      </p:sp>
    </p:spTree>
    <p:extLst>
      <p:ext uri="{BB962C8B-B14F-4D97-AF65-F5344CB8AC3E}">
        <p14:creationId xmlns:p14="http://schemas.microsoft.com/office/powerpoint/2010/main" val="1816914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554545"/>
          </a:xfrm>
          <a:prstGeom prst="rect">
            <a:avLst/>
          </a:prstGeom>
          <a:noFill/>
          <a:ln>
            <a:noFill/>
          </a:ln>
        </p:spPr>
        <p:txBody>
          <a:bodyPr wrap="square" rtlCol="0">
            <a:spAutoFit/>
          </a:bodyPr>
          <a:lstStyle/>
          <a:p>
            <a:r>
              <a:rPr lang="en-US" sz="4000" dirty="0">
                <a:solidFill>
                  <a:srgbClr val="7030A0"/>
                </a:solidFill>
                <a:latin typeface="Times New Roman" panose="02020603050405020304" pitchFamily="18" charset="0"/>
                <a:ea typeface="Calibri" panose="020F0502020204030204" pitchFamily="34" charset="0"/>
              </a:rPr>
              <a:t>ACL. </a:t>
            </a:r>
            <a:r>
              <a:rPr lang="en-US" sz="4000" dirty="0" err="1">
                <a:latin typeface="Times New Roman" panose="02020603050405020304" pitchFamily="18" charset="0"/>
                <a:ea typeface="Calibri" panose="020F0502020204030204" pitchFamily="34" charset="0"/>
              </a:rPr>
              <a:t>Aghaghagétsék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dzarayétsék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oorakhootyamp</a:t>
            </a:r>
            <a:r>
              <a:rPr lang="en-US" sz="4000" dirty="0">
                <a:latin typeface="Times New Roman" panose="02020603050405020304" pitchFamily="18" charset="0"/>
                <a:ea typeface="Calibri" panose="020F0502020204030204" pitchFamily="34" charset="0"/>
              </a:rPr>
              <a:t>.</a:t>
            </a:r>
          </a:p>
          <a:p>
            <a:r>
              <a:rPr lang="en-US" sz="4000" dirty="0" err="1">
                <a:latin typeface="Times New Roman" panose="02020603050405020304" pitchFamily="18" charset="0"/>
                <a:ea typeface="Calibri" panose="020F0502020204030204" pitchFamily="34" charset="0"/>
              </a:rPr>
              <a:t>Mûdék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tsûndzootyamp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dzanérook</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na</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a:t>
            </a:r>
          </a:p>
          <a:p>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0" y="6217920"/>
            <a:ext cx="16276320" cy="2554545"/>
          </a:xfrm>
          <a:prstGeom prst="rect">
            <a:avLst/>
          </a:prstGeom>
          <a:noFill/>
          <a:ln>
            <a:noFill/>
          </a:ln>
        </p:spPr>
        <p:txBody>
          <a:bodyPr wrap="square" rtlCol="0">
            <a:spAutoFit/>
          </a:bodyPr>
          <a:lstStyle/>
          <a:p>
            <a:r>
              <a:rPr lang="en-US" sz="4000" dirty="0">
                <a:solidFill>
                  <a:srgbClr val="7030A0"/>
                </a:solidFill>
                <a:latin typeface="Times New Roman" panose="02020603050405020304" pitchFamily="18" charset="0"/>
                <a:ea typeface="Calibri" panose="020F0502020204030204" pitchFamily="34" charset="0"/>
              </a:rPr>
              <a:t>ACL.</a:t>
            </a:r>
            <a:r>
              <a:rPr lang="en-US" sz="4000" dirty="0">
                <a:latin typeface="Times New Roman" panose="02020603050405020304" pitchFamily="18" charset="0"/>
                <a:ea typeface="Calibri" panose="020F0502020204030204" pitchFamily="34" charset="0"/>
              </a:rPr>
              <a:t>	Make a joyful noise to the Lord, all the earth; worship the Lord with gladness.</a:t>
            </a:r>
            <a:endParaRPr lang="en-US" sz="4000" dirty="0">
              <a:solidFill>
                <a:srgbClr val="7030A0"/>
              </a:solidFill>
              <a:latin typeface="Times New Roman" panose="02020603050405020304" pitchFamily="18" charset="0"/>
              <a:ea typeface="Calibri" panose="020F0502020204030204" pitchFamily="34" charset="0"/>
            </a:endParaRPr>
          </a:p>
          <a:p>
            <a:r>
              <a:rPr lang="en-US" sz="4000" dirty="0">
                <a:latin typeface="Times New Roman" panose="02020603050405020304" pitchFamily="18" charset="0"/>
                <a:ea typeface="Calibri" panose="020F0502020204030204" pitchFamily="34" charset="0"/>
              </a:rPr>
              <a:t>Come into his presence with singing; know that the Lord is God.</a:t>
            </a:r>
          </a:p>
          <a:p>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7030A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Աղաղակեցէք առ Տէր ամենայն երկիր, ծառայեցէք Տեառն ուրախութեամբ:</a:t>
            </a:r>
          </a:p>
          <a:p>
            <a:r>
              <a:rPr lang="hy-AM" sz="4000" dirty="0">
                <a:latin typeface="Arm HelvU" pitchFamily="2" charset="0"/>
                <a:ea typeface="Calibri" panose="020F0502020204030204" pitchFamily="34" charset="0"/>
              </a:rPr>
              <a:t>Մըտէք առաջի նորա ցընծութեամբ, ծաներուք զի նա է Տէր Աստուած մեր:</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2213503-C3C4-46A2-C317-25F7F73DE2C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a:t>
            </a:r>
          </a:p>
        </p:txBody>
      </p:sp>
    </p:spTree>
    <p:extLst>
      <p:ext uri="{BB962C8B-B14F-4D97-AF65-F5344CB8AC3E}">
        <p14:creationId xmlns:p14="http://schemas.microsoft.com/office/powerpoint/2010/main" val="2301034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554545"/>
          </a:xfrm>
          <a:prstGeom prst="rect">
            <a:avLst/>
          </a:prstGeom>
          <a:noFill/>
          <a:ln>
            <a:noFill/>
          </a:ln>
        </p:spPr>
        <p:txBody>
          <a:bodyPr wrap="square" rtlCol="0">
            <a:spAutoFit/>
          </a:bodyPr>
          <a:lstStyle/>
          <a:p>
            <a:r>
              <a:rPr lang="en-US" sz="4000" dirty="0">
                <a:solidFill>
                  <a:srgbClr val="7030A0"/>
                </a:solidFill>
                <a:latin typeface="Times New Roman" panose="02020603050405020304" pitchFamily="18" charset="0"/>
                <a:ea typeface="Calibri" panose="020F0502020204030204" pitchFamily="34" charset="0"/>
              </a:rPr>
              <a:t>ACL. </a:t>
            </a:r>
            <a:r>
              <a:rPr lang="en-US" sz="4000" dirty="0">
                <a:latin typeface="Times New Roman" panose="02020603050405020304" pitchFamily="18" charset="0"/>
                <a:ea typeface="Calibri" panose="020F0502020204030204" pitchFamily="34" charset="0"/>
              </a:rPr>
              <a:t>Na arar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éyak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zhoghovoortk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khashn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arodi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a:t>
            </a:r>
          </a:p>
          <a:p>
            <a:r>
              <a:rPr lang="en-US" sz="4000" dirty="0" err="1">
                <a:latin typeface="Times New Roman" panose="02020603050405020304" pitchFamily="18" charset="0"/>
                <a:ea typeface="Calibri" panose="020F0502020204030204" pitchFamily="34" charset="0"/>
              </a:rPr>
              <a:t>Mûdék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troonûs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khosdovanootyamp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orhnootyamp</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hargûs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a:t>
            </a:r>
          </a:p>
          <a:p>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0" y="6217920"/>
            <a:ext cx="16276320" cy="2554545"/>
          </a:xfrm>
          <a:prstGeom prst="rect">
            <a:avLst/>
          </a:prstGeom>
          <a:noFill/>
          <a:ln>
            <a:noFill/>
          </a:ln>
        </p:spPr>
        <p:txBody>
          <a:bodyPr wrap="square" rtlCol="0">
            <a:spAutoFit/>
          </a:bodyPr>
          <a:lstStyle/>
          <a:p>
            <a:r>
              <a:rPr lang="en-US" sz="4000" dirty="0">
                <a:solidFill>
                  <a:srgbClr val="7030A0"/>
                </a:solidFill>
                <a:latin typeface="Times New Roman" panose="02020603050405020304" pitchFamily="18" charset="0"/>
                <a:ea typeface="Calibri" panose="020F0502020204030204" pitchFamily="34" charset="0"/>
              </a:rPr>
              <a:t>ACL. </a:t>
            </a:r>
            <a:r>
              <a:rPr lang="en-US" sz="4000" dirty="0">
                <a:latin typeface="Times New Roman" panose="02020603050405020304" pitchFamily="18" charset="0"/>
                <a:ea typeface="Calibri" panose="020F0502020204030204" pitchFamily="34" charset="0"/>
              </a:rPr>
              <a:t>It is he that made us, and we are his; we are his people, and the sheep of his pasture.</a:t>
            </a:r>
          </a:p>
          <a:p>
            <a:r>
              <a:rPr lang="en-US" sz="4000" dirty="0">
                <a:latin typeface="Times New Roman" panose="02020603050405020304" pitchFamily="18" charset="0"/>
                <a:ea typeface="Calibri" panose="020F0502020204030204" pitchFamily="34" charset="0"/>
              </a:rPr>
              <a:t>Enter his gates with thanksgiving, and his courts with praise.</a:t>
            </a:r>
            <a:endParaRPr lang="en-US" sz="4000" dirty="0">
              <a:latin typeface="Arm HelvU" pitchFamily="2" charset="0"/>
              <a:ea typeface="Calibri" panose="020F0502020204030204" pitchFamily="34" charset="0"/>
            </a:endParaRPr>
          </a:p>
          <a:p>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7030A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Նա արար ըզմեզ եւ ոչ մեք էաք, մեք ժողովուրդք եւ խաշն արօտի նորա:</a:t>
            </a:r>
          </a:p>
          <a:p>
            <a:r>
              <a:rPr lang="hy-AM" sz="4000" dirty="0">
                <a:latin typeface="Arm HelvU" pitchFamily="2" charset="0"/>
                <a:ea typeface="Calibri" panose="020F0502020204030204" pitchFamily="34" charset="0"/>
              </a:rPr>
              <a:t>Մտէք ընդ դրունս նորա  խոստովանութեամբ եւ օրհնութեամբ ի յարկըս նորա: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52AC1FD-058E-262A-1CF0-53663642DDA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a:t>
            </a:r>
          </a:p>
        </p:txBody>
      </p:sp>
    </p:spTree>
    <p:extLst>
      <p:ext uri="{BB962C8B-B14F-4D97-AF65-F5344CB8AC3E}">
        <p14:creationId xmlns:p14="http://schemas.microsoft.com/office/powerpoint/2010/main" val="1527655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1938992"/>
          </a:xfrm>
          <a:prstGeom prst="rect">
            <a:avLst/>
          </a:prstGeom>
          <a:noFill/>
          <a:ln>
            <a:noFill/>
          </a:ln>
        </p:spPr>
        <p:txBody>
          <a:bodyPr wrap="square" rtlCol="0">
            <a:spAutoFit/>
          </a:bodyPr>
          <a:lstStyle/>
          <a:p>
            <a:r>
              <a:rPr lang="en-US" sz="4000" dirty="0">
                <a:solidFill>
                  <a:srgbClr val="7030A0"/>
                </a:solidFill>
                <a:latin typeface="Times New Roman" panose="02020603050405020304" pitchFamily="18" charset="0"/>
                <a:ea typeface="Calibri" panose="020F0502020204030204" pitchFamily="34" charset="0"/>
              </a:rPr>
              <a:t>ACL. </a:t>
            </a:r>
            <a:r>
              <a:rPr lang="en-US" sz="4000" dirty="0" err="1">
                <a:latin typeface="Times New Roman" panose="02020603050405020304" pitchFamily="18" charset="0"/>
                <a:ea typeface="Calibri" panose="020F0502020204030204" pitchFamily="34" charset="0"/>
              </a:rPr>
              <a:t>Khosdovan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yéghérook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zanoon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a:t>
            </a:r>
          </a:p>
          <a:p>
            <a:r>
              <a:rPr lang="en-US" sz="4000" dirty="0" err="1">
                <a:latin typeface="Times New Roman" panose="02020603050405020304" pitchFamily="18" charset="0"/>
                <a:ea typeface="Calibri" panose="020F0502020204030204" pitchFamily="34" charset="0"/>
              </a:rPr>
              <a:t>Kaghtsûr</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voghormootyoon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azké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minchév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hazk</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jûshmardootyoon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0" y="6581174"/>
            <a:ext cx="16276320" cy="1938992"/>
          </a:xfrm>
          <a:prstGeom prst="rect">
            <a:avLst/>
          </a:prstGeom>
          <a:noFill/>
          <a:ln>
            <a:noFill/>
          </a:ln>
        </p:spPr>
        <p:txBody>
          <a:bodyPr wrap="square" rtlCol="0">
            <a:spAutoFit/>
          </a:bodyPr>
          <a:lstStyle/>
          <a:p>
            <a:r>
              <a:rPr lang="en-US" sz="4000" dirty="0">
                <a:solidFill>
                  <a:srgbClr val="7030A0"/>
                </a:solidFill>
                <a:latin typeface="Times New Roman" panose="02020603050405020304" pitchFamily="18" charset="0"/>
                <a:ea typeface="Calibri" panose="020F0502020204030204" pitchFamily="34" charset="0"/>
              </a:rPr>
              <a:t>ACL. </a:t>
            </a:r>
            <a:r>
              <a:rPr lang="en-US" sz="4000" dirty="0">
                <a:latin typeface="Times New Roman" panose="02020603050405020304" pitchFamily="18" charset="0"/>
                <a:ea typeface="Calibri" panose="020F0502020204030204" pitchFamily="34" charset="0"/>
              </a:rPr>
              <a:t>Give thanks to him, bless his name.</a:t>
            </a:r>
            <a:r>
              <a:rPr lang="hy-AM" sz="4000" dirty="0">
                <a:latin typeface="Times New Roman" panose="02020603050405020304" pitchFamily="18" charset="0"/>
                <a:ea typeface="Calibri" panose="020F0502020204030204" pitchFamily="34" charset="0"/>
              </a:rPr>
              <a:t> </a:t>
            </a:r>
          </a:p>
          <a:p>
            <a:r>
              <a:rPr lang="en-US" sz="4000" dirty="0">
                <a:latin typeface="Times New Roman" panose="02020603050405020304" pitchFamily="18" charset="0"/>
                <a:ea typeface="Calibri" panose="020F0502020204030204" pitchFamily="34" charset="0"/>
              </a:rPr>
              <a:t>For the Lord is good; his steadfast love endures forever,</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and his faithfulness to all generations.</a:t>
            </a:r>
            <a:r>
              <a:rPr lang="hy-AM" sz="4000" dirty="0">
                <a:latin typeface="Times New Roman" panose="02020603050405020304" pitchFamily="18" charset="0"/>
                <a:ea typeface="Calibri" panose="020F0502020204030204" pitchFamily="34" charset="0"/>
              </a:rPr>
              <a:t> </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7030A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Խոստովան եղերուք Տեառն եւ օրհնեցէք զանուն նորա:</a:t>
            </a:r>
          </a:p>
          <a:p>
            <a:r>
              <a:rPr lang="hy-AM" sz="4000" dirty="0">
                <a:latin typeface="Arm HelvU" pitchFamily="2" charset="0"/>
                <a:ea typeface="Calibri" panose="020F0502020204030204" pitchFamily="34" charset="0"/>
              </a:rPr>
              <a:t>Քաղցըր է Տէր, յաւիտեան է ողորմութիւն նորա. ազգէ մինչեւ յազգ է ճըշմարտութիւն նորա: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45591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90EF3F4-AD4A-7122-098E-808CD5084A26}"/>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a:t>
            </a:r>
          </a:p>
        </p:txBody>
      </p:sp>
    </p:spTree>
    <p:extLst>
      <p:ext uri="{BB962C8B-B14F-4D97-AF65-F5344CB8AC3E}">
        <p14:creationId xmlns:p14="http://schemas.microsoft.com/office/powerpoint/2010/main" val="718867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1323439"/>
          </a:xfrm>
          <a:prstGeom prst="rect">
            <a:avLst/>
          </a:prstGeom>
          <a:noFill/>
          <a:ln>
            <a:noFill/>
          </a:ln>
        </p:spPr>
        <p:txBody>
          <a:bodyPr wrap="square" rtlCol="0">
            <a:spAutoFit/>
          </a:bodyPr>
          <a:lstStyle/>
          <a:p>
            <a:r>
              <a:rPr lang="en-US" sz="4000" dirty="0">
                <a:solidFill>
                  <a:srgbClr val="7030A0"/>
                </a:solidFill>
                <a:latin typeface="Times New Roman" panose="02020603050405020304" pitchFamily="18" charset="0"/>
                <a:ea typeface="Calibri" panose="020F0502020204030204" pitchFamily="34" charset="0"/>
              </a:rPr>
              <a:t>ACL. </a:t>
            </a:r>
            <a:r>
              <a:rPr lang="en-US" sz="4000" dirty="0">
                <a:latin typeface="Times New Roman" panose="02020603050405020304" pitchFamily="18" charset="0"/>
                <a:ea typeface="Calibri" panose="020F0502020204030204" pitchFamily="34" charset="0"/>
              </a:rPr>
              <a:t>Park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0" y="6581174"/>
            <a:ext cx="16276320" cy="1323439"/>
          </a:xfrm>
          <a:prstGeom prst="rect">
            <a:avLst/>
          </a:prstGeom>
          <a:noFill/>
          <a:ln>
            <a:noFill/>
          </a:ln>
        </p:spPr>
        <p:txBody>
          <a:bodyPr wrap="square" rtlCol="0">
            <a:spAutoFit/>
          </a:bodyPr>
          <a:lstStyle/>
          <a:p>
            <a:r>
              <a:rPr lang="en-US" sz="4000" dirty="0">
                <a:solidFill>
                  <a:srgbClr val="7030A0"/>
                </a:solidFill>
                <a:latin typeface="Times New Roman" panose="02020603050405020304" pitchFamily="18" charset="0"/>
                <a:ea typeface="Calibri" panose="020F0502020204030204" pitchFamily="34" charset="0"/>
              </a:rPr>
              <a:t>ACL. </a:t>
            </a:r>
            <a:r>
              <a:rPr lang="en-US" sz="4000" dirty="0">
                <a:latin typeface="Times New Roman" panose="02020603050405020304" pitchFamily="18" charset="0"/>
                <a:ea typeface="Calibri" panose="020F0502020204030204" pitchFamily="34" charset="0"/>
              </a:rPr>
              <a:t>Glory to the Father and to the Son and to the Holy Spirit.</a:t>
            </a:r>
            <a:r>
              <a:rPr lang="hy-AM" sz="4000" dirty="0">
                <a:latin typeface="Times New Roman" panose="02020603050405020304" pitchFamily="18" charset="0"/>
                <a:ea typeface="Calibri" panose="020F0502020204030204" pitchFamily="34" charset="0"/>
              </a:rPr>
              <a:t> </a:t>
            </a:r>
          </a:p>
          <a:p>
            <a:r>
              <a:rPr lang="en-US" sz="4000" dirty="0">
                <a:latin typeface="Times New Roman" panose="02020603050405020304" pitchFamily="18" charset="0"/>
                <a:ea typeface="Calibri" panose="020F0502020204030204" pitchFamily="34" charset="0"/>
              </a:rPr>
              <a:t>Now and always and forever and ever. Amen.</a:t>
            </a:r>
            <a:endParaRPr lang="hy-AM"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46296" y="914399"/>
            <a:ext cx="16276320" cy="1323439"/>
          </a:xfrm>
          <a:prstGeom prst="rect">
            <a:avLst/>
          </a:prstGeom>
          <a:noFill/>
          <a:ln w="12700">
            <a:noFill/>
          </a:ln>
        </p:spPr>
        <p:txBody>
          <a:bodyPr wrap="square" rtlCol="0">
            <a:spAutoFit/>
          </a:bodyPr>
          <a:lstStyle/>
          <a:p>
            <a:r>
              <a:rPr lang="hy-AM" sz="4000" dirty="0">
                <a:solidFill>
                  <a:srgbClr val="7030A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Փառք Հօր եւ Որդւոյ եւ Հոգւոյն Սրբոյ: </a:t>
            </a:r>
          </a:p>
          <a:p>
            <a:r>
              <a:rPr lang="hy-AM" sz="4000" dirty="0">
                <a:latin typeface="Arm HelvU" pitchFamily="2" charset="0"/>
                <a:ea typeface="Calibri" panose="020F0502020204030204" pitchFamily="34" charset="0"/>
              </a:rPr>
              <a:t>Այժմ եւ միշտ եւ յաւիտեանըս յաւիտենից։ Ամէն:</a:t>
            </a: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45591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AA65B20-0627-BB1C-EE7A-BEA81E8AF90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a:t>
            </a:r>
          </a:p>
        </p:txBody>
      </p:sp>
    </p:spTree>
    <p:extLst>
      <p:ext uri="{BB962C8B-B14F-4D97-AF65-F5344CB8AC3E}">
        <p14:creationId xmlns:p14="http://schemas.microsoft.com/office/powerpoint/2010/main" val="141374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yégéghétsyavs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sovav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pûrgéstsé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méghats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gétsoostsé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yooro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217920"/>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Let us through the holy Church beseech the Lord, that through her he may deliver us from our sins and save us by his mercy. Almighty Lord, our God, save us and have mercy upon us.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Սուրբ եկեղեցեաւս աղաչեսցուք ըզՏէր, զի սովաւ փըրկեսցէ ըզմեզ ի մեղաց եւ կեցուսցէ շնորհիւ ողորմութեան իւրոյ։ Ամենակալ Տէր Աստուած մեր, կեցո եւ ողորմեա: </a:t>
            </a: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B305BC4-2133-BAF4-3EEB-9E9CCE84767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4</a:t>
            </a:r>
          </a:p>
        </p:txBody>
      </p:sp>
    </p:spTree>
    <p:extLst>
      <p:ext uri="{BB962C8B-B14F-4D97-AF65-F5344CB8AC3E}">
        <p14:creationId xmlns:p14="http://schemas.microsoft.com/office/powerpoint/2010/main" val="2515503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i </a:t>
            </a:r>
            <a:r>
              <a:rPr lang="en-US" sz="4000" dirty="0" err="1">
                <a:latin typeface="Times New Roman" panose="02020603050405020304" pitchFamily="18" charset="0"/>
                <a:ea typeface="Calibri" panose="020F0502020204030204" pitchFamily="34" charset="0"/>
              </a:rPr>
              <a:t>méch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dajaris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asdvadzûngal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baydzaratsyal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nûshanatsûs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déghvooys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khonarhyal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yérgyooghiv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yérgirbakanémk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ûzhrashali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ûzhaghtogh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ûzharootyoonût</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orhnémk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paravorémk</a:t>
            </a:r>
            <a:r>
              <a:rPr lang="en-US" sz="40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217920"/>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In the midst of this temple, O Lord, and before these God-accepted and resplendent holy signs and before this holy place we bow down in awe and worship you; we bless and glorify your holy, wondrous and triumphant resurrection,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Ի մէջ տա</a:t>
            </a:r>
            <a:r>
              <a:rPr lang="en-US" sz="4000" dirty="0">
                <a:latin typeface="Arm HelvU" pitchFamily="2" charset="0"/>
                <a:ea typeface="Calibri" panose="020F0502020204030204" pitchFamily="34" charset="0"/>
              </a:rPr>
              <a:t>q</a:t>
            </a:r>
            <a:r>
              <a:rPr lang="hy-AM" sz="4000" dirty="0">
                <a:latin typeface="Arm HelvU" pitchFamily="2" charset="0"/>
                <a:ea typeface="Calibri" panose="020F0502020204030204" pitchFamily="34" charset="0"/>
              </a:rPr>
              <a:t>արիս եւ առաջի աստուածընկալ եւ պայծառացեալ սուրբ նշանացս եւ սուրբ տեղւոյս, խոնարհեալ երկիւղիւ երկիրպագանեմք: Զսուրբ եւ զհրաշալի եւ զյաղթող զյարութիւնդ քո օրհնեմք եւ փառաւորեմք</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E9C4277-2938-6606-4CCD-E86BB0DDD386}"/>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a:t>
            </a:r>
          </a:p>
        </p:txBody>
      </p:sp>
    </p:spTree>
    <p:extLst>
      <p:ext uri="{BB962C8B-B14F-4D97-AF65-F5344CB8AC3E}">
        <p14:creationId xmlns:p14="http://schemas.microsoft.com/office/powerpoint/2010/main" val="3944054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madootsanémk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zorhnootyoon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ûzparûs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a:p>
            <a:r>
              <a:rPr lang="en-US" sz="4000" dirty="0" err="1">
                <a:latin typeface="Times New Roman" panose="02020603050405020304" pitchFamily="18" charset="0"/>
                <a:ea typeface="Calibri" panose="020F0502020204030204" pitchFamily="34" charset="0"/>
              </a:rPr>
              <a:t>Mûdits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séghano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oorakh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arné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ûzmangootyoon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217920"/>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and we offer blessing and glory to you with the Father and with the</a:t>
            </a:r>
            <a:r>
              <a:rPr lang="en-US" sz="4000" dirty="0">
                <a:latin typeface="Cambria Math" panose="02040503050406030204" pitchFamily="18" charset="0"/>
                <a:ea typeface="Calibri" panose="020F0502020204030204" pitchFamily="34" charset="0"/>
                <a:cs typeface="Cambria Math" panose="02040503050406030204" pitchFamily="18" charset="0"/>
              </a:rPr>
              <a:t> </a:t>
            </a:r>
            <a:r>
              <a:rPr lang="en-US" sz="4000" dirty="0">
                <a:latin typeface="Times New Roman" panose="02020603050405020304" pitchFamily="18" charset="0"/>
                <a:ea typeface="Calibri" panose="020F0502020204030204" pitchFamily="34" charset="0"/>
              </a:rPr>
              <a:t>Holy Spirit, now and always and forever and ever. Amen.</a:t>
            </a:r>
          </a:p>
          <a:p>
            <a:r>
              <a:rPr lang="en-US" sz="4000" dirty="0">
                <a:latin typeface="Times New Roman" panose="02020603050405020304" pitchFamily="18" charset="0"/>
                <a:ea typeface="Calibri" panose="020F0502020204030204" pitchFamily="34" charset="0"/>
              </a:rPr>
              <a:t>I will go to the altar of God, to God my exceeding joy.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քեզ մատուցանեմք զօրհնութիւն եւ զփառս ընդ Հօր եւ ընդ Հոգւոյդ Սրբոյ, այժմ եւ միշտ եւ յաւիտեանս յաւիտենից։ Ամէն: </a:t>
            </a:r>
          </a:p>
          <a:p>
            <a:r>
              <a:rPr lang="hy-AM" sz="4000" dirty="0">
                <a:latin typeface="Arm HelvU" pitchFamily="2" charset="0"/>
                <a:ea typeface="Calibri" panose="020F0502020204030204" pitchFamily="34" charset="0"/>
              </a:rPr>
              <a:t>Մտից առաջի սեղանոյ Աստուծոյ առ Աստուած, որ ուրախ առնէ զմանկութիւն իմ:</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282A257-9048-A623-4D56-02D2859364C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4</a:t>
            </a:r>
          </a:p>
        </p:txBody>
      </p:sp>
    </p:spTree>
    <p:extLst>
      <p:ext uri="{BB962C8B-B14F-4D97-AF65-F5344CB8AC3E}">
        <p14:creationId xmlns:p14="http://schemas.microsoft.com/office/powerpoint/2010/main" val="3531299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Tad </a:t>
            </a:r>
            <a:r>
              <a:rPr lang="en-US" sz="4000" dirty="0" err="1">
                <a:latin typeface="Times New Roman" panose="02020603050405020304" pitchFamily="18" charset="0"/>
                <a:ea typeface="Calibri" panose="020F0502020204030204" pitchFamily="34" charset="0"/>
              </a:rPr>
              <a:t>ara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ints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irav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ints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tadasdani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imoom</a:t>
            </a:r>
            <a:r>
              <a:rPr lang="en-US" sz="4000" dirty="0">
                <a:latin typeface="Times New Roman" panose="02020603050405020304" pitchFamily="18" charset="0"/>
                <a:ea typeface="Calibri" panose="020F0502020204030204" pitchFamily="34" charset="0"/>
              </a:rPr>
              <a:t>.</a:t>
            </a:r>
          </a:p>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Hazké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voch</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marto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méghavoré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nénkavoré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zis</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Too,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hûzorich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moratsar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dûrdoom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kûnam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néghél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tûshnamvo</a:t>
            </a:r>
            <a:r>
              <a:rPr lang="en-US" sz="4000" dirty="0">
                <a:latin typeface="Times New Roman" panose="02020603050405020304" pitchFamily="18" charset="0"/>
                <a:ea typeface="Calibri" panose="020F0502020204030204" pitchFamily="34" charset="0"/>
              </a:rPr>
              <a:t> imo.</a:t>
            </a:r>
          </a:p>
        </p:txBody>
      </p:sp>
      <p:sp>
        <p:nvSpPr>
          <p:cNvPr id="6" name="TextBox 5">
            <a:extLst>
              <a:ext uri="{FF2B5EF4-FFF2-40B4-BE49-F238E27FC236}">
                <a16:creationId xmlns:a16="http://schemas.microsoft.com/office/drawing/2014/main" id="{7903C8A4-BAFA-4C25-AE19-DE42EC8F17D6}"/>
              </a:ext>
            </a:extLst>
          </p:cNvPr>
          <p:cNvSpPr txBox="1"/>
          <p:nvPr/>
        </p:nvSpPr>
        <p:spPr>
          <a:xfrm>
            <a:off x="0" y="6217920"/>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Vindicate me, O God, and defend my cause against an ungodly people.</a:t>
            </a:r>
          </a:p>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From those who are deceitful and unjust deliver me!</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For you are the God in whom I take refuge; why have you cast me off? Why must I walk about mournfully because of the oppression of the enemy?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Դատ արա ինձ Աստուած եւ իրաւ արա ինձ ի դատաստանի իմում:</a:t>
            </a:r>
          </a:p>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Յազգէ որ ոչ է սուրբ, ի մարդոյ մեղաւորէ, նենգաւորէ փրկեա զիս:</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Դու, Աստուած, հըզօրիչ իմ ես,ընդէ՞ր մոռացար զիս, ընդէ՞ր տըրտում</a:t>
            </a:r>
          </a:p>
          <a:p>
            <a:r>
              <a:rPr lang="hy-AM" sz="4000" dirty="0">
                <a:latin typeface="Arm HelvU" pitchFamily="2" charset="0"/>
                <a:ea typeface="Calibri" panose="020F0502020204030204" pitchFamily="34" charset="0"/>
              </a:rPr>
              <a:t>գընամ ես ի նեղել թըշնամւոյ</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իմոյ:</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79F3689-715E-4B2C-72F2-60EBA5348062}"/>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4</a:t>
            </a:r>
          </a:p>
        </p:txBody>
      </p:sp>
    </p:spTree>
    <p:extLst>
      <p:ext uri="{BB962C8B-B14F-4D97-AF65-F5344CB8AC3E}">
        <p14:creationId xmlns:p14="http://schemas.microsoft.com/office/powerpoint/2010/main" val="1239900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Arakya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ûzlooys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ûzjûshmardootyoon</a:t>
            </a:r>
            <a:r>
              <a:rPr lang="en-US" sz="4000" dirty="0">
                <a:latin typeface="Times New Roman" panose="02020603050405020304" pitchFamily="18" charset="0"/>
                <a:ea typeface="Calibri" panose="020F0502020204030204" pitchFamily="34" charset="0"/>
              </a:rPr>
              <a:t> ko, zi </a:t>
            </a:r>
            <a:r>
              <a:rPr lang="en-US" sz="4000" dirty="0" err="1">
                <a:latin typeface="Times New Roman" panose="02020603050405020304" pitchFamily="18" charset="0"/>
                <a:ea typeface="Calibri" panose="020F0502020204030204" pitchFamily="34" charset="0"/>
              </a:rPr>
              <a:t>arachnortéstsén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ints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hantsén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zis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lyarûn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hargûs</a:t>
            </a:r>
            <a:r>
              <a:rPr lang="en-US" sz="4000" dirty="0">
                <a:latin typeface="Times New Roman" panose="02020603050405020304" pitchFamily="18" charset="0"/>
                <a:ea typeface="Calibri" panose="020F0502020204030204" pitchFamily="34" charset="0"/>
              </a:rPr>
              <a:t> ko.</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Mûdits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séghano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oorakh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arné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ûzmangootyoon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217920"/>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O send out your light and your truth; let them lead me; let them bring me to your holy hill and to your dwelling.</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Then I will go to the altar of God, to God my exceeding joy.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Առաքեա, Տէր, զլոյս քո եւ զճշմարտութիւն քո, զի առաջնորդեսցեն ինձ եւ հանցեն զիս ի լեառն սուրբ եւ ի յարկս քո:</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Մըտից առաջի սեղանոյ Աստուծոյ առ Աստուած, որ ուրախ առնէ ըզմանկութիւն իմ:</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60BE9C1-F50A-96B1-1AAA-03F6A5B5E32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4</a:t>
            </a:r>
          </a:p>
        </p:txBody>
      </p:sp>
    </p:spTree>
    <p:extLst>
      <p:ext uri="{BB962C8B-B14F-4D97-AF65-F5344CB8AC3E}">
        <p14:creationId xmlns:p14="http://schemas.microsoft.com/office/powerpoint/2010/main" val="343397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Khosdovan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yéghéts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Art, </a:t>
            </a:r>
            <a:r>
              <a:rPr lang="en-US" sz="4000" dirty="0" err="1">
                <a:latin typeface="Times New Roman" panose="02020603050405020304" pitchFamily="18" charset="0"/>
                <a:ea typeface="Calibri" panose="020F0502020204030204" pitchFamily="34" charset="0"/>
              </a:rPr>
              <a:t>ûntér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dûrdoom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t>
            </a:r>
            <a:r>
              <a:rPr lang="en-US" sz="4000" dirty="0">
                <a:latin typeface="Times New Roman" panose="02020603050405020304" pitchFamily="18" charset="0"/>
                <a:ea typeface="Calibri" panose="020F0502020204030204" pitchFamily="34" charset="0"/>
              </a:rPr>
              <a:t> gam </a:t>
            </a:r>
            <a:r>
              <a:rPr lang="en-US" sz="4000" dirty="0" err="1">
                <a:latin typeface="Times New Roman" panose="02020603050405020304" pitchFamily="18" charset="0"/>
                <a:ea typeface="Calibri" panose="020F0502020204030204" pitchFamily="34" charset="0"/>
              </a:rPr>
              <a:t>ûntér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khûrovés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zis</a:t>
            </a:r>
            <a:r>
              <a:rPr lang="en-US" sz="40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217920"/>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And I will praise you with the harp, O God, my God.</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Why are you cast down, O my soul, and why are you disquieted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Խոստովան եղէց քեզ օրհնութեամբ, Աստուած, Աստուած իմ:</a:t>
            </a:r>
          </a:p>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Արդ,</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ընդէ՞ր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տըրտում</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ես</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անձն իմ կամ ընդէ՞ր խըռովես զիս.</a:t>
            </a:r>
            <a:r>
              <a:rPr lang="en-US" sz="4000" dirty="0">
                <a:latin typeface="Arm HelvU" pitchFamily="2" charset="0"/>
                <a:ea typeface="Calibri" panose="020F0502020204030204" pitchFamily="34" charset="0"/>
              </a:rPr>
              <a:t> </a:t>
            </a: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1A03C2C-12F1-A1B0-C92A-DF65B4F6629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4</a:t>
            </a:r>
          </a:p>
        </p:txBody>
      </p:sp>
    </p:spTree>
    <p:extLst>
      <p:ext uri="{BB962C8B-B14F-4D97-AF65-F5344CB8AC3E}">
        <p14:creationId xmlns:p14="http://schemas.microsoft.com/office/powerpoint/2010/main" val="1581808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hoosa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khosdovanya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nûma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pûrgich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yérésats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é.</a:t>
            </a:r>
            <a:endParaRPr lang="en-US" sz="4000" dirty="0">
              <a:solidFill>
                <a:srgbClr val="FF0000"/>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217920"/>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within me? Hope in God; for I shall again praise him, my help and my God. </a:t>
            </a:r>
          </a:p>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Glory to the Father and to the Son and to the Holy Spirit.</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 </a:t>
            </a:r>
            <a:r>
              <a:rPr lang="hy-AM" sz="4000" dirty="0">
                <a:latin typeface="Arm HelvU" pitchFamily="2" charset="0"/>
                <a:ea typeface="Calibri" panose="020F0502020204030204" pitchFamily="34" charset="0"/>
              </a:rPr>
              <a:t>յուսա առ Աստուած, խոստովանեա նըմա փըրկիչ</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երեսաց իմոց Աստուած է:</a:t>
            </a:r>
            <a:endParaRPr lang="en-US" sz="4000" dirty="0">
              <a:latin typeface="Arm HelvU" pitchFamily="2" charset="0"/>
              <a:ea typeface="Calibri" panose="020F0502020204030204" pitchFamily="34" charset="0"/>
            </a:endParaRPr>
          </a:p>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Փառք Հօր եւ Որդւոյ եւ Հոգւոյն Սրբոյ:</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C918BFA-7C3D-2296-3244-685FF4B884DF}"/>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5</a:t>
            </a:r>
          </a:p>
        </p:txBody>
      </p:sp>
    </p:spTree>
    <p:extLst>
      <p:ext uri="{BB962C8B-B14F-4D97-AF65-F5344CB8AC3E}">
        <p14:creationId xmlns:p14="http://schemas.microsoft.com/office/powerpoint/2010/main" val="139394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657600"/>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p>
          <a:p>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Orhnéstsook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zaménagaln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ûzHayr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Krisdosi</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217920"/>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Now and always and forever and ever. Amen.</a:t>
            </a:r>
          </a:p>
          <a:p>
            <a:r>
              <a:rPr lang="en-US" sz="4000" dirty="0">
                <a:latin typeface="Times New Roman" panose="02020603050405020304" pitchFamily="18" charset="0"/>
                <a:ea typeface="Calibri" panose="020F0502020204030204" pitchFamily="34" charset="0"/>
              </a:rPr>
              <a:t>And again for peace let us beseech the Lord. Let us bless the almighty God, the Father of our Lord Jesus Christ,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Այժմ եւ միշտ եւ յաւիտեանըս յաւիտենից։ Ամէն: </a:t>
            </a:r>
          </a:p>
          <a:p>
            <a:r>
              <a:rPr lang="hy-AM" sz="4000" dirty="0">
                <a:latin typeface="Arm HelvU" pitchFamily="2" charset="0"/>
                <a:ea typeface="Calibri" panose="020F0502020204030204" pitchFamily="34" charset="0"/>
              </a:rPr>
              <a:t>Եւ եւըս խաղաղութեան զՏէր աղաչեսցուք: Օրհնեսցուք զամենակալն Աստուած` ըզՀայր Տեառն մերոյ Յիսուսի Քրիստոսի,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6576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1792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3FC2819-2DBA-3229-FC9A-25C71041BDE9}"/>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5</a:t>
            </a:r>
          </a:p>
        </p:txBody>
      </p:sp>
    </p:spTree>
    <p:extLst>
      <p:ext uri="{BB962C8B-B14F-4D97-AF65-F5344CB8AC3E}">
        <p14:creationId xmlns:p14="http://schemas.microsoft.com/office/powerpoint/2010/main" val="4150340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arzhani</a:t>
            </a:r>
            <a:r>
              <a:rPr lang="en-US" sz="4000" dirty="0">
                <a:latin typeface="Times New Roman" panose="02020603050405020304" pitchFamily="18" charset="0"/>
                <a:ea typeface="Calibri" panose="020F0502020204030204" pitchFamily="34" charset="0"/>
              </a:rPr>
              <a:t> arar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gal i </a:t>
            </a:r>
            <a:r>
              <a:rPr lang="en-US" sz="4000" dirty="0" err="1">
                <a:latin typeface="Times New Roman" panose="02020603050405020304" pitchFamily="18" charset="0"/>
                <a:ea typeface="Calibri" panose="020F0502020204030204" pitchFamily="34" charset="0"/>
              </a:rPr>
              <a:t>déghvochûs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parapanootyan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yérkél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zérkûs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hokévors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i </a:t>
            </a:r>
            <a:r>
              <a:rPr lang="en-US" sz="4000" dirty="0" err="1">
                <a:latin typeface="Times New Roman" panose="02020603050405020304" pitchFamily="18" charset="0"/>
                <a:ea typeface="Calibri" panose="020F0502020204030204" pitchFamily="34" charset="0"/>
              </a:rPr>
              <a:t>hargi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déghvochûs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parapanootyan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hréshdagats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pûnagaranis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martgan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kavaranis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317009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who has made us worthy to stand in this place of glorification and to sing these spiritual songs. Almighty Lord our God, save us and have mercy upon us.</a:t>
            </a: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In this holy abode and in this place of glorification, in this habitation of angels and in this place of expiation of mankind,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որ արժանի արար զմեզ կալ ի տեղւոջս փառաբանութեան եւ երգել զերգս հոգեւորս: Ամենակալ Տէր Աստուած մեր, կեցո եւ ողորմեա: </a:t>
            </a:r>
          </a:p>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Ի յարկի սրբութեան եւ ի տեղւոջս փառաբանութեան, հրեշտակաց բնակարանիս եւ մարդկան քաւարանիս.</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4E177E2-D441-B843-34EF-D2D3F4B877F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5</a:t>
            </a:r>
          </a:p>
        </p:txBody>
      </p:sp>
    </p:spTree>
    <p:extLst>
      <p:ext uri="{BB962C8B-B14F-4D97-AF65-F5344CB8AC3E}">
        <p14:creationId xmlns:p14="http://schemas.microsoft.com/office/powerpoint/2010/main" val="1640703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asdvadzûngal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baydzaratsyal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nûshanatsûs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séghanooys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khonarhyal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yérgyooghiv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yérgirbakanémk</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ûzhrashali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ûzhaghtogh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ûzharootyoonût</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orhnémk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paravorémk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yérgnayin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madootsanémk</a:t>
            </a:r>
            <a:r>
              <a:rPr lang="en-US" sz="4000" dirty="0">
                <a:latin typeface="Times New Roman" panose="02020603050405020304" pitchFamily="18" charset="0"/>
                <a:ea typeface="Calibri" panose="020F0502020204030204" pitchFamily="34" charset="0"/>
              </a:rPr>
              <a:t> </a:t>
            </a:r>
            <a:r>
              <a:rPr lang="hy-AM" sz="4000" dirty="0">
                <a:latin typeface="Times New Roman" panose="02020603050405020304" pitchFamily="18" charset="0"/>
                <a:ea typeface="Calibri" panose="020F0502020204030204" pitchFamily="34" charset="0"/>
              </a:rPr>
              <a:t> </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before these God-accepted and resplendent holy signs and before this holy altar, we bow down in awe and worship you;</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we bless and glorify your holy, wondrous and triumphant resurrection and together with the heavenly hosts we offer blessing</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առաջի աստուածընկալ եւ պայծառացեալ սուրբ նշանացս եւ սուրբ սեղանոյս, խոնարհեալ երկիւղիւ երկիրպագանեմք։ Զսուրբ եւ զհրաշալի եւ զյաղԹող զյարուԹիւնդ քո օրհնեմք եւ փառաւորեմք եւ քեզ ընդ երկնային զօրսն մատուցանեմք</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E93EC99-41E1-0ADA-5AFF-F6601D565012}"/>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5</a:t>
            </a:r>
          </a:p>
        </p:txBody>
      </p:sp>
    </p:spTree>
    <p:extLst>
      <p:ext uri="{BB962C8B-B14F-4D97-AF65-F5344CB8AC3E}">
        <p14:creationId xmlns:p14="http://schemas.microsoft.com/office/powerpoint/2010/main" val="2443995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zorhnootyoon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ûzparûs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and glory to you with the Father and the Holy Spirit, now and always and forever and 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զօրհնուԹիւն եւ զփառս ընդ Հօր եւ ընդ Հոգւոյդ Սրբոյ, այժմ եւ միշտ եւ յաւիտեանս յաւիտենից։ Ամէն: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1D8949A-4FFE-357E-4ED8-13D141748616}"/>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5</a:t>
            </a:r>
          </a:p>
        </p:txBody>
      </p:sp>
    </p:spTree>
    <p:extLst>
      <p:ext uri="{BB962C8B-B14F-4D97-AF65-F5344CB8AC3E}">
        <p14:creationId xmlns:p14="http://schemas.microsoft.com/office/powerpoint/2010/main" val="1395716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spc="100" dirty="0">
                <a:latin typeface="Times New Roman" panose="02020603050405020304" pitchFamily="18" charset="0"/>
                <a:ea typeface="Calibri" panose="020F0502020204030204" pitchFamily="34" charset="0"/>
              </a:rPr>
              <a:t>MÉGHÉTI:</a:t>
            </a:r>
            <a:endParaRPr lang="en-US" sz="4000" dirty="0">
              <a:latin typeface="Arm HelvU" pitchFamily="2"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MELODY: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ՄԵՂԵԴԻ</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1F2B9E4-F099-BF3D-6F9B-2E29C61E33C7}"/>
              </a:ext>
            </a:extLst>
          </p:cNvPr>
          <p:cNvSpPr txBox="1"/>
          <p:nvPr/>
        </p:nvSpPr>
        <p:spPr>
          <a:xfrm>
            <a:off x="0" y="0"/>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6</a:t>
            </a:r>
          </a:p>
        </p:txBody>
      </p:sp>
    </p:spTree>
    <p:extLst>
      <p:ext uri="{BB962C8B-B14F-4D97-AF65-F5344CB8AC3E}">
        <p14:creationId xmlns:p14="http://schemas.microsoft.com/office/powerpoint/2010/main" val="971072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72812" y="3376"/>
            <a:ext cx="13716000" cy="769441"/>
          </a:xfrm>
          <a:prstGeom prst="rect">
            <a:avLst/>
          </a:prstGeom>
          <a:solidFill>
            <a:schemeClr val="bg1"/>
          </a:solidFill>
          <a:ln>
            <a:noFill/>
          </a:ln>
        </p:spPr>
        <p:txBody>
          <a:bodyPr wrap="square" rtlCol="0">
            <a:spAutoFit/>
          </a:bodyPr>
          <a:lstStyle/>
          <a:p>
            <a:r>
              <a:rPr lang="en-US" sz="4400" b="1" dirty="0" err="1">
                <a:solidFill>
                  <a:srgbClr val="548DD4"/>
                </a:solidFill>
                <a:latin typeface="Arm HelvU" pitchFamily="2" charset="0"/>
                <a:ea typeface="Calibri" panose="020F0502020204030204" pitchFamily="34" charset="0"/>
              </a:rPr>
              <a:t>àîøÆ</a:t>
            </a:r>
            <a:r>
              <a:rPr lang="en-US" sz="4400" b="1" dirty="0">
                <a:solidFill>
                  <a:srgbClr val="548DD4"/>
                </a:solidFill>
                <a:latin typeface="Arm HelvU" pitchFamily="2" charset="0"/>
                <a:ea typeface="Calibri" panose="020F0502020204030204" pitchFamily="34" charset="0"/>
              </a:rPr>
              <a:t> Î²Ü¶ÜÆÈ/Stand												</a:t>
            </a:r>
            <a:r>
              <a:rPr lang="hy-AM" sz="4400" b="1" dirty="0">
                <a:solidFill>
                  <a:srgbClr val="548DD4"/>
                </a:solidFill>
                <a:latin typeface="Arm HelvU" pitchFamily="2" charset="0"/>
                <a:ea typeface="Calibri" panose="020F0502020204030204" pitchFamily="34" charset="0"/>
              </a:rPr>
              <a:t>Էջ</a:t>
            </a:r>
            <a:r>
              <a:rPr lang="en-US" sz="4400" b="1" dirty="0">
                <a:solidFill>
                  <a:srgbClr val="548DD4"/>
                </a:solidFill>
                <a:latin typeface="Arm HelvU" pitchFamily="2" charset="0"/>
                <a:ea typeface="Calibri" panose="020F0502020204030204" pitchFamily="34" charset="0"/>
              </a:rPr>
              <a:t>/Page</a:t>
            </a:r>
            <a:r>
              <a:rPr lang="hy-AM" sz="4400" b="1" dirty="0">
                <a:solidFill>
                  <a:srgbClr val="548DD4"/>
                </a:solidFill>
                <a:latin typeface="Arm HelvU" pitchFamily="2" charset="0"/>
                <a:ea typeface="Calibri" panose="020F0502020204030204" pitchFamily="34" charset="0"/>
              </a:rPr>
              <a:t> </a:t>
            </a:r>
            <a:r>
              <a:rPr lang="en-US" sz="4400" b="1" dirty="0">
                <a:solidFill>
                  <a:srgbClr val="548DD4"/>
                </a:solidFill>
                <a:latin typeface="Arm HelvU" pitchFamily="2" charset="0"/>
                <a:ea typeface="Calibri" panose="020F0502020204030204" pitchFamily="34" charset="0"/>
              </a:rPr>
              <a:t>6</a:t>
            </a:r>
            <a:endParaRPr lang="en-US" sz="4400" b="1" dirty="0">
              <a:latin typeface="Arm HelvU" pitchFamily="2" charset="0"/>
              <a:ea typeface="Calibri" panose="020F0502020204030204" pitchFamily="34" charset="0"/>
            </a:endParaRPr>
          </a:p>
        </p:txBody>
      </p:sp>
      <p:sp>
        <p:nvSpPr>
          <p:cNvPr id="5" name="TextBox 4">
            <a:extLst>
              <a:ext uri="{FF2B5EF4-FFF2-40B4-BE49-F238E27FC236}">
                <a16:creationId xmlns:a16="http://schemas.microsoft.com/office/drawing/2014/main" id="{B075F7C7-B2DB-4AF2-A0CA-031339EC1718}"/>
              </a:ext>
            </a:extLst>
          </p:cNvPr>
          <p:cNvSpPr txBox="1"/>
          <p:nvPr/>
        </p:nvSpPr>
        <p:spPr>
          <a:xfrm>
            <a:off x="1272812" y="3682419"/>
            <a:ext cx="13716000" cy="2308324"/>
          </a:xfrm>
          <a:prstGeom prst="rect">
            <a:avLst/>
          </a:prstGeom>
          <a:noFill/>
          <a:ln>
            <a:noFill/>
          </a:ln>
        </p:spPr>
        <p:txBody>
          <a:bodyPr wrap="square" rtlCol="0">
            <a:spAutoFit/>
          </a:bodyPr>
          <a:lstStyle/>
          <a:p>
            <a:r>
              <a:rPr lang="en-US" sz="4800" dirty="0">
                <a:latin typeface="Times New Roman" panose="02020603050405020304" pitchFamily="18" charset="0"/>
                <a:ea typeface="Calibri" panose="020F0502020204030204" pitchFamily="34" charset="0"/>
              </a:rPr>
              <a:t>i </a:t>
            </a:r>
            <a:r>
              <a:rPr lang="en-US" sz="4800" dirty="0" err="1">
                <a:latin typeface="Times New Roman" panose="02020603050405020304" pitchFamily="18" charset="0"/>
                <a:ea typeface="Calibri" panose="020F0502020204030204" pitchFamily="34" charset="0"/>
              </a:rPr>
              <a:t>kérézman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harootsélooyn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anmahin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aysor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koché</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hréshdagn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yérgnayin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haryav</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Krisdos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zartyav</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Krisdos</a:t>
            </a:r>
            <a:r>
              <a:rPr lang="en-US" sz="4800" dirty="0">
                <a:latin typeface="Times New Roman" panose="02020603050405020304" pitchFamily="18" charset="0"/>
                <a:ea typeface="Calibri" panose="020F0502020204030204" pitchFamily="34" charset="0"/>
              </a:rPr>
              <a:t>, i </a:t>
            </a:r>
            <a:r>
              <a:rPr lang="en-US" sz="4800" dirty="0" err="1">
                <a:latin typeface="Times New Roman" panose="02020603050405020304" pitchFamily="18" charset="0"/>
                <a:ea typeface="Calibri" panose="020F0502020204030204" pitchFamily="34" charset="0"/>
              </a:rPr>
              <a:t>gooys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kérézmanén</a:t>
            </a:r>
            <a:r>
              <a:rPr lang="en-US" sz="4800" dirty="0">
                <a:latin typeface="Times New Roman" panose="02020603050405020304" pitchFamily="18" charset="0"/>
                <a:ea typeface="Calibri" panose="020F0502020204030204" pitchFamily="34" charset="0"/>
              </a:rPr>
              <a:t>, i </a:t>
            </a:r>
            <a:r>
              <a:rPr lang="en-US" sz="4800" dirty="0" err="1">
                <a:latin typeface="Times New Roman" panose="02020603050405020304" pitchFamily="18" charset="0"/>
                <a:ea typeface="Calibri" panose="020F0502020204030204" pitchFamily="34" charset="0"/>
              </a:rPr>
              <a:t>looys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kérézmanén</a:t>
            </a:r>
            <a:r>
              <a:rPr lang="en-US" sz="48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272812" y="6366927"/>
            <a:ext cx="13713189" cy="3046988"/>
          </a:xfrm>
          <a:prstGeom prst="rect">
            <a:avLst/>
          </a:prstGeom>
          <a:noFill/>
          <a:ln>
            <a:noFill/>
          </a:ln>
        </p:spPr>
        <p:txBody>
          <a:bodyPr wrap="square" rtlCol="0">
            <a:spAutoFit/>
          </a:bodyPr>
          <a:lstStyle/>
          <a:p>
            <a:r>
              <a:rPr lang="en-US" sz="4800" dirty="0">
                <a:latin typeface="Times New Roman" panose="02020603050405020304" pitchFamily="18" charset="0"/>
                <a:ea typeface="Calibri" panose="020F0502020204030204" pitchFamily="34" charset="0"/>
              </a:rPr>
              <a:t>Standing by the sepulcher of the Immortal who is risen, today the heavenly angel proclaims: Christ is risen, Christ is awakened, out of the virgin tomb, out of the luminous tomb.</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16032"/>
            <a:ext cx="13713188" cy="2308324"/>
          </a:xfrm>
          <a:prstGeom prst="rect">
            <a:avLst/>
          </a:prstGeom>
          <a:noFill/>
          <a:ln w="12700">
            <a:noFill/>
          </a:ln>
        </p:spPr>
        <p:txBody>
          <a:bodyPr wrap="square" rtlCol="0">
            <a:spAutoFit/>
          </a:bodyPr>
          <a:lstStyle/>
          <a:p>
            <a:r>
              <a:rPr lang="en-US" sz="4800" b="1" i="1" dirty="0">
                <a:latin typeface="Arm HelvU" pitchFamily="2" charset="0"/>
                <a:ea typeface="Calibri" panose="020F0502020204030204" pitchFamily="34" charset="0"/>
              </a:rPr>
              <a:t>-- </a:t>
            </a:r>
            <a:r>
              <a:rPr lang="en-US" sz="4800" b="1" dirty="0">
                <a:latin typeface="Arm HelvU" pitchFamily="2" charset="0"/>
                <a:ea typeface="Calibri" panose="020F0502020204030204" pitchFamily="34" charset="0"/>
              </a:rPr>
              <a:t>Æ ·»ñ»½Ù³Ý Û³ñáõó»ÉáÛÝ ³ÝÙ³ÑÇÝ, ³Ûëûñ ·</a:t>
            </a:r>
            <a:r>
              <a:rPr lang="en-US" sz="4800" b="1" dirty="0" err="1">
                <a:latin typeface="Arm HelvU" pitchFamily="2" charset="0"/>
                <a:ea typeface="Calibri" panose="020F0502020204030204" pitchFamily="34" charset="0"/>
              </a:rPr>
              <a:t>áã</a:t>
            </a:r>
            <a:r>
              <a:rPr lang="en-US" sz="4800" b="1" dirty="0">
                <a:latin typeface="Arm HelvU" pitchFamily="2" charset="0"/>
                <a:ea typeface="Calibri" panose="020F0502020204030204" pitchFamily="34" charset="0"/>
              </a:rPr>
              <a:t>¿ Ññ»ßï³ÏÝ »ñÏÝ³ÛÇÝ, Û³ñ»³õ </a:t>
            </a:r>
            <a:r>
              <a:rPr lang="en-US" sz="4800" b="1" dirty="0" err="1">
                <a:latin typeface="Arm HelvU" pitchFamily="2" charset="0"/>
                <a:ea typeface="Calibri" panose="020F0502020204030204" pitchFamily="34" charset="0"/>
              </a:rPr>
              <a:t>øñÇëïáë</a:t>
            </a:r>
            <a:r>
              <a:rPr lang="en-US" sz="4800" b="1" dirty="0">
                <a:latin typeface="Arm HelvU" pitchFamily="2" charset="0"/>
                <a:ea typeface="Calibri" panose="020F0502020204030204" pitchFamily="34" charset="0"/>
              </a:rPr>
              <a:t>, ½³ñÃ»³õ </a:t>
            </a:r>
            <a:r>
              <a:rPr lang="en-US" sz="4800" b="1" dirty="0" err="1">
                <a:latin typeface="Arm HelvU" pitchFamily="2" charset="0"/>
                <a:ea typeface="Calibri" panose="020F0502020204030204" pitchFamily="34" charset="0"/>
              </a:rPr>
              <a:t>øñÇëïáë</a:t>
            </a:r>
            <a:r>
              <a:rPr lang="en-US" sz="4800" b="1" dirty="0">
                <a:latin typeface="Arm HelvU" pitchFamily="2" charset="0"/>
                <a:ea typeface="Calibri" panose="020F0502020204030204" pitchFamily="34" charset="0"/>
              </a:rPr>
              <a:t>, Ç </a:t>
            </a:r>
            <a:r>
              <a:rPr lang="en-US" sz="4800" b="1" dirty="0" err="1">
                <a:latin typeface="Arm HelvU" pitchFamily="2" charset="0"/>
                <a:ea typeface="Calibri" panose="020F0502020204030204" pitchFamily="34" charset="0"/>
              </a:rPr>
              <a:t>ÏáÛë</a:t>
            </a:r>
            <a:r>
              <a:rPr lang="en-US" sz="4800" b="1" dirty="0">
                <a:latin typeface="Arm HelvU" pitchFamily="2" charset="0"/>
                <a:ea typeface="Calibri" panose="020F0502020204030204" pitchFamily="34" charset="0"/>
              </a:rPr>
              <a:t> ·»ñ»½Ù³Ý¿Ý, Ç </a:t>
            </a:r>
            <a:r>
              <a:rPr lang="en-US" sz="4800" b="1" dirty="0" err="1">
                <a:latin typeface="Arm HelvU" pitchFamily="2" charset="0"/>
                <a:ea typeface="Calibri" panose="020F0502020204030204" pitchFamily="34" charset="0"/>
              </a:rPr>
              <a:t>ÉáÛë</a:t>
            </a:r>
            <a:r>
              <a:rPr lang="en-US" sz="4800" b="1" dirty="0">
                <a:latin typeface="Arm HelvU" pitchFamily="2" charset="0"/>
                <a:ea typeface="Calibri" panose="020F0502020204030204" pitchFamily="34" charset="0"/>
              </a:rPr>
              <a:t> ·»ñ»½Ù³Ý¿Ý:</a:t>
            </a:r>
          </a:p>
        </p:txBody>
      </p:sp>
      <p:cxnSp>
        <p:nvCxnSpPr>
          <p:cNvPr id="9" name="Straight Connector 8"/>
          <p:cNvCxnSpPr/>
          <p:nvPr/>
        </p:nvCxnSpPr>
        <p:spPr>
          <a:xfrm>
            <a:off x="1270000" y="3819124"/>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61980" y="6393885"/>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7671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spc="100" dirty="0">
                <a:latin typeface="Times New Roman" panose="02020603050405020304" pitchFamily="18" charset="0"/>
                <a:ea typeface="Calibri" panose="020F0502020204030204" pitchFamily="34" charset="0"/>
              </a:rPr>
              <a:t>BASHDON JASHOO</a:t>
            </a:r>
            <a:endParaRPr lang="en-US" sz="4000" dirty="0">
              <a:latin typeface="Arm HelvU" pitchFamily="2"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THE SUNAXIS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ՊԱՇՏՕՆ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ՃԱՇՈՒ</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03F0D99-9796-3A3E-D1E8-86CCB005666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6</a:t>
            </a:r>
          </a:p>
        </p:txBody>
      </p:sp>
    </p:spTree>
    <p:extLst>
      <p:ext uri="{BB962C8B-B14F-4D97-AF65-F5344CB8AC3E}">
        <p14:creationId xmlns:p14="http://schemas.microsoft.com/office/powerpoint/2010/main" val="9492962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72812" y="3376"/>
            <a:ext cx="13716000" cy="769441"/>
          </a:xfrm>
          <a:prstGeom prst="rect">
            <a:avLst/>
          </a:prstGeom>
          <a:solidFill>
            <a:schemeClr val="bg1"/>
          </a:solidFill>
          <a:ln>
            <a:noFill/>
          </a:ln>
        </p:spPr>
        <p:txBody>
          <a:bodyPr wrap="square" rtlCol="0">
            <a:spAutoFit/>
          </a:bodyPr>
          <a:lstStyle/>
          <a:p>
            <a:r>
              <a:rPr lang="en-US" sz="4400" b="1" dirty="0" err="1">
                <a:solidFill>
                  <a:srgbClr val="548DD4"/>
                </a:solidFill>
                <a:latin typeface="Arm HelvU" pitchFamily="2" charset="0"/>
                <a:ea typeface="Calibri" panose="020F0502020204030204" pitchFamily="34" charset="0"/>
              </a:rPr>
              <a:t>àîøÆ</a:t>
            </a:r>
            <a:r>
              <a:rPr lang="en-US" sz="4400" b="1" dirty="0">
                <a:solidFill>
                  <a:srgbClr val="548DD4"/>
                </a:solidFill>
                <a:latin typeface="Arm HelvU" pitchFamily="2" charset="0"/>
                <a:ea typeface="Calibri" panose="020F0502020204030204" pitchFamily="34" charset="0"/>
              </a:rPr>
              <a:t> Î²Ü¶ÜÆÈ/Stand 											    </a:t>
            </a:r>
            <a:r>
              <a:rPr lang="hy-AM" sz="4400" b="1" dirty="0">
                <a:solidFill>
                  <a:srgbClr val="548DD4"/>
                </a:solidFill>
                <a:latin typeface="Arm HelvU" pitchFamily="2" charset="0"/>
                <a:ea typeface="Calibri" panose="020F0502020204030204" pitchFamily="34" charset="0"/>
              </a:rPr>
              <a:t>Էջ</a:t>
            </a:r>
            <a:r>
              <a:rPr lang="en-US" sz="4400" b="1" dirty="0">
                <a:solidFill>
                  <a:srgbClr val="548DD4"/>
                </a:solidFill>
                <a:latin typeface="Arm HelvU" pitchFamily="2" charset="0"/>
                <a:ea typeface="Calibri" panose="020F0502020204030204" pitchFamily="34" charset="0"/>
              </a:rPr>
              <a:t>/Page</a:t>
            </a:r>
            <a:r>
              <a:rPr lang="hy-AM" sz="4400" b="1" dirty="0">
                <a:solidFill>
                  <a:srgbClr val="548DD4"/>
                </a:solidFill>
                <a:latin typeface="Arm HelvU" pitchFamily="2" charset="0"/>
                <a:ea typeface="Calibri" panose="020F0502020204030204" pitchFamily="34" charset="0"/>
              </a:rPr>
              <a:t> </a:t>
            </a:r>
            <a:r>
              <a:rPr lang="en-US" sz="4400" b="1" dirty="0">
                <a:solidFill>
                  <a:srgbClr val="548DD4"/>
                </a:solidFill>
                <a:latin typeface="Arm HelvU" pitchFamily="2" charset="0"/>
                <a:ea typeface="Calibri" panose="020F0502020204030204" pitchFamily="34" charset="0"/>
              </a:rPr>
              <a:t>6</a:t>
            </a:r>
            <a:endParaRPr lang="en-US" sz="4400" b="1" dirty="0">
              <a:latin typeface="Arm HelvU" pitchFamily="2" charset="0"/>
              <a:ea typeface="Calibri" panose="020F0502020204030204" pitchFamily="34" charset="0"/>
            </a:endParaRPr>
          </a:p>
        </p:txBody>
      </p:sp>
      <p:sp>
        <p:nvSpPr>
          <p:cNvPr id="5" name="TextBox 4">
            <a:extLst>
              <a:ext uri="{FF2B5EF4-FFF2-40B4-BE49-F238E27FC236}">
                <a16:creationId xmlns:a16="http://schemas.microsoft.com/office/drawing/2014/main" id="{B075F7C7-B2DB-4AF2-A0CA-031339EC1718}"/>
              </a:ext>
            </a:extLst>
          </p:cNvPr>
          <p:cNvSpPr txBox="1"/>
          <p:nvPr/>
        </p:nvSpPr>
        <p:spPr>
          <a:xfrm>
            <a:off x="1272812" y="3682419"/>
            <a:ext cx="13716000" cy="3046988"/>
          </a:xfrm>
          <a:prstGeom prst="rect">
            <a:avLst/>
          </a:prstGeom>
          <a:noFill/>
          <a:ln>
            <a:noFill/>
          </a:ln>
        </p:spPr>
        <p:txBody>
          <a:bodyPr wrap="square" rtlCol="0">
            <a:spAutoFit/>
          </a:bodyPr>
          <a:lstStyle/>
          <a:p>
            <a:r>
              <a:rPr lang="en-US" sz="4800" dirty="0">
                <a:solidFill>
                  <a:srgbClr val="00B050"/>
                </a:solidFill>
                <a:latin typeface="Times New Roman" panose="02020603050405020304" pitchFamily="18" charset="0"/>
                <a:ea typeface="Calibri" panose="020F0502020204030204" pitchFamily="34" charset="0"/>
              </a:rPr>
              <a:t>CHR.	</a:t>
            </a:r>
            <a:r>
              <a:rPr lang="en-US" sz="4800" dirty="0" err="1">
                <a:latin typeface="Times New Roman" panose="02020603050405020304" pitchFamily="18" charset="0"/>
                <a:ea typeface="Calibri" panose="020F0502020204030204" pitchFamily="34" charset="0"/>
              </a:rPr>
              <a:t>Parékhosootyamp</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mor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ko</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yév</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Goosi</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ûngal</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zaghachans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kots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bashdonéyits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Vor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kérakooyn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kan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zérginûs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baydzaratsootsér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soorp</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zégéghétsi</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aryamp</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kov</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Krisdos</a:t>
            </a:r>
            <a:r>
              <a:rPr lang="en-US" sz="48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272812" y="6366927"/>
            <a:ext cx="13713189" cy="3046988"/>
          </a:xfrm>
          <a:prstGeom prst="rect">
            <a:avLst/>
          </a:prstGeom>
          <a:noFill/>
          <a:ln>
            <a:noFill/>
          </a:ln>
        </p:spPr>
        <p:txBody>
          <a:bodyPr wrap="square" rtlCol="0">
            <a:spAutoFit/>
          </a:bodyPr>
          <a:lstStyle/>
          <a:p>
            <a:r>
              <a:rPr lang="en-US" sz="4800" dirty="0">
                <a:solidFill>
                  <a:srgbClr val="00B050"/>
                </a:solidFill>
                <a:latin typeface="Times New Roman" panose="02020603050405020304" pitchFamily="18" charset="0"/>
                <a:ea typeface="Calibri" panose="020F0502020204030204" pitchFamily="34" charset="0"/>
              </a:rPr>
              <a:t>CHR.</a:t>
            </a:r>
            <a:r>
              <a:rPr lang="en-US" sz="4800" dirty="0">
                <a:latin typeface="Times New Roman" panose="02020603050405020304" pitchFamily="18" charset="0"/>
                <a:ea typeface="Calibri" panose="020F0502020204030204" pitchFamily="34" charset="0"/>
              </a:rPr>
              <a:t>	Through the intercession of your mother, the Virgin, accept the supplications of your servants, O Christ, who with your blood have made your holy Church more</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16032"/>
            <a:ext cx="13713188" cy="3046988"/>
          </a:xfrm>
          <a:prstGeom prst="rect">
            <a:avLst/>
          </a:prstGeom>
          <a:noFill/>
          <a:ln w="12700">
            <a:noFill/>
          </a:ln>
        </p:spPr>
        <p:txBody>
          <a:bodyPr wrap="square" rtlCol="0">
            <a:spAutoFit/>
          </a:bodyPr>
          <a:lstStyle/>
          <a:p>
            <a:r>
              <a:rPr lang="en-US" sz="4800" b="1" dirty="0">
                <a:solidFill>
                  <a:srgbClr val="00B050"/>
                </a:solidFill>
                <a:latin typeface="Arm HelvU" pitchFamily="2" charset="0"/>
                <a:ea typeface="Calibri" panose="020F0502020204030204" pitchFamily="34" charset="0"/>
              </a:rPr>
              <a:t>¸</a:t>
            </a:r>
            <a:r>
              <a:rPr lang="en-US" sz="4800" b="1" dirty="0" err="1">
                <a:solidFill>
                  <a:srgbClr val="00B050"/>
                </a:solidFill>
                <a:latin typeface="Arm HelvU" pitchFamily="2" charset="0"/>
                <a:ea typeface="Calibri" panose="020F0502020204030204" pitchFamily="34" charset="0"/>
              </a:rPr>
              <a:t>äð</a:t>
            </a:r>
            <a:r>
              <a:rPr lang="en-US" sz="4800" b="1" dirty="0">
                <a:solidFill>
                  <a:srgbClr val="00B050"/>
                </a:solidFill>
                <a:latin typeface="Arm HelvU" pitchFamily="2" charset="0"/>
                <a:ea typeface="Calibri" panose="020F0502020204030204" pitchFamily="34" charset="0"/>
              </a:rPr>
              <a:t>. </a:t>
            </a:r>
            <a:r>
              <a:rPr lang="hy-AM" sz="4800" b="1" dirty="0">
                <a:solidFill>
                  <a:prstClr val="black"/>
                </a:solidFill>
                <a:highlight>
                  <a:srgbClr val="FFFF00"/>
                </a:highlight>
                <a:latin typeface="Arm HelvU" pitchFamily="2" charset="0"/>
                <a:ea typeface="Calibri" panose="020F0502020204030204" pitchFamily="34" charset="0"/>
              </a:rPr>
              <a:t>Բ</a:t>
            </a:r>
            <a:r>
              <a:rPr lang="en-US" sz="4800" b="1" dirty="0">
                <a:latin typeface="Arm HelvU" pitchFamily="2" charset="0"/>
                <a:ea typeface="Calibri" panose="020F0502020204030204" pitchFamily="34" charset="0"/>
              </a:rPr>
              <a:t>³ñ»ËûëáõÃ»³Ùµ </a:t>
            </a:r>
            <a:r>
              <a:rPr lang="en-US" sz="4800" b="1" dirty="0" err="1">
                <a:latin typeface="Arm HelvU" pitchFamily="2" charset="0"/>
                <a:ea typeface="Calibri" panose="020F0502020204030204" pitchFamily="34" charset="0"/>
              </a:rPr>
              <a:t>Ùûñ</a:t>
            </a:r>
            <a:r>
              <a:rPr lang="en-US" sz="4800" b="1" dirty="0">
                <a:latin typeface="Arm HelvU" pitchFamily="2" charset="0"/>
                <a:ea typeface="Calibri" panose="020F0502020204030204" pitchFamily="34" charset="0"/>
              </a:rPr>
              <a:t> </a:t>
            </a:r>
            <a:r>
              <a:rPr lang="en-US" sz="4800" b="1" dirty="0" err="1">
                <a:latin typeface="Arm HelvU" pitchFamily="2" charset="0"/>
                <a:ea typeface="Calibri" panose="020F0502020204030204" pitchFamily="34" charset="0"/>
              </a:rPr>
              <a:t>ùá</a:t>
            </a:r>
            <a:r>
              <a:rPr lang="en-US" sz="4800" b="1" dirty="0">
                <a:latin typeface="Arm HelvU" pitchFamily="2" charset="0"/>
                <a:ea typeface="Calibri" panose="020F0502020204030204" pitchFamily="34" charset="0"/>
              </a:rPr>
              <a:t> »õ </a:t>
            </a:r>
            <a:r>
              <a:rPr lang="en-US" sz="4800" b="1" dirty="0" err="1">
                <a:latin typeface="Arm HelvU" pitchFamily="2" charset="0"/>
                <a:ea typeface="Calibri" panose="020F0502020204030204" pitchFamily="34" charset="0"/>
              </a:rPr>
              <a:t>ÎáõëÇ</a:t>
            </a:r>
            <a:r>
              <a:rPr lang="en-US" sz="4800" b="1" dirty="0">
                <a:latin typeface="Arm HelvU" pitchFamily="2" charset="0"/>
                <a:ea typeface="Calibri" panose="020F0502020204030204" pitchFamily="34" charset="0"/>
              </a:rPr>
              <a:t>, ÁÝÏ³É ½³Õ³ã³Ýë </a:t>
            </a:r>
            <a:r>
              <a:rPr lang="en-US" sz="4800" b="1" dirty="0" err="1">
                <a:latin typeface="Arm HelvU" pitchFamily="2" charset="0"/>
                <a:ea typeface="Calibri" panose="020F0502020204030204" pitchFamily="34" charset="0"/>
              </a:rPr>
              <a:t>ùáó</a:t>
            </a:r>
            <a:r>
              <a:rPr lang="en-US" sz="4800" b="1" dirty="0">
                <a:latin typeface="Arm HelvU" pitchFamily="2" charset="0"/>
                <a:ea typeface="Calibri" panose="020F0502020204030204" pitchFamily="34" charset="0"/>
              </a:rPr>
              <a:t> å³ßïûÝ¿Çó: </a:t>
            </a:r>
            <a:r>
              <a:rPr lang="en-US" sz="4800" b="1" dirty="0" err="1">
                <a:latin typeface="Arm HelvU" pitchFamily="2" charset="0"/>
                <a:ea typeface="Calibri" panose="020F0502020204030204" pitchFamily="34" charset="0"/>
              </a:rPr>
              <a:t>àñ</a:t>
            </a:r>
            <a:r>
              <a:rPr lang="en-US" sz="4800" b="1" dirty="0">
                <a:latin typeface="Arm HelvU" pitchFamily="2" charset="0"/>
                <a:ea typeface="Calibri" panose="020F0502020204030204" pitchFamily="34" charset="0"/>
              </a:rPr>
              <a:t> ·»ñ³·áÛÝ ù³Ý ½»ñÏÇÝë å³ÛÍ³é³óáõó»ñ </a:t>
            </a:r>
            <a:r>
              <a:rPr lang="en-US" sz="4800" b="1" dirty="0" err="1">
                <a:latin typeface="Arm HelvU" pitchFamily="2" charset="0"/>
                <a:ea typeface="Calibri" panose="020F0502020204030204" pitchFamily="34" charset="0"/>
              </a:rPr>
              <a:t>ëáõñ</a:t>
            </a:r>
            <a:r>
              <a:rPr lang="en-US" sz="4800" b="1" dirty="0">
                <a:latin typeface="Arm HelvU" pitchFamily="2" charset="0"/>
                <a:ea typeface="Calibri" panose="020F0502020204030204" pitchFamily="34" charset="0"/>
              </a:rPr>
              <a:t>µ ½»Ï»Õ»óÇ ³ñ»³Ùµ </a:t>
            </a:r>
            <a:r>
              <a:rPr lang="en-US" sz="4800" b="1" dirty="0" err="1">
                <a:latin typeface="Arm HelvU" pitchFamily="2" charset="0"/>
                <a:ea typeface="Calibri" panose="020F0502020204030204" pitchFamily="34" charset="0"/>
              </a:rPr>
              <a:t>ùáí</a:t>
            </a:r>
            <a:r>
              <a:rPr lang="en-US" sz="4800" b="1" dirty="0">
                <a:latin typeface="Arm HelvU" pitchFamily="2" charset="0"/>
                <a:ea typeface="Calibri" panose="020F0502020204030204" pitchFamily="34" charset="0"/>
              </a:rPr>
              <a:t>, </a:t>
            </a:r>
            <a:r>
              <a:rPr lang="en-US" sz="4800" b="1" dirty="0" err="1">
                <a:latin typeface="Arm HelvU" pitchFamily="2" charset="0"/>
                <a:ea typeface="Calibri" panose="020F0502020204030204" pitchFamily="34" charset="0"/>
              </a:rPr>
              <a:t>øñÇëïáë</a:t>
            </a:r>
            <a:r>
              <a:rPr lang="en-US" sz="4800" b="1" dirty="0">
                <a:latin typeface="Arm HelvU" pitchFamily="2" charset="0"/>
                <a:ea typeface="Calibri" panose="020F0502020204030204" pitchFamily="34" charset="0"/>
              </a:rPr>
              <a:t>:</a:t>
            </a:r>
          </a:p>
        </p:txBody>
      </p:sp>
      <p:cxnSp>
        <p:nvCxnSpPr>
          <p:cNvPr id="9" name="Straight Connector 8"/>
          <p:cNvCxnSpPr/>
          <p:nvPr/>
        </p:nvCxnSpPr>
        <p:spPr>
          <a:xfrm>
            <a:off x="1270000" y="3819124"/>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61980" y="6393885"/>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1969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72812" y="3376"/>
            <a:ext cx="13716000" cy="769441"/>
          </a:xfrm>
          <a:prstGeom prst="rect">
            <a:avLst/>
          </a:prstGeom>
          <a:solidFill>
            <a:schemeClr val="bg1"/>
          </a:solidFill>
          <a:ln>
            <a:noFill/>
          </a:ln>
        </p:spPr>
        <p:txBody>
          <a:bodyPr wrap="square" rtlCol="0">
            <a:spAutoFit/>
          </a:bodyPr>
          <a:lstStyle/>
          <a:p>
            <a:r>
              <a:rPr lang="en-US" sz="4400" b="1" dirty="0" err="1">
                <a:solidFill>
                  <a:srgbClr val="548DD4"/>
                </a:solidFill>
                <a:latin typeface="Arm HelvU" pitchFamily="2" charset="0"/>
                <a:ea typeface="Calibri" panose="020F0502020204030204" pitchFamily="34" charset="0"/>
              </a:rPr>
              <a:t>àîøÆ</a:t>
            </a:r>
            <a:r>
              <a:rPr lang="en-US" sz="4400" b="1" dirty="0">
                <a:solidFill>
                  <a:srgbClr val="548DD4"/>
                </a:solidFill>
                <a:latin typeface="Arm HelvU" pitchFamily="2" charset="0"/>
                <a:ea typeface="Calibri" panose="020F0502020204030204" pitchFamily="34" charset="0"/>
              </a:rPr>
              <a:t> Î²Ü¶ÜÆÈ/Stand 												</a:t>
            </a:r>
            <a:r>
              <a:rPr lang="hy-AM" sz="4400" b="1" dirty="0">
                <a:solidFill>
                  <a:srgbClr val="548DD4"/>
                </a:solidFill>
                <a:latin typeface="Arm HelvU" pitchFamily="2" charset="0"/>
                <a:ea typeface="Calibri" panose="020F0502020204030204" pitchFamily="34" charset="0"/>
              </a:rPr>
              <a:t>Էջ</a:t>
            </a:r>
            <a:r>
              <a:rPr lang="en-US" sz="4400" b="1" dirty="0">
                <a:solidFill>
                  <a:srgbClr val="548DD4"/>
                </a:solidFill>
                <a:latin typeface="Arm HelvU" pitchFamily="2" charset="0"/>
                <a:ea typeface="Calibri" panose="020F0502020204030204" pitchFamily="34" charset="0"/>
              </a:rPr>
              <a:t>/Page</a:t>
            </a:r>
            <a:r>
              <a:rPr lang="hy-AM" sz="4400" b="1" dirty="0">
                <a:solidFill>
                  <a:srgbClr val="548DD4"/>
                </a:solidFill>
                <a:latin typeface="Arm HelvU" pitchFamily="2" charset="0"/>
                <a:ea typeface="Calibri" panose="020F0502020204030204" pitchFamily="34" charset="0"/>
              </a:rPr>
              <a:t> </a:t>
            </a:r>
            <a:r>
              <a:rPr lang="en-US" sz="4400" b="1" dirty="0">
                <a:solidFill>
                  <a:srgbClr val="548DD4"/>
                </a:solidFill>
                <a:latin typeface="Arm HelvU" pitchFamily="2" charset="0"/>
                <a:ea typeface="Calibri" panose="020F0502020204030204" pitchFamily="34" charset="0"/>
              </a:rPr>
              <a:t>6</a:t>
            </a:r>
            <a:endParaRPr lang="en-US" sz="4400" b="1" dirty="0">
              <a:latin typeface="Arm HelvU" pitchFamily="2" charset="0"/>
              <a:ea typeface="Calibri" panose="020F0502020204030204" pitchFamily="34" charset="0"/>
            </a:endParaRPr>
          </a:p>
        </p:txBody>
      </p:sp>
      <p:sp>
        <p:nvSpPr>
          <p:cNvPr id="5" name="TextBox 4">
            <a:extLst>
              <a:ext uri="{FF2B5EF4-FFF2-40B4-BE49-F238E27FC236}">
                <a16:creationId xmlns:a16="http://schemas.microsoft.com/office/drawing/2014/main" id="{B075F7C7-B2DB-4AF2-A0CA-031339EC1718}"/>
              </a:ext>
            </a:extLst>
          </p:cNvPr>
          <p:cNvSpPr txBox="1"/>
          <p:nvPr/>
        </p:nvSpPr>
        <p:spPr>
          <a:xfrm>
            <a:off x="1272812" y="3682419"/>
            <a:ext cx="13716000" cy="1569660"/>
          </a:xfrm>
          <a:prstGeom prst="rect">
            <a:avLst/>
          </a:prstGeom>
          <a:noFill/>
          <a:ln>
            <a:noFill/>
          </a:ln>
        </p:spPr>
        <p:txBody>
          <a:bodyPr wrap="square" rtlCol="0">
            <a:spAutoFit/>
          </a:bodyPr>
          <a:lstStyle/>
          <a:p>
            <a:r>
              <a:rPr lang="en-US" sz="4800" dirty="0">
                <a:solidFill>
                  <a:srgbClr val="00B050"/>
                </a:solidFill>
                <a:latin typeface="Times New Roman" panose="02020603050405020304" pitchFamily="18" charset="0"/>
                <a:ea typeface="Calibri" panose="020F0502020204030204" pitchFamily="34" charset="0"/>
              </a:rPr>
              <a:t>CHR.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yév</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ûsd</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yérgnaynotsûn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garkétsér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i</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sma</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ztass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arakélots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yév</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markaréyits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soorp</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vartabédats</a:t>
            </a:r>
            <a:r>
              <a:rPr lang="en-US" sz="48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272812" y="6366927"/>
            <a:ext cx="13713189" cy="3046988"/>
          </a:xfrm>
          <a:prstGeom prst="rect">
            <a:avLst/>
          </a:prstGeom>
          <a:noFill/>
          <a:ln>
            <a:noFill/>
          </a:ln>
        </p:spPr>
        <p:txBody>
          <a:bodyPr wrap="square" rtlCol="0">
            <a:spAutoFit/>
          </a:bodyPr>
          <a:lstStyle/>
          <a:p>
            <a:r>
              <a:rPr lang="en-US" sz="4800" dirty="0">
                <a:solidFill>
                  <a:srgbClr val="00B050"/>
                </a:solidFill>
                <a:latin typeface="Times New Roman" panose="02020603050405020304" pitchFamily="18" charset="0"/>
                <a:ea typeface="Calibri" panose="020F0502020204030204" pitchFamily="34" charset="0"/>
              </a:rPr>
              <a:t>CHR.</a:t>
            </a:r>
            <a:r>
              <a:rPr lang="en-US" sz="4800" dirty="0">
                <a:latin typeface="Times New Roman" panose="02020603050405020304" pitchFamily="18" charset="0"/>
                <a:ea typeface="Calibri" panose="020F0502020204030204" pitchFamily="34" charset="0"/>
              </a:rPr>
              <a:t> splendid than the heavens, and you have appointed within her the orders of apostles, prophets, and holy teachers, after the pattern of the heavenly hosts.</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16032"/>
            <a:ext cx="13713188" cy="1569660"/>
          </a:xfrm>
          <a:prstGeom prst="rect">
            <a:avLst/>
          </a:prstGeom>
          <a:noFill/>
          <a:ln w="12700">
            <a:noFill/>
          </a:ln>
        </p:spPr>
        <p:txBody>
          <a:bodyPr wrap="square" rtlCol="0">
            <a:spAutoFit/>
          </a:bodyPr>
          <a:lstStyle/>
          <a:p>
            <a:r>
              <a:rPr lang="en-US" sz="4800" b="1" dirty="0">
                <a:solidFill>
                  <a:srgbClr val="00B050"/>
                </a:solidFill>
                <a:latin typeface="Arm HelvU" pitchFamily="2" charset="0"/>
                <a:ea typeface="Calibri" panose="020F0502020204030204" pitchFamily="34" charset="0"/>
              </a:rPr>
              <a:t>¸</a:t>
            </a:r>
            <a:r>
              <a:rPr lang="en-US" sz="4800" b="1" dirty="0" err="1">
                <a:solidFill>
                  <a:srgbClr val="00B050"/>
                </a:solidFill>
                <a:latin typeface="Arm HelvU" pitchFamily="2" charset="0"/>
                <a:ea typeface="Calibri" panose="020F0502020204030204" pitchFamily="34" charset="0"/>
              </a:rPr>
              <a:t>äð</a:t>
            </a:r>
            <a:r>
              <a:rPr lang="en-US" sz="4800" b="1" dirty="0">
                <a:solidFill>
                  <a:srgbClr val="00B050"/>
                </a:solidFill>
                <a:latin typeface="Arm HelvU" pitchFamily="2" charset="0"/>
                <a:ea typeface="Calibri" panose="020F0502020204030204" pitchFamily="34" charset="0"/>
              </a:rPr>
              <a:t>. </a:t>
            </a:r>
            <a:r>
              <a:rPr lang="en-US" sz="4800" b="1" dirty="0">
                <a:latin typeface="Arm HelvU" pitchFamily="2" charset="0"/>
                <a:ea typeface="Calibri" panose="020F0502020204030204" pitchFamily="34" charset="0"/>
              </a:rPr>
              <a:t>ºõ </a:t>
            </a:r>
            <a:r>
              <a:rPr lang="en-US" sz="4800" b="1" dirty="0" err="1">
                <a:latin typeface="Arm HelvU" pitchFamily="2" charset="0"/>
                <a:ea typeface="Calibri" panose="020F0502020204030204" pitchFamily="34" charset="0"/>
              </a:rPr>
              <a:t>Áëï</a:t>
            </a:r>
            <a:r>
              <a:rPr lang="en-US" sz="4800" b="1" dirty="0">
                <a:latin typeface="Arm HelvU" pitchFamily="2" charset="0"/>
                <a:ea typeface="Calibri" panose="020F0502020204030204" pitchFamily="34" charset="0"/>
              </a:rPr>
              <a:t> »ñÏÝ³ÛÝáóÁÝ Ï³ñ·»ó»ñ Ç ëÙ³ ½¹³ëë ³é³ù»Éáó »õ Ù³ñ·³ñ¿Çó </a:t>
            </a:r>
            <a:r>
              <a:rPr lang="en-US" sz="4800" b="1" dirty="0" err="1">
                <a:latin typeface="Arm HelvU" pitchFamily="2" charset="0"/>
                <a:ea typeface="Calibri" panose="020F0502020204030204" pitchFamily="34" charset="0"/>
              </a:rPr>
              <a:t>ëáõñ</a:t>
            </a:r>
            <a:r>
              <a:rPr lang="en-US" sz="4800" b="1" dirty="0">
                <a:latin typeface="Arm HelvU" pitchFamily="2" charset="0"/>
                <a:ea typeface="Calibri" panose="020F0502020204030204" pitchFamily="34" charset="0"/>
              </a:rPr>
              <a:t>µ í³ñ¹³å»ï³ó:</a:t>
            </a:r>
          </a:p>
        </p:txBody>
      </p:sp>
      <p:cxnSp>
        <p:nvCxnSpPr>
          <p:cNvPr id="9" name="Straight Connector 8"/>
          <p:cNvCxnSpPr/>
          <p:nvPr/>
        </p:nvCxnSpPr>
        <p:spPr>
          <a:xfrm>
            <a:off x="1270000" y="3819124"/>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61980" y="6393885"/>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507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72812" y="3376"/>
            <a:ext cx="13716000" cy="769441"/>
          </a:xfrm>
          <a:prstGeom prst="rect">
            <a:avLst/>
          </a:prstGeom>
          <a:solidFill>
            <a:schemeClr val="bg1"/>
          </a:solidFill>
          <a:ln>
            <a:noFill/>
          </a:ln>
        </p:spPr>
        <p:txBody>
          <a:bodyPr wrap="square" rtlCol="0">
            <a:spAutoFit/>
          </a:bodyPr>
          <a:lstStyle/>
          <a:p>
            <a:r>
              <a:rPr lang="en-US" sz="4400" b="1" dirty="0" err="1">
                <a:solidFill>
                  <a:srgbClr val="548DD4"/>
                </a:solidFill>
                <a:latin typeface="Arm HelvU" pitchFamily="2" charset="0"/>
                <a:ea typeface="Calibri" panose="020F0502020204030204" pitchFamily="34" charset="0"/>
              </a:rPr>
              <a:t>àîøÆ</a:t>
            </a:r>
            <a:r>
              <a:rPr lang="en-US" sz="4400" b="1" dirty="0">
                <a:solidFill>
                  <a:srgbClr val="548DD4"/>
                </a:solidFill>
                <a:latin typeface="Arm HelvU" pitchFamily="2" charset="0"/>
                <a:ea typeface="Calibri" panose="020F0502020204030204" pitchFamily="34" charset="0"/>
              </a:rPr>
              <a:t> Î²Ü¶ÜÆÈ/Stand 												  </a:t>
            </a:r>
            <a:r>
              <a:rPr lang="hy-AM" sz="4400" b="1" dirty="0">
                <a:solidFill>
                  <a:srgbClr val="548DD4"/>
                </a:solidFill>
                <a:latin typeface="Arm HelvU" pitchFamily="2" charset="0"/>
                <a:ea typeface="Calibri" panose="020F0502020204030204" pitchFamily="34" charset="0"/>
              </a:rPr>
              <a:t>Էջ</a:t>
            </a:r>
            <a:r>
              <a:rPr lang="en-US" sz="4400" b="1" dirty="0">
                <a:solidFill>
                  <a:srgbClr val="548DD4"/>
                </a:solidFill>
                <a:latin typeface="Arm HelvU" pitchFamily="2" charset="0"/>
                <a:ea typeface="Calibri" panose="020F0502020204030204" pitchFamily="34" charset="0"/>
              </a:rPr>
              <a:t>Page 6</a:t>
            </a:r>
            <a:endParaRPr lang="en-US" sz="4400" b="1" dirty="0">
              <a:latin typeface="Arm HelvU" pitchFamily="2" charset="0"/>
              <a:ea typeface="Calibri" panose="020F0502020204030204" pitchFamily="34" charset="0"/>
            </a:endParaRPr>
          </a:p>
        </p:txBody>
      </p:sp>
      <p:sp>
        <p:nvSpPr>
          <p:cNvPr id="5" name="TextBox 4">
            <a:extLst>
              <a:ext uri="{FF2B5EF4-FFF2-40B4-BE49-F238E27FC236}">
                <a16:creationId xmlns:a16="http://schemas.microsoft.com/office/drawing/2014/main" id="{B075F7C7-B2DB-4AF2-A0CA-031339EC1718}"/>
              </a:ext>
            </a:extLst>
          </p:cNvPr>
          <p:cNvSpPr txBox="1"/>
          <p:nvPr/>
        </p:nvSpPr>
        <p:spPr>
          <a:xfrm>
            <a:off x="1272812" y="3682419"/>
            <a:ext cx="13716000" cy="2308324"/>
          </a:xfrm>
          <a:prstGeom prst="rect">
            <a:avLst/>
          </a:prstGeom>
          <a:noFill/>
          <a:ln>
            <a:noFill/>
          </a:ln>
        </p:spPr>
        <p:txBody>
          <a:bodyPr wrap="square" rtlCol="0">
            <a:spAutoFit/>
          </a:bodyPr>
          <a:lstStyle/>
          <a:p>
            <a:r>
              <a:rPr lang="en-US" sz="4800" dirty="0">
                <a:solidFill>
                  <a:srgbClr val="00B050"/>
                </a:solidFill>
                <a:latin typeface="Times New Roman" panose="02020603050405020304" pitchFamily="18" charset="0"/>
                <a:ea typeface="Calibri" panose="020F0502020204030204" pitchFamily="34" charset="0"/>
              </a:rPr>
              <a:t>CHR.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Aysor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zhoghovyal</a:t>
            </a:r>
            <a:r>
              <a:rPr lang="en-US" sz="4800" dirty="0">
                <a:latin typeface="Times New Roman" panose="02020603050405020304" pitchFamily="18" charset="0"/>
                <a:ea typeface="Calibri" panose="020F0502020204030204" pitchFamily="34" charset="0"/>
              </a:rPr>
              <a:t> task </a:t>
            </a:r>
            <a:r>
              <a:rPr lang="en-US" sz="4800" dirty="0" err="1">
                <a:latin typeface="Times New Roman" panose="02020603050405020304" pitchFamily="18" charset="0"/>
                <a:ea typeface="Calibri" panose="020F0502020204030204" pitchFamily="34" charset="0"/>
              </a:rPr>
              <a:t>kahanayits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sargavakats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tûbrats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yév</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gûghérigosats</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khoong</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madootsanémk</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arachi</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ko</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Dér</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horinag</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ûsd</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hnoomûn</a:t>
            </a:r>
            <a:r>
              <a:rPr lang="en-US" sz="4800" dirty="0">
                <a:latin typeface="Times New Roman" panose="02020603050405020304" pitchFamily="18" charset="0"/>
                <a:ea typeface="Calibri" panose="020F0502020204030204" pitchFamily="34" charset="0"/>
              </a:rPr>
              <a:t> </a:t>
            </a:r>
            <a:r>
              <a:rPr lang="en-US" sz="4800" dirty="0" err="1">
                <a:latin typeface="Times New Roman" panose="02020603050405020304" pitchFamily="18" charset="0"/>
                <a:ea typeface="Calibri" panose="020F0502020204030204" pitchFamily="34" charset="0"/>
              </a:rPr>
              <a:t>Zakariya</a:t>
            </a:r>
            <a:r>
              <a:rPr lang="en-US" sz="48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272812" y="6366927"/>
            <a:ext cx="13713189" cy="2308324"/>
          </a:xfrm>
          <a:prstGeom prst="rect">
            <a:avLst/>
          </a:prstGeom>
          <a:noFill/>
          <a:ln>
            <a:noFill/>
          </a:ln>
        </p:spPr>
        <p:txBody>
          <a:bodyPr wrap="square" rtlCol="0">
            <a:spAutoFit/>
          </a:bodyPr>
          <a:lstStyle/>
          <a:p>
            <a:pPr indent="457177"/>
            <a:r>
              <a:rPr lang="en-US" sz="4800" dirty="0">
                <a:solidFill>
                  <a:srgbClr val="00B050"/>
                </a:solidFill>
                <a:latin typeface="Times New Roman" panose="02020603050405020304" pitchFamily="18" charset="0"/>
                <a:ea typeface="Calibri" panose="020F0502020204030204" pitchFamily="34" charset="0"/>
              </a:rPr>
              <a:t>CHR.</a:t>
            </a:r>
            <a:r>
              <a:rPr lang="en-US" sz="4800" dirty="0">
                <a:latin typeface="Times New Roman" panose="02020603050405020304" pitchFamily="18" charset="0"/>
                <a:ea typeface="Calibri" panose="020F0502020204030204" pitchFamily="34" charset="0"/>
              </a:rPr>
              <a:t> Today, we who are assembled here, the ranks of priests, deacons, acolytes, and clerks, offer incense to you, O Lord, as Zachariah did of old. </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16032"/>
            <a:ext cx="13713188" cy="2123658"/>
          </a:xfrm>
          <a:prstGeom prst="rect">
            <a:avLst/>
          </a:prstGeom>
          <a:noFill/>
          <a:ln w="12700">
            <a:noFill/>
          </a:ln>
        </p:spPr>
        <p:txBody>
          <a:bodyPr wrap="square" rtlCol="0">
            <a:spAutoFit/>
          </a:bodyPr>
          <a:lstStyle/>
          <a:p>
            <a:pPr indent="457177"/>
            <a:r>
              <a:rPr lang="en-US" sz="4400" b="1" dirty="0">
                <a:solidFill>
                  <a:srgbClr val="00B050"/>
                </a:solidFill>
                <a:latin typeface="Arm HelvU" pitchFamily="2" charset="0"/>
                <a:ea typeface="Calibri" panose="020F0502020204030204" pitchFamily="34" charset="0"/>
              </a:rPr>
              <a:t>¸</a:t>
            </a:r>
            <a:r>
              <a:rPr lang="en-US" sz="4400" b="1" dirty="0" err="1">
                <a:solidFill>
                  <a:srgbClr val="00B050"/>
                </a:solidFill>
                <a:latin typeface="Arm HelvU" pitchFamily="2" charset="0"/>
                <a:ea typeface="Calibri" panose="020F0502020204030204" pitchFamily="34" charset="0"/>
              </a:rPr>
              <a:t>äð</a:t>
            </a:r>
            <a:r>
              <a:rPr lang="en-US" sz="4400" b="1" dirty="0">
                <a:solidFill>
                  <a:srgbClr val="00B050"/>
                </a:solidFill>
                <a:latin typeface="Arm HelvU" pitchFamily="2" charset="0"/>
                <a:ea typeface="Calibri" panose="020F0502020204030204" pitchFamily="34" charset="0"/>
              </a:rPr>
              <a:t>. </a:t>
            </a:r>
            <a:r>
              <a:rPr lang="en-US" sz="4400" b="1" dirty="0">
                <a:latin typeface="Arm HelvU" pitchFamily="2" charset="0"/>
                <a:ea typeface="Calibri" panose="020F0502020204030204" pitchFamily="34" charset="0"/>
              </a:rPr>
              <a:t>²Ûëûñ ÅáÕáí»³É ¹³ëù ù³Ñ³Ý³ÛÇó, ë³ñÏ³õ³·³ó, ¹Áåñ³ó »õ ÏÕ»ñÇÏáë³ó: </a:t>
            </a:r>
            <a:r>
              <a:rPr lang="en-US" sz="4400" b="1" dirty="0" err="1">
                <a:latin typeface="Arm HelvU" pitchFamily="2" charset="0"/>
                <a:ea typeface="Calibri" panose="020F0502020204030204" pitchFamily="34" charset="0"/>
              </a:rPr>
              <a:t>ÊáõÝÏ</a:t>
            </a:r>
            <a:r>
              <a:rPr lang="en-US" sz="4400" b="1" dirty="0">
                <a:latin typeface="Arm HelvU" pitchFamily="2" charset="0"/>
                <a:ea typeface="Calibri" panose="020F0502020204030204" pitchFamily="34" charset="0"/>
              </a:rPr>
              <a:t> Ù³ïáõó³Ý»Ùù ³é³çÇ </a:t>
            </a:r>
            <a:r>
              <a:rPr lang="en-US" sz="4400" b="1" dirty="0" err="1">
                <a:latin typeface="Arm HelvU" pitchFamily="2" charset="0"/>
                <a:ea typeface="Calibri" panose="020F0502020204030204" pitchFamily="34" charset="0"/>
              </a:rPr>
              <a:t>ùá</a:t>
            </a:r>
            <a:r>
              <a:rPr lang="en-US" sz="4400" b="1" dirty="0">
                <a:latin typeface="Arm HelvU" pitchFamily="2" charset="0"/>
                <a:ea typeface="Calibri" panose="020F0502020204030204" pitchFamily="34" charset="0"/>
              </a:rPr>
              <a:t>, </a:t>
            </a:r>
            <a:r>
              <a:rPr lang="en-US" sz="4400" b="1" dirty="0" err="1">
                <a:latin typeface="Arm HelvU" pitchFamily="2" charset="0"/>
                <a:ea typeface="Calibri" panose="020F0502020204030204" pitchFamily="34" charset="0"/>
              </a:rPr>
              <a:t>î¿ñ</a:t>
            </a:r>
            <a:r>
              <a:rPr lang="en-US" sz="4400" b="1" dirty="0">
                <a:latin typeface="Arm HelvU" pitchFamily="2" charset="0"/>
                <a:ea typeface="Calibri" panose="020F0502020204030204" pitchFamily="34" charset="0"/>
              </a:rPr>
              <a:t>, ÛûñÇÝ³Ï </a:t>
            </a:r>
            <a:r>
              <a:rPr lang="en-US" sz="4400" b="1" dirty="0" err="1">
                <a:latin typeface="Arm HelvU" pitchFamily="2" charset="0"/>
                <a:ea typeface="Calibri" panose="020F0502020204030204" pitchFamily="34" charset="0"/>
              </a:rPr>
              <a:t>Áëï</a:t>
            </a:r>
            <a:r>
              <a:rPr lang="en-US" sz="4400" b="1" dirty="0">
                <a:latin typeface="Arm HelvU" pitchFamily="2" charset="0"/>
                <a:ea typeface="Calibri" panose="020F0502020204030204" pitchFamily="34" charset="0"/>
              </a:rPr>
              <a:t> </a:t>
            </a:r>
            <a:r>
              <a:rPr lang="en-US" sz="4400" b="1" dirty="0" err="1">
                <a:latin typeface="Arm HelvU" pitchFamily="2" charset="0"/>
                <a:ea typeface="Calibri" panose="020F0502020204030204" pitchFamily="34" charset="0"/>
              </a:rPr>
              <a:t>ÑÝáõÙÝ</a:t>
            </a:r>
            <a:r>
              <a:rPr lang="en-US" sz="4400" b="1" dirty="0">
                <a:latin typeface="Arm HelvU" pitchFamily="2" charset="0"/>
                <a:ea typeface="Calibri" panose="020F0502020204030204" pitchFamily="34" charset="0"/>
              </a:rPr>
              <a:t> ¼³ù³ñÇ³Û:</a:t>
            </a:r>
          </a:p>
        </p:txBody>
      </p:sp>
      <p:cxnSp>
        <p:nvCxnSpPr>
          <p:cNvPr id="9" name="Straight Connector 8"/>
          <p:cNvCxnSpPr/>
          <p:nvPr/>
        </p:nvCxnSpPr>
        <p:spPr>
          <a:xfrm>
            <a:off x="1270000" y="3819124"/>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61980" y="6393885"/>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0836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72812" y="3376"/>
            <a:ext cx="13716000" cy="769441"/>
          </a:xfrm>
          <a:prstGeom prst="rect">
            <a:avLst/>
          </a:prstGeom>
          <a:solidFill>
            <a:schemeClr val="bg1"/>
          </a:solidFill>
          <a:ln>
            <a:noFill/>
          </a:ln>
        </p:spPr>
        <p:txBody>
          <a:bodyPr wrap="square" rtlCol="0">
            <a:spAutoFit/>
          </a:bodyPr>
          <a:lstStyle/>
          <a:p>
            <a:r>
              <a:rPr lang="en-US" sz="4400" b="1" dirty="0" err="1">
                <a:solidFill>
                  <a:srgbClr val="548DD4"/>
                </a:solidFill>
                <a:latin typeface="Arm HelvU" pitchFamily="2" charset="0"/>
                <a:ea typeface="Calibri" panose="020F0502020204030204" pitchFamily="34" charset="0"/>
              </a:rPr>
              <a:t>àîøÆ</a:t>
            </a:r>
            <a:r>
              <a:rPr lang="en-US" sz="4400" b="1" dirty="0">
                <a:solidFill>
                  <a:srgbClr val="548DD4"/>
                </a:solidFill>
                <a:latin typeface="Arm HelvU" pitchFamily="2" charset="0"/>
                <a:ea typeface="Calibri" panose="020F0502020204030204" pitchFamily="34" charset="0"/>
              </a:rPr>
              <a:t> Î²Ü¶ÜÆÈ/Stand 												</a:t>
            </a:r>
            <a:r>
              <a:rPr lang="hy-AM" sz="4400" b="1" dirty="0">
                <a:solidFill>
                  <a:srgbClr val="548DD4"/>
                </a:solidFill>
                <a:latin typeface="Arm HelvU" pitchFamily="2" charset="0"/>
                <a:ea typeface="Calibri" panose="020F0502020204030204" pitchFamily="34" charset="0"/>
              </a:rPr>
              <a:t>Էջ</a:t>
            </a:r>
            <a:r>
              <a:rPr lang="en-US" sz="4400" b="1" dirty="0">
                <a:solidFill>
                  <a:srgbClr val="548DD4"/>
                </a:solidFill>
                <a:latin typeface="Arm HelvU" pitchFamily="2" charset="0"/>
                <a:ea typeface="Calibri" panose="020F0502020204030204" pitchFamily="34" charset="0"/>
              </a:rPr>
              <a:t>/Page</a:t>
            </a:r>
            <a:r>
              <a:rPr lang="hy-AM" sz="4400" b="1" dirty="0">
                <a:solidFill>
                  <a:srgbClr val="548DD4"/>
                </a:solidFill>
                <a:latin typeface="Arm HelvU" pitchFamily="2" charset="0"/>
                <a:ea typeface="Calibri" panose="020F0502020204030204" pitchFamily="34" charset="0"/>
              </a:rPr>
              <a:t> </a:t>
            </a:r>
            <a:r>
              <a:rPr lang="en-US" sz="4400" b="1" dirty="0">
                <a:solidFill>
                  <a:srgbClr val="548DD4"/>
                </a:solidFill>
                <a:latin typeface="Arm HelvU" pitchFamily="2" charset="0"/>
                <a:ea typeface="Calibri" panose="020F0502020204030204" pitchFamily="34" charset="0"/>
              </a:rPr>
              <a:t>6</a:t>
            </a:r>
            <a:endParaRPr lang="en-US" sz="4400" b="1" dirty="0">
              <a:latin typeface="Arm HelvU" pitchFamily="2" charset="0"/>
              <a:ea typeface="Calibri" panose="020F0502020204030204" pitchFamily="34" charset="0"/>
            </a:endParaRPr>
          </a:p>
        </p:txBody>
      </p:sp>
      <p:sp>
        <p:nvSpPr>
          <p:cNvPr id="5" name="TextBox 4">
            <a:extLst>
              <a:ext uri="{FF2B5EF4-FFF2-40B4-BE49-F238E27FC236}">
                <a16:creationId xmlns:a16="http://schemas.microsoft.com/office/drawing/2014/main" id="{B075F7C7-B2DB-4AF2-A0CA-031339EC1718}"/>
              </a:ext>
            </a:extLst>
          </p:cNvPr>
          <p:cNvSpPr txBox="1"/>
          <p:nvPr/>
        </p:nvSpPr>
        <p:spPr>
          <a:xfrm>
            <a:off x="1272812" y="3682420"/>
            <a:ext cx="13716000" cy="2800767"/>
          </a:xfrm>
          <a:prstGeom prst="rect">
            <a:avLst/>
          </a:prstGeom>
          <a:noFill/>
          <a:ln>
            <a:noFill/>
          </a:ln>
        </p:spPr>
        <p:txBody>
          <a:bodyPr wrap="square" rtlCol="0">
            <a:spAutoFit/>
          </a:bodyPr>
          <a:lstStyle/>
          <a:p>
            <a:r>
              <a:rPr lang="en-US" sz="4400" dirty="0">
                <a:solidFill>
                  <a:srgbClr val="00B050"/>
                </a:solidFill>
                <a:latin typeface="Times New Roman" panose="02020603050405020304" pitchFamily="18" charset="0"/>
                <a:ea typeface="Calibri" panose="020F0502020204030204" pitchFamily="34" charset="0"/>
              </a:rPr>
              <a:t>CHR.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Ûngal</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ménch</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zkhûnganvér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maghtans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vorbés</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zbadarakn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Apéli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zNoyi</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yév</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zAprahamoo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Parékhosootyamp</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vérin</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ko</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zoratst</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mishd</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ansharzh</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bahya</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zator</a:t>
            </a:r>
            <a:r>
              <a:rPr lang="en-US" sz="4400" dirty="0">
                <a:latin typeface="Times New Roman" panose="02020603050405020304" pitchFamily="18" charset="0"/>
                <a:ea typeface="Calibri" panose="020F0502020204030204" pitchFamily="34" charset="0"/>
              </a:rPr>
              <a:t> </a:t>
            </a:r>
            <a:r>
              <a:rPr lang="en-US" sz="4400" dirty="0" err="1">
                <a:latin typeface="Times New Roman" panose="02020603050405020304" pitchFamily="18" charset="0"/>
                <a:ea typeface="Calibri" panose="020F0502020204030204" pitchFamily="34" charset="0"/>
              </a:rPr>
              <a:t>Haygaznyays</a:t>
            </a:r>
            <a:r>
              <a:rPr lang="en-US" sz="44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272812" y="6366927"/>
            <a:ext cx="13713189" cy="3046988"/>
          </a:xfrm>
          <a:prstGeom prst="rect">
            <a:avLst/>
          </a:prstGeom>
          <a:noFill/>
          <a:ln>
            <a:noFill/>
          </a:ln>
        </p:spPr>
        <p:txBody>
          <a:bodyPr wrap="square" rtlCol="0">
            <a:spAutoFit/>
          </a:bodyPr>
          <a:lstStyle/>
          <a:p>
            <a:pPr indent="457177"/>
            <a:r>
              <a:rPr lang="en-US" sz="4800" dirty="0">
                <a:solidFill>
                  <a:srgbClr val="00B050"/>
                </a:solidFill>
                <a:latin typeface="Times New Roman" panose="02020603050405020304" pitchFamily="18" charset="0"/>
                <a:ea typeface="Calibri" panose="020F0502020204030204" pitchFamily="34" charset="0"/>
              </a:rPr>
              <a:t>CHR.</a:t>
            </a:r>
            <a:r>
              <a:rPr lang="en-US" sz="4800" dirty="0">
                <a:latin typeface="Times New Roman" panose="02020603050405020304" pitchFamily="18" charset="0"/>
                <a:ea typeface="Calibri" panose="020F0502020204030204" pitchFamily="34" charset="0"/>
              </a:rPr>
              <a:t> Accept also from us, our incense-like prayers as you did the sacrifice of Abel, of Noah, and of Abraham. Through the intercession of the heavenly hosts, keep forever unshaken the See of Armenians.</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16033"/>
            <a:ext cx="13713188" cy="3477875"/>
          </a:xfrm>
          <a:prstGeom prst="rect">
            <a:avLst/>
          </a:prstGeom>
          <a:noFill/>
          <a:ln w="12700">
            <a:noFill/>
          </a:ln>
        </p:spPr>
        <p:txBody>
          <a:bodyPr wrap="square" rtlCol="0">
            <a:spAutoFit/>
          </a:bodyPr>
          <a:lstStyle/>
          <a:p>
            <a:pPr indent="457177"/>
            <a:r>
              <a:rPr lang="en-US" sz="4400" b="1" dirty="0">
                <a:solidFill>
                  <a:srgbClr val="00B050"/>
                </a:solidFill>
                <a:latin typeface="Arm HelvU" pitchFamily="2" charset="0"/>
                <a:ea typeface="Calibri" panose="020F0502020204030204" pitchFamily="34" charset="0"/>
              </a:rPr>
              <a:t>¸</a:t>
            </a:r>
            <a:r>
              <a:rPr lang="en-US" sz="4400" b="1" dirty="0" err="1">
                <a:solidFill>
                  <a:srgbClr val="00B050"/>
                </a:solidFill>
                <a:latin typeface="Arm HelvU" pitchFamily="2" charset="0"/>
                <a:ea typeface="Calibri" panose="020F0502020204030204" pitchFamily="34" charset="0"/>
              </a:rPr>
              <a:t>äð</a:t>
            </a:r>
            <a:r>
              <a:rPr lang="en-US" sz="4400" b="1" dirty="0">
                <a:solidFill>
                  <a:srgbClr val="00B050"/>
                </a:solidFill>
                <a:latin typeface="Arm HelvU" pitchFamily="2" charset="0"/>
                <a:ea typeface="Calibri" panose="020F0502020204030204" pitchFamily="34" charset="0"/>
              </a:rPr>
              <a:t>. </a:t>
            </a:r>
            <a:r>
              <a:rPr lang="en-US" sz="4400" b="1" dirty="0">
                <a:latin typeface="Arm HelvU" pitchFamily="2" charset="0"/>
                <a:ea typeface="Calibri" panose="020F0502020204030204" pitchFamily="34" charset="0"/>
              </a:rPr>
              <a:t>ÀÝÏ³É ³é Ç </a:t>
            </a:r>
            <a:r>
              <a:rPr lang="en-US" sz="4400" b="1" dirty="0" err="1">
                <a:latin typeface="Arm HelvU" pitchFamily="2" charset="0"/>
                <a:ea typeface="Calibri" panose="020F0502020204030204" pitchFamily="34" charset="0"/>
              </a:rPr>
              <a:t>Ù¿Ýç</a:t>
            </a:r>
            <a:r>
              <a:rPr lang="en-US" sz="4400" b="1" dirty="0">
                <a:latin typeface="Arm HelvU" pitchFamily="2" charset="0"/>
                <a:ea typeface="Calibri" panose="020F0502020204030204" pitchFamily="34" charset="0"/>
              </a:rPr>
              <a:t> ½ËÁÝÏ³Ýáõ¿ñ Ù³ÕÃ³Ýë </a:t>
            </a:r>
            <a:r>
              <a:rPr lang="en-US" sz="4400" b="1" dirty="0" err="1">
                <a:latin typeface="Arm HelvU" pitchFamily="2" charset="0"/>
                <a:ea typeface="Calibri" panose="020F0502020204030204" pitchFamily="34" charset="0"/>
              </a:rPr>
              <a:t>áñå¿ë</a:t>
            </a:r>
            <a:r>
              <a:rPr lang="en-US" sz="4400" b="1" dirty="0">
                <a:latin typeface="Arm HelvU" pitchFamily="2" charset="0"/>
                <a:ea typeface="Calibri" panose="020F0502020204030204" pitchFamily="34" charset="0"/>
              </a:rPr>
              <a:t> ½å³ï³ñ³·Ý ²µ»ÉÇ, ½ÜáÛÇ »õ ½²µñ³Ñ³Ùáõ: </a:t>
            </a:r>
            <a:r>
              <a:rPr lang="en-US" sz="4400" b="1" dirty="0">
                <a:solidFill>
                  <a:prstClr val="black"/>
                </a:solidFill>
                <a:latin typeface="Arm HelvU" pitchFamily="2" charset="0"/>
              </a:rPr>
              <a:t>E</a:t>
            </a:r>
            <a:r>
              <a:rPr lang="en-US" sz="4400" b="1" dirty="0">
                <a:latin typeface="Arm HelvU" pitchFamily="2" charset="0"/>
                <a:ea typeface="Calibri" panose="020F0502020204030204" pitchFamily="34" charset="0"/>
              </a:rPr>
              <a:t>³ñ»ËûëáõÃ»³Ùµ </a:t>
            </a:r>
            <a:r>
              <a:rPr lang="en-US" sz="4400" b="1" dirty="0" err="1">
                <a:latin typeface="Arm HelvU" pitchFamily="2" charset="0"/>
                <a:ea typeface="Calibri" panose="020F0502020204030204" pitchFamily="34" charset="0"/>
              </a:rPr>
              <a:t>í»ñÇÝ</a:t>
            </a:r>
            <a:r>
              <a:rPr lang="en-US" sz="4400" b="1" dirty="0">
                <a:latin typeface="Arm HelvU" pitchFamily="2" charset="0"/>
                <a:ea typeface="Calibri" panose="020F0502020204030204" pitchFamily="34" charset="0"/>
              </a:rPr>
              <a:t> </a:t>
            </a:r>
            <a:r>
              <a:rPr lang="en-US" sz="4400" b="1" dirty="0" err="1">
                <a:latin typeface="Arm HelvU" pitchFamily="2" charset="0"/>
                <a:ea typeface="Calibri" panose="020F0502020204030204" pitchFamily="34" charset="0"/>
              </a:rPr>
              <a:t>ùá</a:t>
            </a:r>
            <a:r>
              <a:rPr lang="en-US" sz="4400" b="1" dirty="0">
                <a:latin typeface="Arm HelvU" pitchFamily="2" charset="0"/>
                <a:ea typeface="Calibri" panose="020F0502020204030204" pitchFamily="34" charset="0"/>
              </a:rPr>
              <a:t> ½ûñ³ó¹, </a:t>
            </a:r>
            <a:r>
              <a:rPr lang="en-US" sz="4400" b="1" dirty="0" err="1">
                <a:latin typeface="Arm HelvU" pitchFamily="2" charset="0"/>
                <a:ea typeface="Calibri" panose="020F0502020204030204" pitchFamily="34" charset="0"/>
              </a:rPr>
              <a:t>ÙÇßï</a:t>
            </a:r>
            <a:r>
              <a:rPr lang="en-US" sz="4400" b="1" dirty="0">
                <a:latin typeface="Arm HelvU" pitchFamily="2" charset="0"/>
                <a:ea typeface="Calibri" panose="020F0502020204030204" pitchFamily="34" charset="0"/>
              </a:rPr>
              <a:t> ³Ýß³ñÅ å³Ñ»³ ½³Ãáé Ð³ÛÏ³½Ý»³Ûë:  </a:t>
            </a:r>
          </a:p>
          <a:p>
            <a:pPr indent="457177"/>
            <a:endParaRPr lang="en-US" sz="4400" b="1" dirty="0">
              <a:latin typeface="Arm HelvU" pitchFamily="2" charset="0"/>
              <a:ea typeface="Calibri" panose="020F0502020204030204" pitchFamily="34" charset="0"/>
            </a:endParaRPr>
          </a:p>
        </p:txBody>
      </p:sp>
      <p:cxnSp>
        <p:nvCxnSpPr>
          <p:cNvPr id="9" name="Straight Connector 8"/>
          <p:cNvCxnSpPr/>
          <p:nvPr/>
        </p:nvCxnSpPr>
        <p:spPr>
          <a:xfrm>
            <a:off x="1270000" y="3819124"/>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61980" y="6393885"/>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405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a:t>
            </a:r>
            <a:endParaRPr lang="en-US" sz="4000" dirty="0">
              <a:solidFill>
                <a:srgbClr val="FF0000"/>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takavorootyoonûn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Bless, O lord.</a:t>
            </a:r>
            <a:endParaRPr lang="en-US" sz="4000" dirty="0">
              <a:solidFill>
                <a:srgbClr val="FF0000"/>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Blessed is the kingdom of the Father and of the Son and of the Holy Spirit, now and always and forever and 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 տէր:  </a:t>
            </a:r>
          </a:p>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Օրհնեալ թագաւորութիւնն Հօր եւ Որդւոյ եւ Հոգւոյն Սրբոյ, այժմ եւ միշտ եւ յաւիտեանս յաւիտենից։ Ամէն: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53C66DD-B429-EAD7-B3C7-635ABA8B42C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7</a:t>
            </a:r>
          </a:p>
        </p:txBody>
      </p:sp>
    </p:spTree>
    <p:extLst>
      <p:ext uri="{BB962C8B-B14F-4D97-AF65-F5344CB8AC3E}">
        <p14:creationId xmlns:p14="http://schemas.microsoft.com/office/powerpoint/2010/main" val="2286118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Miyadzin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pant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anmah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éyootyoon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marmnanal</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sûrpoohvo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Asdvadzadznén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Goosén</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Anpopokhélit</a:t>
            </a:r>
            <a:r>
              <a:rPr lang="en-US" sz="4000" dirty="0">
                <a:latin typeface="Times New Roman" panose="02020603050405020304" pitchFamily="18" charset="0"/>
                <a:ea typeface="Calibri" panose="020F0502020204030204" pitchFamily="34" charset="0"/>
              </a:rPr>
              <a:t> mart </a:t>
            </a:r>
            <a:r>
              <a:rPr lang="en-US" sz="4000" dirty="0" err="1">
                <a:latin typeface="Times New Roman" panose="02020603050405020304" pitchFamily="18" charset="0"/>
                <a:ea typeface="Calibri" panose="020F0502020204030204" pitchFamily="34" charset="0"/>
              </a:rPr>
              <a:t>yéghyal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khachétsar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mahvamp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ûzmah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gokhétsér</a:t>
            </a:r>
            <a:r>
              <a:rPr lang="en-US" sz="40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Only-begotten Son and Word of God and immortal Being, who consented to become incarnate from the ever-Virgin, the holy Mother of God.</a:t>
            </a:r>
            <a:endParaRPr lang="hy-AM" sz="4000" dirty="0">
              <a:latin typeface="Times New Roman" panose="02020603050405020304" pitchFamily="18" charset="0"/>
              <a:ea typeface="Calibri" panose="020F0502020204030204" pitchFamily="34" charset="0"/>
            </a:endParaRPr>
          </a:p>
          <a:p>
            <a:r>
              <a:rPr lang="en-US" sz="4000" dirty="0">
                <a:latin typeface="Times New Roman" panose="02020603050405020304" pitchFamily="18" charset="0"/>
                <a:ea typeface="Calibri" panose="020F0502020204030204" pitchFamily="34" charset="0"/>
              </a:rPr>
              <a:t>O Christ, our God, you who are unchangeable, you became man, and were crucified, and conquered death by your death.</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pPr lvl="0"/>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Միածին Որդի եւ Բանդ Աստուած, եւ անմահ էութիւն, որ յանձն առեր մարմնանալ, ի սըրբուհւոյ Աստուածածնէն եւ ի միշտ Կուսէն: </a:t>
            </a:r>
          </a:p>
          <a:p>
            <a:pPr lvl="0"/>
            <a:r>
              <a:rPr lang="hy-AM" sz="4000" dirty="0">
                <a:latin typeface="Arm HelvU" pitchFamily="2" charset="0"/>
                <a:ea typeface="Calibri" panose="020F0502020204030204" pitchFamily="34" charset="0"/>
              </a:rPr>
              <a:t>Անփոփոխելիդ մարդ եղեալ, խաչեցար Քրիստոս Աստուած մեր, մահուամբ ըզմահ կոխեցեր:</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BF4D61A-06D3-F6B4-2BBF-5E2ECE26CE9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7</a:t>
            </a:r>
          </a:p>
        </p:txBody>
      </p:sp>
    </p:spTree>
    <p:extLst>
      <p:ext uri="{BB962C8B-B14F-4D97-AF65-F5344CB8AC3E}">
        <p14:creationId xmlns:p14="http://schemas.microsoft.com/office/powerpoint/2010/main" val="1301882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Minût</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Yérrortooténén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paravoragits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You who are one of the Holy Trinity, equal in glory with the Father and the Holy Spirit, save us.</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And again for peace let us beseech the Lord. Receive us, save us, and have mercy upon us. Bless, O lord.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Մինըդ ի Սըրբոյ Երրորդութենէն, փառաւորակից ընդ Հօր եւ ընդ Սըրբոյ Հոգւոյն կեցո ըզմեզ: </a:t>
            </a:r>
          </a:p>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եւըս խաղաղութեան զՏէր աղաչեսցուք, ընկալ, կեցո եւ ողորմեա։ Օրհնեա, տէր:</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115F616-E30B-DE3D-B13C-81B072EFBDE6}"/>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7</a:t>
            </a:r>
          </a:p>
        </p:txBody>
      </p:sp>
    </p:spTree>
    <p:extLst>
      <p:ext uri="{BB962C8B-B14F-4D97-AF65-F5344CB8AC3E}">
        <p14:creationId xmlns:p14="http://schemas.microsoft.com/office/powerpoint/2010/main" val="3573101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Orhnootyoon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endParaRPr lang="hy-AM" sz="4000" dirty="0">
              <a:latin typeface="Times New Roman" panose="02020603050405020304" pitchFamily="18" charset="0"/>
              <a:ea typeface="Calibri" panose="020F0502020204030204" pitchFamily="34" charset="0"/>
            </a:endParaRPr>
          </a:p>
          <a:p>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Blessing and glory be to the Father and to the Son and to the Holy Spirit, now and always and forever and ever. Amen. </a:t>
            </a:r>
            <a:endParaRPr lang="hy-AM" sz="4000" dirty="0">
              <a:latin typeface="Times New Roman" panose="02020603050405020304" pitchFamily="18" charset="0"/>
              <a:ea typeface="Calibri" panose="020F0502020204030204" pitchFamily="34" charset="0"/>
            </a:endParaRPr>
          </a:p>
          <a:p>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Peace be to all.</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Օրհնութիւն եւ փառք Հօր եւ Որդւոյ եւ Հոգւոյն Սրբոյ, այժմ եւ միշտ եւ յաւիտեանս յաւիտենից։ Ամէն:</a:t>
            </a:r>
            <a:r>
              <a:rPr lang="hy-AM" sz="4000" dirty="0">
                <a:solidFill>
                  <a:srgbClr val="FF0000"/>
                </a:solidFill>
                <a:latin typeface="Arm HelvU" pitchFamily="2" charset="0"/>
                <a:ea typeface="Calibri" panose="020F0502020204030204" pitchFamily="34" charset="0"/>
              </a:rPr>
              <a:t> </a:t>
            </a:r>
            <a:endParaRPr lang="en-US" sz="4000" dirty="0">
              <a:solidFill>
                <a:srgbClr val="FF0000"/>
              </a:solidFill>
              <a:latin typeface="Arm HelvU" pitchFamily="2" charset="0"/>
              <a:ea typeface="Calibri" panose="020F0502020204030204" pitchFamily="34" charset="0"/>
            </a:endParaRPr>
          </a:p>
          <a:p>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Խաղաղութիւն ամենեցուն: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D9B9468-B74C-2E79-93CB-F5013633F39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7</a:t>
            </a:r>
          </a:p>
        </p:txBody>
      </p:sp>
    </p:spTree>
    <p:extLst>
      <p:ext uri="{BB962C8B-B14F-4D97-AF65-F5344CB8AC3E}">
        <p14:creationId xmlns:p14="http://schemas.microsoft.com/office/powerpoint/2010/main" val="37010147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koom</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yérgirbakéstsook</a:t>
            </a:r>
            <a:r>
              <a:rPr lang="en-US" sz="4000" dirty="0">
                <a:latin typeface="Times New Roman" panose="02020603050405020304" pitchFamily="18" charset="0"/>
                <a:ea typeface="Calibri" panose="020F0502020204030204" pitchFamily="34" charset="0"/>
              </a:rPr>
              <a:t>. </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And with your spirit.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Let us bow down to God.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To you we bow down, O Lord.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ընդ հոգւոյդ քում:  </a:t>
            </a:r>
          </a:p>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Աստուծոյ երկիրպագեսցուք:  </a:t>
            </a:r>
          </a:p>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Առաջի քո, Տէր: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BA64832-9D49-AA74-F491-02024AC76AD1}"/>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7</a:t>
            </a:r>
          </a:p>
        </p:txBody>
      </p:sp>
    </p:spTree>
    <p:extLst>
      <p:ext uri="{BB962C8B-B14F-4D97-AF65-F5344CB8AC3E}">
        <p14:creationId xmlns:p14="http://schemas.microsoft.com/office/powerpoint/2010/main" val="14409898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garoghootyoonût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ankûnin</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parkût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anhasanéli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voghormootyoonût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anchap</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kûtootyoont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anpav</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too </a:t>
            </a:r>
            <a:r>
              <a:rPr lang="en-US" sz="4000" dirty="0" err="1">
                <a:latin typeface="Times New Roman" panose="02020603050405020304" pitchFamily="18" charset="0"/>
                <a:ea typeface="Calibri" panose="020F0502020204030204" pitchFamily="34" charset="0"/>
              </a:rPr>
              <a:t>ûsd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martasirootyanût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nayyats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zhoghovoortûs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O Lord, our God, whose power is inscrutable and whose glory is incomprehensible, whose steadfast love is infinite and compassion unbounded,</a:t>
            </a:r>
            <a:endParaRPr lang="hy-AM" sz="4000" dirty="0">
              <a:latin typeface="Times New Roman" panose="02020603050405020304" pitchFamily="18" charset="0"/>
              <a:ea typeface="Calibri" panose="020F0502020204030204" pitchFamily="34" charset="0"/>
            </a:endParaRPr>
          </a:p>
          <a:p>
            <a:r>
              <a:rPr lang="en-US" sz="4000" dirty="0">
                <a:latin typeface="Times New Roman" panose="02020603050405020304" pitchFamily="18" charset="0"/>
                <a:ea typeface="Calibri" panose="020F0502020204030204" pitchFamily="34" charset="0"/>
              </a:rPr>
              <a:t>according to your abundant love for mankind look down upon your people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Աստուած մեր, որոյ կարողութիւնդ անքնին է եւ փառքդ անհասանելի, որոյ ողորմութիւնդ անչափ է եւ գթութիւնդ անբաւ. դու ըստ առատ մարդասիրութեանդ քում նայեաց ի ժողովուրդս քո եւ ի</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093ABAE-2AEC-6105-66A0-E46BA41FE45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7</a:t>
            </a:r>
          </a:p>
        </p:txBody>
      </p:sp>
    </p:spTree>
    <p:extLst>
      <p:ext uri="{BB962C8B-B14F-4D97-AF65-F5344CB8AC3E}">
        <p14:creationId xmlns:p14="http://schemas.microsoft.com/office/powerpoint/2010/main" val="24252121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dajarûs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aghotagitsûs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aradabés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zoghormootyoon</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ûzkûtootyoon</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vayélé</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ishkhanootyoon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and upon this holy temple, and abundantly grant your steadfast love</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and compassion to us and to all those who now pray with us. For to you is befitting glory, dominion, and honor, now and always and forever and 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տաճարս այս սուրբ: Եւ արա ընդ մեզ եւ ընդ աղօթակիցս մեր առատապէս զողորմութիւն քո եւ զգթութիւն: Զի քեզ վայել է փառք, իշխանութիւն եւ պատիւ, այժմ եւ միշտ եւ յաւիտեանս յաւիտենից։ Ամէն: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14E7165-BC3D-73E5-1218-F9C449A18B7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8</a:t>
            </a:r>
          </a:p>
        </p:txBody>
      </p:sp>
    </p:spTree>
    <p:extLst>
      <p:ext uri="{BB962C8B-B14F-4D97-AF65-F5344CB8AC3E}">
        <p14:creationId xmlns:p14="http://schemas.microsoft.com/office/powerpoint/2010/main" val="14567062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spc="100" dirty="0">
                <a:latin typeface="Times New Roman" panose="02020603050405020304" pitchFamily="18" charset="0"/>
                <a:ea typeface="Calibri" panose="020F0502020204030204" pitchFamily="34" charset="0"/>
              </a:rPr>
              <a:t>SHARAGAN JASHOO</a:t>
            </a:r>
            <a:endParaRPr lang="en-US" sz="4000" dirty="0">
              <a:latin typeface="Arm HelvU" pitchFamily="2"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MIDDAY CHANT</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ՇԱՐԱԿԱՆ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ՃԱՇՈՒ</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6C350FC-2912-CF15-ED69-B3A09D58788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8</a:t>
            </a:r>
          </a:p>
        </p:txBody>
      </p:sp>
    </p:spTree>
    <p:extLst>
      <p:ext uri="{BB962C8B-B14F-4D97-AF65-F5344CB8AC3E}">
        <p14:creationId xmlns:p14="http://schemas.microsoft.com/office/powerpoint/2010/main" val="1493689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highlight>
                  <a:srgbClr val="FFFF00"/>
                </a:highlight>
              </a:rPr>
              <a:t>3 Pages from page 42 for </a:t>
            </a:r>
            <a:br>
              <a:rPr lang="en-US" dirty="0">
                <a:highlight>
                  <a:srgbClr val="FFFF00"/>
                </a:highlight>
              </a:rPr>
            </a:br>
            <a:r>
              <a:rPr lang="en-US" sz="5400" b="1" dirty="0">
                <a:highlight>
                  <a:srgbClr val="FFFF00"/>
                </a:highlight>
                <a:latin typeface="Arm HelvU" pitchFamily="2" charset="0"/>
                <a:ea typeface="Calibri" panose="020F0502020204030204" pitchFamily="34" charset="0"/>
              </a:rPr>
              <a:t>Þ²ð²Î²Ü Ö²Þàô-</a:t>
            </a:r>
            <a:r>
              <a:rPr lang="hy-AM" sz="5400" b="1" dirty="0">
                <a:highlight>
                  <a:srgbClr val="FFFF00"/>
                </a:highlight>
                <a:latin typeface="Arm HelvU" pitchFamily="2" charset="0"/>
                <a:ea typeface="Calibri" panose="020F0502020204030204" pitchFamily="34" charset="0"/>
              </a:rPr>
              <a:t> </a:t>
            </a:r>
            <a:endParaRPr lang="en-US" dirty="0">
              <a:highlight>
                <a:srgbClr val="FFFF00"/>
              </a:highlight>
              <a:latin typeface="Arm HelvU" pitchFamily="2" charset="0"/>
            </a:endParaRP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4200738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Zi ko </a:t>
            </a:r>
            <a:r>
              <a:rPr lang="en-US" sz="4000" dirty="0" err="1">
                <a:latin typeface="Times New Roman" panose="02020603050405020304" pitchFamily="18" charset="0"/>
                <a:ea typeface="Calibri" panose="020F0502020204030204" pitchFamily="34" charset="0"/>
              </a:rPr>
              <a:t>yé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garoghootyoon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havidyans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Broskhoomé</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hûzor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anmah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haryar</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mérélots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Yéritsûs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gûrgnya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	For yours is the might and the power and the glory forever. Amen.</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Be attentive.</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Holy God, holy and mighty, holy and immortal, who rose from the dead, have mercy upon us. (Repeat three times.)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Զի քո է կարողութիւն եւ զօրութիւն եւ փառք յաւիտեանս։ Ամէն:  </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Պռօսխումէ:</a:t>
            </a:r>
          </a:p>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Սուրբ Աստուած, սուրբ եւ հզօր, սուրբ եւ անմահ, որ յարեար ի մեռելոց, ողորմեա մեզ: (Երիցս կրկնեա)</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6AE2B4E-CA1E-B1E4-D649-E5846AE4690A}"/>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8</a:t>
            </a:r>
          </a:p>
        </p:txBody>
      </p:sp>
    </p:spTree>
    <p:extLst>
      <p:ext uri="{BB962C8B-B14F-4D97-AF65-F5344CB8AC3E}">
        <p14:creationId xmlns:p14="http://schemas.microsoft.com/office/powerpoint/2010/main" val="21265300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 </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And again for peace let us beseech the Lord.</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եւըս խաղաղութեան զՏէր աղաչեսցուք:  </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AE16F78-9017-DF71-F413-35BCE911793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9</a:t>
            </a:r>
          </a:p>
        </p:txBody>
      </p:sp>
    </p:spTree>
    <p:extLst>
      <p:ext uri="{BB962C8B-B14F-4D97-AF65-F5344CB8AC3E}">
        <p14:creationId xmlns:p14="http://schemas.microsoft.com/office/powerpoint/2010/main" val="42276458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Vasûn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ashkharhi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hasdadootyan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yégéghétsvo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 </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For the peace of the whole world and for the stability of the holy Church, let us beseech the Lord.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Վասըն խաղաղութեան ամենայն աշխարհի եւ հաստատութեան սըրբոյ եկեղեցւոյ, ըզՏէր աղաչեսցուք:</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55BD1AC-EA50-C11A-2CAA-2F1E1B4FA66A}"/>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9</a:t>
            </a:r>
          </a:p>
        </p:txBody>
      </p:sp>
    </p:spTree>
    <p:extLst>
      <p:ext uri="{BB962C8B-B14F-4D97-AF65-F5344CB8AC3E}">
        <p14:creationId xmlns:p14="http://schemas.microsoft.com/office/powerpoint/2010/main" val="17458873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Vasn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ooghghapar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yébisgobosats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For all holy and orthodox bishops, let us beseech the Lord.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Վասն ամենայն սուրբ եւ ուղղափառ եպիսկոպոսաց, ըզՏէր աղաչեսցուք։ </a:t>
            </a:r>
          </a:p>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Տէր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5418275-2AFD-E984-B686-060D6FD23AF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9</a:t>
            </a:r>
          </a:p>
        </p:txBody>
      </p:sp>
    </p:spTree>
    <p:extLst>
      <p:ext uri="{BB962C8B-B14F-4D97-AF65-F5344CB8AC3E}">
        <p14:creationId xmlns:p14="http://schemas.microsoft.com/office/powerpoint/2010/main" val="13693836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Vasûn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hayrabédin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dyarûn</a:t>
            </a:r>
            <a:r>
              <a:rPr lang="en-US" sz="4000" dirty="0">
                <a:latin typeface="Times New Roman" panose="02020603050405020304" pitchFamily="18" charset="0"/>
                <a:ea typeface="Calibri" panose="020F0502020204030204" pitchFamily="34" charset="0"/>
              </a:rPr>
              <a:t> </a:t>
            </a:r>
            <a:r>
              <a:rPr lang="en-US" sz="4000" b="1" dirty="0">
                <a:latin typeface="Times New Roman" panose="02020603050405020304" pitchFamily="18" charset="0"/>
                <a:ea typeface="Calibri" panose="020F0502020204030204" pitchFamily="34" charset="0"/>
              </a:rPr>
              <a:t>(this name)</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sûrpaznakooyn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gatoghigosi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génats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317009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For the life of our Patriarch, the most holy lord, lord </a:t>
            </a:r>
            <a:r>
              <a:rPr lang="en-US" sz="4000" b="1" dirty="0">
                <a:latin typeface="Times New Roman" panose="02020603050405020304" pitchFamily="18" charset="0"/>
                <a:ea typeface="Calibri" panose="020F0502020204030204" pitchFamily="34" charset="0"/>
              </a:rPr>
              <a:t>(name of the Catholicos)</a:t>
            </a:r>
            <a:r>
              <a:rPr lang="en-US" sz="4000" dirty="0">
                <a:latin typeface="Times New Roman" panose="02020603050405020304" pitchFamily="18" charset="0"/>
                <a:ea typeface="Calibri" panose="020F0502020204030204" pitchFamily="34" charset="0"/>
              </a:rPr>
              <a:t>, and for the salvation of his soul, let us beseech the Lord.</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 Be mindful, O Lord, and have mercy. Lord, have mercy. To you, O Lord, we commit ourselves. Lord, have mercy, Lord, have mercy,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Վասըն հայրապետին մերոյ տեառըն տեառըն (այս անուն) սրբազնագոյն կաթողիկոսի կենաց եւ փըրկութեան հոգւոյ նորին, ըզՏէր աղաչեսցուք։</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 Յիշեա Տէր եւ ողորմեա։ Տէր ողորմեա։ Քեզ Տեառնդ յանձն եղիցուք։ Տէր ողորմեա, Տէր ողորմեա, Տէր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9229D51-7518-340B-96DD-D0CA0829F38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9</a:t>
            </a:r>
          </a:p>
        </p:txBody>
      </p:sp>
    </p:spTree>
    <p:extLst>
      <p:ext uri="{BB962C8B-B14F-4D97-AF65-F5344CB8AC3E}">
        <p14:creationId xmlns:p14="http://schemas.microsoft.com/office/powerpoint/2010/main" val="5807506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Zi </a:t>
            </a:r>
            <a:r>
              <a:rPr lang="en-US" sz="4000" dirty="0" err="1">
                <a:latin typeface="Times New Roman" panose="02020603050405020304" pitchFamily="18" charset="0"/>
                <a:ea typeface="Calibri" panose="020F0502020204030204" pitchFamily="34" charset="0"/>
              </a:rPr>
              <a:t>voghormadz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martasér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kolov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vayélé</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ishkhanootyoon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For you, being God, are merciful and lover of mankind, and to you is befitting glory, dominion, and honor, now and always and forever and 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Զի ողորմած եւ մարդասէր ես Աստուած գոլով, եւ քեզ վայել է փառք, իշխանութիւն եւ պատիւ, այժմ եւ միշտ եւ յաւիտեանս յաւիտենից։ Ամէն:</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B5EB8DC-9D43-4A24-E232-5B944A063CF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10</a:t>
            </a:r>
          </a:p>
        </p:txBody>
      </p:sp>
    </p:spTree>
    <p:extLst>
      <p:ext uri="{BB962C8B-B14F-4D97-AF65-F5344CB8AC3E}">
        <p14:creationId xmlns:p14="http://schemas.microsoft.com/office/powerpoint/2010/main" val="439687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ûntérnoon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ûzjashoo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kirsûn</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Reading of the Scriptures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Եւ ընթեռնուն զճաշու գիրսն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5691737-F427-996C-66E5-D1FD33DE1801}"/>
              </a:ext>
            </a:extLst>
          </p:cNvPr>
          <p:cNvSpPr txBox="1"/>
          <p:nvPr/>
        </p:nvSpPr>
        <p:spPr>
          <a:xfrm>
            <a:off x="0" y="0"/>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10</a:t>
            </a:r>
          </a:p>
        </p:txBody>
      </p:sp>
    </p:spTree>
    <p:extLst>
      <p:ext uri="{BB962C8B-B14F-4D97-AF65-F5344CB8AC3E}">
        <p14:creationId xmlns:p14="http://schemas.microsoft.com/office/powerpoint/2010/main" val="30669624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CHR.	</a:t>
            </a:r>
            <a:r>
              <a:rPr lang="en-US" sz="4000" dirty="0" err="1">
                <a:latin typeface="Times New Roman" panose="02020603050405020304" pitchFamily="18" charset="0"/>
                <a:ea typeface="Calibri" panose="020F0502020204030204" pitchFamily="34" charset="0"/>
                <a:cs typeface="Times New Roman" panose="02020603050405020304" pitchFamily="18" charset="0"/>
              </a:rPr>
              <a:t>Alélooya</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err="1">
                <a:latin typeface="Times New Roman" panose="02020603050405020304" pitchFamily="18" charset="0"/>
                <a:ea typeface="Calibri" panose="020F0502020204030204" pitchFamily="34" charset="0"/>
                <a:cs typeface="Times New Roman" panose="02020603050405020304" pitchFamily="18" charset="0"/>
              </a:rPr>
              <a:t>alélooya</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p>
          <a:p>
            <a:pPr algn="l"/>
            <a:r>
              <a:rPr lang="en-US" sz="4000" b="0" u="none" strike="noStrike" baseline="0" dirty="0" err="1">
                <a:latin typeface="Times New Roman" panose="02020603050405020304" pitchFamily="18" charset="0"/>
                <a:cs typeface="Times New Roman" panose="02020603050405020304" pitchFamily="18" charset="0"/>
              </a:rPr>
              <a:t>Haryav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Asdvadz</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tsûrvétsan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aménayn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tûshnamik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nora</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pakhyan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adélik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nora</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hérésats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nora</a:t>
            </a:r>
            <a:r>
              <a:rPr lang="en-US" sz="4000" b="0" u="none" strike="noStrike" baseline="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CHR.</a:t>
            </a:r>
            <a:r>
              <a:rPr lang="en-US" sz="4000" dirty="0">
                <a:latin typeface="Times New Roman" panose="02020603050405020304" pitchFamily="18" charset="0"/>
                <a:ea typeface="Calibri" panose="020F0502020204030204" pitchFamily="34" charset="0"/>
                <a:cs typeface="Times New Roman" panose="02020603050405020304" pitchFamily="18" charset="0"/>
              </a:rPr>
              <a:t>	Alleluia! Alleluia! </a:t>
            </a:r>
          </a:p>
          <a:p>
            <a:pPr algn="l"/>
            <a:r>
              <a:rPr lang="en-US" sz="4000" b="0" i="0" u="none" strike="noStrike" baseline="0" dirty="0">
                <a:latin typeface="Times New Roman" panose="02020603050405020304" pitchFamily="18" charset="0"/>
                <a:cs typeface="Times New Roman" panose="02020603050405020304" pitchFamily="18" charset="0"/>
              </a:rPr>
              <a:t>God has risen up and all his enemies are scattered; those who hated him fled before him.</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Ալէլուիա, ալէլուիա:  </a:t>
            </a:r>
          </a:p>
          <a:p>
            <a:r>
              <a:rPr lang="hy-AM" sz="4000" dirty="0">
                <a:latin typeface="Arm HelvU" pitchFamily="2" charset="0"/>
                <a:ea typeface="Calibri" panose="020F0502020204030204" pitchFamily="34" charset="0"/>
              </a:rPr>
              <a:t>Յարեաւ Աստուած եւ ցըրուեցան ամենայն թշնամիք նորա: Փախեան ատելիք նորա յերեսաց նորա:</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789A7CC-B3E1-3836-BE27-ECFD2BC5506B}"/>
              </a:ext>
            </a:extLst>
          </p:cNvPr>
          <p:cNvSpPr txBox="1"/>
          <p:nvPr/>
        </p:nvSpPr>
        <p:spPr>
          <a:xfrm>
            <a:off x="0" y="0"/>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10</a:t>
            </a:r>
          </a:p>
        </p:txBody>
      </p:sp>
    </p:spTree>
    <p:extLst>
      <p:ext uri="{BB962C8B-B14F-4D97-AF65-F5344CB8AC3E}">
        <p14:creationId xmlns:p14="http://schemas.microsoft.com/office/powerpoint/2010/main" val="33464074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orti</a:t>
            </a:r>
            <a:r>
              <a:rPr lang="en-US" sz="4000" dirty="0">
                <a:latin typeface="Times New Roman" panose="02020603050405020304" pitchFamily="18" charset="0"/>
                <a:ea typeface="Calibri" panose="020F0502020204030204" pitchFamily="34" charset="0"/>
              </a:rPr>
              <a:t>.</a:t>
            </a:r>
            <a:endParaRPr lang="en-US" sz="4000" dirty="0">
              <a:solidFill>
                <a:srgbClr val="FF0000"/>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Wingdings" panose="05000000000000000000" pitchFamily="2" charset="2"/>
                <a:ea typeface="Calibri" panose="020F0502020204030204" pitchFamily="34" charset="0"/>
              </a:rPr>
              <a:t>X</a:t>
            </a:r>
            <a:r>
              <a:rPr lang="en-US" sz="4000" dirty="0" err="1">
                <a:latin typeface="Times New Roman" panose="02020603050405020304" pitchFamily="18" charset="0"/>
                <a:ea typeface="Calibri" panose="020F0502020204030204" pitchFamily="34" charset="0"/>
              </a:rPr>
              <a:t>Khaghaghootyoon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pPr lvl="0"/>
            <a:r>
              <a:rPr lang="en-US" sz="4000" dirty="0">
                <a:solidFill>
                  <a:srgbClr val="00B050"/>
                </a:solidFill>
                <a:latin typeface="Times New Roman" panose="02020603050405020304" pitchFamily="18" charset="0"/>
                <a:ea typeface="Calibri" panose="020F0502020204030204" pitchFamily="34" charset="0"/>
              </a:rPr>
              <a:t>CHR.	</a:t>
            </a:r>
            <a:r>
              <a:rPr lang="en-US" sz="4000" dirty="0" err="1">
                <a:solidFill>
                  <a:prstClr val="black"/>
                </a:solidFill>
                <a:latin typeface="Times New Roman" panose="02020603050405020304" pitchFamily="18" charset="0"/>
                <a:ea typeface="Calibri" panose="020F0502020204030204" pitchFamily="34" charset="0"/>
              </a:rPr>
              <a:t>Yév</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ûnt</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hokvooyt</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koom</a:t>
            </a:r>
            <a:r>
              <a:rPr lang="en-US" sz="4000" dirty="0">
                <a:solidFill>
                  <a:prstClr val="black"/>
                </a:solidFill>
                <a:latin typeface="Times New Roman" panose="02020603050405020304" pitchFamily="18" charset="0"/>
                <a:ea typeface="Calibri" panose="020F0502020204030204" pitchFamily="34" charset="0"/>
              </a:rPr>
              <a:t>.</a:t>
            </a:r>
            <a:endParaRPr lang="hy-AM" sz="4000" dirty="0">
              <a:solidFill>
                <a:prstClr val="black"/>
              </a:solidFill>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Alleluia! Rise.</a:t>
            </a:r>
            <a:endParaRPr lang="en-US" sz="4000" dirty="0">
              <a:solidFill>
                <a:srgbClr val="FF0000"/>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Wingdings" panose="05000000000000000000" pitchFamily="2" charset="2"/>
                <a:ea typeface="Calibri" panose="020F0502020204030204" pitchFamily="34" charset="0"/>
              </a:rPr>
              <a:t>X</a:t>
            </a:r>
            <a:r>
              <a:rPr lang="en-US" sz="4000" dirty="0" err="1">
                <a:latin typeface="Times New Roman" panose="02020603050405020304" pitchFamily="18" charset="0"/>
                <a:ea typeface="Calibri" panose="020F0502020204030204" pitchFamily="34" charset="0"/>
              </a:rPr>
              <a:t>Peace</a:t>
            </a:r>
            <a:r>
              <a:rPr lang="en-US" sz="4000" dirty="0">
                <a:latin typeface="Times New Roman" panose="02020603050405020304" pitchFamily="18" charset="0"/>
                <a:ea typeface="Calibri" panose="020F0502020204030204" pitchFamily="34" charset="0"/>
              </a:rPr>
              <a:t> be to all.</a:t>
            </a:r>
            <a:endParaRPr lang="en-US" sz="4000" dirty="0">
              <a:solidFill>
                <a:srgbClr val="00B050"/>
              </a:solidFill>
              <a:latin typeface="Times New Roman" panose="02020603050405020304" pitchFamily="18" charset="0"/>
              <a:ea typeface="Calibri" panose="020F0502020204030204" pitchFamily="34" charset="0"/>
            </a:endParaRPr>
          </a:p>
          <a:p>
            <a:pPr lvl="0"/>
            <a:r>
              <a:rPr lang="en-US" sz="4000" dirty="0">
                <a:solidFill>
                  <a:srgbClr val="00B050"/>
                </a:solidFill>
                <a:latin typeface="Times New Roman" panose="02020603050405020304" pitchFamily="18" charset="0"/>
                <a:ea typeface="Calibri" panose="020F0502020204030204" pitchFamily="34" charset="0"/>
              </a:rPr>
              <a:t>CHR.</a:t>
            </a:r>
            <a:r>
              <a:rPr lang="en-US" sz="4000" dirty="0">
                <a:solidFill>
                  <a:prstClr val="black"/>
                </a:solidFill>
                <a:latin typeface="Times New Roman" panose="02020603050405020304" pitchFamily="18" charset="0"/>
                <a:ea typeface="Calibri" panose="020F0502020204030204" pitchFamily="34" charset="0"/>
              </a:rPr>
              <a:t>	And with your spirit.</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prstClr val="black"/>
                </a:solidFill>
                <a:latin typeface="Arm HelvU" pitchFamily="2" charset="0"/>
                <a:ea typeface="Calibri" panose="020F0502020204030204" pitchFamily="34" charset="0"/>
              </a:rPr>
              <a:t> </a:t>
            </a:r>
            <a:r>
              <a:rPr lang="hy-AM" sz="4000" dirty="0">
                <a:solidFill>
                  <a:prstClr val="black"/>
                </a:solidFill>
                <a:latin typeface="Arm HelvU" pitchFamily="2" charset="0"/>
                <a:ea typeface="Calibri" panose="020F0502020204030204" pitchFamily="34" charset="0"/>
              </a:rPr>
              <a:t>Ալէլուիա, օրթի:</a:t>
            </a:r>
          </a:p>
          <a:p>
            <a:r>
              <a:rPr lang="hy-AM" sz="4000" dirty="0">
                <a:solidFill>
                  <a:srgbClr val="FF0000"/>
                </a:solidFill>
                <a:latin typeface="Arm HelvU" pitchFamily="2" charset="0"/>
                <a:ea typeface="Calibri" panose="020F0502020204030204" pitchFamily="34" charset="0"/>
              </a:rPr>
              <a:t>ՔՀՆ.</a:t>
            </a:r>
            <a:r>
              <a:rPr lang="hy-AM" sz="4000" dirty="0">
                <a:solidFill>
                  <a:prstClr val="black"/>
                </a:solidFill>
                <a:latin typeface="Arm HelvU" pitchFamily="2" charset="0"/>
                <a:ea typeface="Calibri" panose="020F0502020204030204" pitchFamily="34" charset="0"/>
              </a:rPr>
              <a:t>	</a:t>
            </a:r>
            <a:r>
              <a:rPr lang="en-US" sz="4000" dirty="0">
                <a:latin typeface="Wingdings" panose="05000000000000000000" pitchFamily="2" charset="2"/>
                <a:ea typeface="Calibri" panose="020F0502020204030204" pitchFamily="34" charset="0"/>
              </a:rPr>
              <a:t>X</a:t>
            </a:r>
            <a:r>
              <a:rPr lang="en-US" sz="4000" dirty="0">
                <a:solidFill>
                  <a:prstClr val="black"/>
                </a:solidFill>
                <a:latin typeface="Arm HelvU" pitchFamily="2" charset="0"/>
                <a:ea typeface="Calibri" panose="020F0502020204030204" pitchFamily="34" charset="0"/>
              </a:rPr>
              <a:t> </a:t>
            </a:r>
            <a:r>
              <a:rPr lang="hy-AM" sz="4000" dirty="0">
                <a:solidFill>
                  <a:prstClr val="black"/>
                </a:solidFill>
                <a:latin typeface="Arm HelvU" pitchFamily="2" charset="0"/>
                <a:ea typeface="Calibri" panose="020F0502020204030204" pitchFamily="34" charset="0"/>
              </a:rPr>
              <a:t>Խաղաղութիւն ամենեցուն:</a:t>
            </a:r>
          </a:p>
          <a:p>
            <a:r>
              <a:rPr lang="hy-AM" sz="4000" dirty="0">
                <a:solidFill>
                  <a:srgbClr val="00B050"/>
                </a:solidFill>
                <a:latin typeface="Arm HelvU" pitchFamily="2" charset="0"/>
                <a:ea typeface="Calibri" panose="020F0502020204030204" pitchFamily="34" charset="0"/>
              </a:rPr>
              <a:t>ԴՊՐ. </a:t>
            </a:r>
            <a:r>
              <a:rPr lang="hy-AM" sz="4000" dirty="0">
                <a:solidFill>
                  <a:prstClr val="black"/>
                </a:solidFill>
                <a:latin typeface="Arm HelvU" pitchFamily="2" charset="0"/>
                <a:ea typeface="Calibri" panose="020F0502020204030204" pitchFamily="34" charset="0"/>
              </a:rPr>
              <a:t>Եւ ընդ հոգւոյդ քում:</a:t>
            </a:r>
            <a:endParaRPr lang="en-US" sz="4000" dirty="0">
              <a:solidFill>
                <a:prstClr val="black"/>
              </a:solidFill>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9D28492-77DB-4DCB-B0AA-081CC4888DD2}"/>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10</a:t>
            </a:r>
          </a:p>
        </p:txBody>
      </p:sp>
    </p:spTree>
    <p:extLst>
      <p:ext uri="{BB962C8B-B14F-4D97-AF65-F5344CB8AC3E}">
        <p14:creationId xmlns:p14="http://schemas.microsoft.com/office/powerpoint/2010/main" val="1034025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Yérgyooghadzootyamp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lûvarook</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Avédaranis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ûsd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Madtéyosi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Margosi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Ghoogasoo</a:t>
            </a:r>
            <a:r>
              <a:rPr lang="en-US" sz="4000" dirty="0">
                <a:latin typeface="Times New Roman" panose="02020603050405020304" pitchFamily="18" charset="0"/>
                <a:ea typeface="Calibri" panose="020F0502020204030204" pitchFamily="34" charset="0"/>
              </a:rPr>
              <a:t> gam </a:t>
            </a:r>
            <a:r>
              <a:rPr lang="en-US" sz="4000" dirty="0" err="1">
                <a:latin typeface="Times New Roman" panose="02020603050405020304" pitchFamily="18" charset="0"/>
                <a:ea typeface="Calibri" panose="020F0502020204030204" pitchFamily="34" charset="0"/>
              </a:rPr>
              <a:t>Hovhannoo</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Listen in awe.</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To the holy Gospel of Jesus Christ according to (Matthew, Mark, Luke or John.)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Երկիւղածութեամբ լըւարուք: </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Սրբոյ Աւետարանիս Յիսուսի Քրիստոսի որ ըստ (Մատթէոսի, Մարկոսի, Ղուկասու կամ Յովհաննու):</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E6B3163-2274-BAE9-AEF4-D56769F05BF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10</a:t>
            </a:r>
          </a:p>
        </p:txBody>
      </p:sp>
    </p:spTree>
    <p:extLst>
      <p:ext uri="{BB962C8B-B14F-4D97-AF65-F5344CB8AC3E}">
        <p14:creationId xmlns:p14="http://schemas.microsoft.com/office/powerpoint/2010/main" val="41790569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Broskhoomé</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Glory be to you, O Lord, our God.</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Be attentive.</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God is speaking.</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Փառք քեզ, Տէր, Աստուած մեր:  </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Պռօսխումէ:  </a:t>
            </a:r>
          </a:p>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Ասէ Աստուած:</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1E10040-B39B-28F5-3668-38057606180A}"/>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10</a:t>
            </a:r>
          </a:p>
        </p:txBody>
      </p:sp>
    </p:spTree>
    <p:extLst>
      <p:ext uri="{BB962C8B-B14F-4D97-AF65-F5344CB8AC3E}">
        <p14:creationId xmlns:p14="http://schemas.microsoft.com/office/powerpoint/2010/main" val="33117689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a:t>
            </a:r>
            <a:r>
              <a:rPr lang="en-US" sz="4000" dirty="0" err="1">
                <a:latin typeface="Times New Roman" panose="02020603050405020304" pitchFamily="18" charset="0"/>
                <a:ea typeface="Calibri" panose="020F0502020204030204" pitchFamily="34" charset="0"/>
              </a:rPr>
              <a:t>Ûntérnoo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zAvédaranûn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ûsd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donatsootsi</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(The deacon reads the holy Gospel as prescribed in the </a:t>
            </a:r>
            <a:r>
              <a:rPr lang="en-US" sz="4000" dirty="0" err="1">
                <a:latin typeface="Times New Roman" panose="02020603050405020304" pitchFamily="18" charset="0"/>
                <a:ea typeface="Calibri" panose="020F0502020204030204" pitchFamily="34" charset="0"/>
              </a:rPr>
              <a:t>Directorium</a:t>
            </a:r>
            <a:r>
              <a:rPr lang="en-US" sz="4000" dirty="0">
                <a:latin typeface="Times New Roman" panose="02020603050405020304" pitchFamily="18" charset="0"/>
                <a:ea typeface="Calibri" panose="020F0502020204030204" pitchFamily="34" charset="0"/>
              </a:rPr>
              <a:t>.)</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(Ընթեռնու զԱւետարանն ըստ տօնացուցի):</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4EC996E-0103-18D1-88CE-AC57C675F96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10</a:t>
            </a:r>
          </a:p>
        </p:txBody>
      </p:sp>
    </p:spTree>
    <p:extLst>
      <p:ext uri="{BB962C8B-B14F-4D97-AF65-F5344CB8AC3E}">
        <p14:creationId xmlns:p14="http://schemas.microsoft.com/office/powerpoint/2010/main" val="9578251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707886"/>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707886"/>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Glory be to you, O Lord, our God.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707886"/>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Փառք քեզ, Տէր, Աստուած մեր:</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177BDE2-B79F-0A0A-558D-61E940003B41}"/>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10</a:t>
            </a:r>
          </a:p>
        </p:txBody>
      </p:sp>
    </p:spTree>
    <p:extLst>
      <p:ext uri="{BB962C8B-B14F-4D97-AF65-F5344CB8AC3E}">
        <p14:creationId xmlns:p14="http://schemas.microsoft.com/office/powerpoint/2010/main" val="3840575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pPr algn="ctr"/>
            <a:r>
              <a:rPr lang="en-US" sz="4000" b="1" dirty="0">
                <a:latin typeface="Times New Roman" panose="02020603050405020304" pitchFamily="18" charset="0"/>
                <a:ea typeface="Calibri" panose="020F0502020204030204" pitchFamily="34" charset="0"/>
              </a:rPr>
              <a:t>HANKANAG NIGYAGAN</a:t>
            </a:r>
          </a:p>
          <a:p>
            <a:r>
              <a:rPr lang="en-US" sz="4000" dirty="0" err="1">
                <a:latin typeface="Times New Roman" panose="02020603050405020304" pitchFamily="18" charset="0"/>
                <a:ea typeface="Calibri" panose="020F0502020204030204" pitchFamily="34" charset="0"/>
              </a:rPr>
              <a:t>Havadamk</a:t>
            </a:r>
            <a:r>
              <a:rPr lang="en-US" sz="4000" dirty="0">
                <a:latin typeface="Times New Roman" panose="02020603050405020304" pitchFamily="18" charset="0"/>
                <a:ea typeface="Calibri" panose="020F0502020204030204" pitchFamily="34" charset="0"/>
              </a:rPr>
              <a:t> i mi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Hayrn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hararichn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yérgni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yérgri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yérévélyats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anérévootits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pPr algn="ctr"/>
            <a:r>
              <a:rPr lang="en-US" sz="4000" b="1" dirty="0">
                <a:latin typeface="Times New Roman" panose="02020603050405020304" pitchFamily="18" charset="0"/>
                <a:ea typeface="Calibri" panose="020F0502020204030204" pitchFamily="34" charset="0"/>
              </a:rPr>
              <a:t>THE NICENE CREED</a:t>
            </a:r>
          </a:p>
          <a:p>
            <a:r>
              <a:rPr lang="en-US" sz="4000" dirty="0">
                <a:latin typeface="Times New Roman" panose="02020603050405020304" pitchFamily="18" charset="0"/>
                <a:ea typeface="Calibri" panose="020F0502020204030204" pitchFamily="34" charset="0"/>
              </a:rPr>
              <a:t>We believe in one God, the Father almighty, the Creator of heaven and earth, of things visible and invisible.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pPr algn="ctr"/>
            <a:r>
              <a:rPr lang="hy-AM" sz="4000" b="1" dirty="0">
                <a:latin typeface="Arm HelvU" pitchFamily="2" charset="0"/>
                <a:ea typeface="Calibri" panose="020F0502020204030204" pitchFamily="34" charset="0"/>
              </a:rPr>
              <a:t>ՀԱՆԳԱՆԱԿ ՆԻԿԻԱԿԱՆ</a:t>
            </a:r>
          </a:p>
          <a:p>
            <a:r>
              <a:rPr lang="hy-AM" sz="4000" dirty="0">
                <a:latin typeface="Arm HelvU" pitchFamily="2" charset="0"/>
                <a:ea typeface="Calibri" panose="020F0502020204030204" pitchFamily="34" charset="0"/>
              </a:rPr>
              <a:t>Հաւատամք ի մի Աստուած, ի Հայրն ամենակալ, յարարիչն երկնի եւ երկրի,</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երեւելեաց եւ աներեւութից:</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C82B722-2DCF-1F86-9064-A23E075774F1}"/>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11</a:t>
            </a:r>
          </a:p>
        </p:txBody>
      </p:sp>
    </p:spTree>
    <p:extLst>
      <p:ext uri="{BB962C8B-B14F-4D97-AF65-F5344CB8AC3E}">
        <p14:creationId xmlns:p14="http://schemas.microsoft.com/office/powerpoint/2010/main" val="34333596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mi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hOrtin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dzûnyaln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miyadzin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aysinkn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héyooténé</a:t>
            </a:r>
            <a:r>
              <a:rPr lang="en-US" sz="4000" dirty="0">
                <a:latin typeface="Times New Roman" panose="02020603050405020304" pitchFamily="18" charset="0"/>
                <a:ea typeface="Calibri" panose="020F0502020204030204" pitchFamily="34" charset="0"/>
              </a:rPr>
              <a:t> Hor.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looys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looso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jûshmarid</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jûshmardé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dzûnoont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araradz</a:t>
            </a:r>
            <a:r>
              <a:rPr lang="en-US" sz="40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latin typeface="Times New Roman" panose="02020603050405020304" pitchFamily="18" charset="0"/>
                <a:ea typeface="Calibri" panose="020F0502020204030204" pitchFamily="34" charset="0"/>
              </a:rPr>
              <a:t>And we believe in one Lord Jesus Christ, the Son of God, begotten of God the Father, only-begotten, that is of the substance of the Father. God from God, light from light, true God</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from true God, begotten and not made;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latin typeface="Arm HelvU" pitchFamily="2" charset="0"/>
                <a:ea typeface="Calibri" panose="020F0502020204030204" pitchFamily="34" charset="0"/>
              </a:rPr>
              <a:t>Եւ ի մի Տէր Յիսուս Քրիստոս, յՈրդին Աստուծոյ, ծընեալն յԱստուծոյ Հօրէ՝ միածին, այսինքն յէութենէ Հօր: Աստուած յԱստուծոյ, լոյս ի լուսոյ, Աստուած ճշմարիտ յԱստուծոյ ճշմարտէ, ծընունդ եւ ոչ արարած:</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DAF84B1-EBF4-B007-60D9-59C2AB829FB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11</a:t>
            </a:r>
          </a:p>
        </p:txBody>
      </p:sp>
    </p:spTree>
    <p:extLst>
      <p:ext uri="{BB962C8B-B14F-4D97-AF65-F5344CB8AC3E}">
        <p14:creationId xmlns:p14="http://schemas.microsoft.com/office/powerpoint/2010/main" val="5653428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err="1">
                <a:latin typeface="Times New Roman" panose="02020603050405020304" pitchFamily="18" charset="0"/>
                <a:ea typeface="Calibri" panose="020F0502020204030204" pitchFamily="34" charset="0"/>
              </a:rPr>
              <a:t>Nooyn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inkn</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pnooténé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inch </a:t>
            </a:r>
            <a:r>
              <a:rPr lang="en-US" sz="4000" dirty="0" err="1">
                <a:latin typeface="Times New Roman" panose="02020603050405020304" pitchFamily="18" charset="0"/>
                <a:ea typeface="Calibri" panose="020F0502020204030204" pitchFamily="34" charset="0"/>
              </a:rPr>
              <a:t>yéghév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hérginûs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véra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yérgri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yérévélik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anérévooytk</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haghakûs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martgan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ichyal</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hérgnits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marmnatsav</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latin typeface="Times New Roman" panose="02020603050405020304" pitchFamily="18" charset="0"/>
                <a:ea typeface="Calibri" panose="020F0502020204030204" pitchFamily="34" charset="0"/>
              </a:rPr>
              <a:t>himself of the same nature of the Father by whom all things came into being in heaven and on earth, visible and invisible.</a:t>
            </a:r>
            <a:endParaRPr lang="hy-AM" sz="4000" dirty="0">
              <a:latin typeface="Times New Roman" panose="02020603050405020304" pitchFamily="18" charset="0"/>
              <a:ea typeface="Calibri" panose="020F0502020204030204" pitchFamily="34" charset="0"/>
            </a:endParaRPr>
          </a:p>
          <a:p>
            <a:r>
              <a:rPr lang="en-US" sz="4000" dirty="0">
                <a:solidFill>
                  <a:prstClr val="black"/>
                </a:solidFill>
                <a:latin typeface="Times New Roman" panose="02020603050405020304" pitchFamily="18" charset="0"/>
                <a:ea typeface="Calibri" panose="020F0502020204030204" pitchFamily="34" charset="0"/>
              </a:rPr>
              <a:t>Who for us, mankind, and for our salvation came down from heaven, was incarnate,</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latin typeface="Arm HelvU" pitchFamily="2" charset="0"/>
                <a:ea typeface="Calibri" panose="020F0502020204030204" pitchFamily="34" charset="0"/>
              </a:rPr>
              <a:t>Նոյն ինքն ի բնութենէ Հօր, որով ամենայն ինչ եղեւ յերկինըս եւ ի վերայ երկրի, երեւելիք եւ աներեւոյթք:</a:t>
            </a:r>
          </a:p>
          <a:p>
            <a:r>
              <a:rPr lang="hy-AM" sz="4000" dirty="0">
                <a:latin typeface="Arm HelvU" pitchFamily="2" charset="0"/>
                <a:ea typeface="Calibri" panose="020F0502020204030204" pitchFamily="34" charset="0"/>
              </a:rPr>
              <a:t>Որ յաղագըս մեր մարդկան եւ վասըն մերոյ փըրկութեան իջեալ ի յերկնից, մարմնացաւ,</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91D050B-FFB6-1C89-E4CF-1D991A29F5F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11</a:t>
            </a:r>
          </a:p>
        </p:txBody>
      </p:sp>
    </p:spTree>
    <p:extLst>
      <p:ext uri="{BB962C8B-B14F-4D97-AF65-F5344CB8AC3E}">
        <p14:creationId xmlns:p14="http://schemas.microsoft.com/office/powerpoint/2010/main" val="8365662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err="1">
                <a:latin typeface="Times New Roman" panose="02020603050405020304" pitchFamily="18" charset="0"/>
                <a:ea typeface="Calibri" panose="020F0502020204030204" pitchFamily="34" charset="0"/>
              </a:rPr>
              <a:t>martatsav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dzûnav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gadarélabés</a:t>
            </a:r>
            <a:r>
              <a:rPr lang="en-US" sz="4000" dirty="0">
                <a:latin typeface="Times New Roman" panose="02020603050405020304" pitchFamily="18" charset="0"/>
                <a:ea typeface="Calibri" panose="020F0502020204030204" pitchFamily="34" charset="0"/>
              </a:rPr>
              <a:t> i Maryama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goosén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Hokvovûn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Sûrpov</a:t>
            </a:r>
            <a:r>
              <a:rPr lang="en-US" sz="4000" dirty="0">
                <a:latin typeface="Times New Roman" panose="02020603050405020304" pitchFamily="18" charset="0"/>
                <a:ea typeface="Calibri" panose="020F0502020204030204" pitchFamily="34" charset="0"/>
              </a:rPr>
              <a:t>.</a:t>
            </a:r>
          </a:p>
          <a:p>
            <a:pPr algn="l"/>
            <a:r>
              <a:rPr lang="en-US" sz="4000" b="0" u="none" strike="noStrike" baseline="0" dirty="0" err="1">
                <a:latin typeface="Times New Roman" panose="02020603050405020304" pitchFamily="18" charset="0"/>
                <a:cs typeface="Times New Roman" panose="02020603050405020304" pitchFamily="18" charset="0"/>
              </a:rPr>
              <a:t>Vorov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éyar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marmin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hoki</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mid,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zaménayn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vor</a:t>
            </a:r>
            <a:r>
              <a:rPr lang="en-US" sz="4000" b="0" u="none" strike="noStrike" baseline="0" dirty="0">
                <a:latin typeface="Times New Roman" panose="02020603050405020304" pitchFamily="18" charset="0"/>
                <a:cs typeface="Times New Roman" panose="02020603050405020304" pitchFamily="18" charset="0"/>
              </a:rPr>
              <a:t> inch é i mart, </a:t>
            </a:r>
            <a:r>
              <a:rPr lang="en-US" sz="4000" b="0" u="none" strike="noStrike" baseline="0" dirty="0" err="1">
                <a:latin typeface="Times New Roman" panose="02020603050405020304" pitchFamily="18" charset="0"/>
                <a:cs typeface="Times New Roman" panose="02020603050405020304" pitchFamily="18" charset="0"/>
              </a:rPr>
              <a:t>jûshmardabés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voch</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gardzyok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Charcharyal</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khachyal</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taghyal</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hérrort</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avoor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harootsyal</a:t>
            </a:r>
            <a:r>
              <a:rPr lang="en-US" sz="4000" b="0" u="none" strike="noStrike" baseline="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prstClr val="black"/>
                </a:solidFill>
                <a:latin typeface="Times New Roman" panose="02020603050405020304" pitchFamily="18" charset="0"/>
                <a:ea typeface="Calibri" panose="020F0502020204030204" pitchFamily="34" charset="0"/>
              </a:rPr>
              <a:t>became man, was born perfectly of the holy virgin Mary by the Holy Spirit.</a:t>
            </a:r>
          </a:p>
          <a:p>
            <a:pPr algn="l"/>
            <a:r>
              <a:rPr lang="en-US" sz="4000" b="0" i="0" u="none" strike="noStrike" baseline="0" dirty="0">
                <a:latin typeface="Times New Roman" panose="02020603050405020304" pitchFamily="18" charset="0"/>
                <a:cs typeface="Times New Roman" panose="02020603050405020304" pitchFamily="18" charset="0"/>
              </a:rPr>
              <a:t>By whom he took body, soul and mind and everything that is in man, truly and not in semblance. He suffered and was crucified and was buried, and on the third day he rose again;</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latin typeface="Arm HelvU" pitchFamily="2" charset="0"/>
                <a:ea typeface="Calibri" panose="020F0502020204030204" pitchFamily="34" charset="0"/>
              </a:rPr>
              <a:t>մարդացաւ, ծընաւ կատարելապէս ի Մարիամայ սըրբոյ կուսէն, Հոգւովըն Սըրբով:</a:t>
            </a:r>
          </a:p>
          <a:p>
            <a:r>
              <a:rPr lang="hy-AM" sz="4000" dirty="0">
                <a:latin typeface="Arm HelvU" pitchFamily="2" charset="0"/>
                <a:ea typeface="Calibri" panose="020F0502020204030204" pitchFamily="34" charset="0"/>
              </a:rPr>
              <a:t>Որով էառ մարմին, հոգի եւ միտ եւ զամենայն որ ինչ է ի մարդ, ճըշմարտապ- էս եւ ոչ կարծեօք: Չարչարեալ, խաչեալ, թաղեալ, յերրորդ աւուր յարուցեալ,</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1F9F2E5-7F33-EFCE-1583-6FA3155903B2}"/>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11</a:t>
            </a:r>
          </a:p>
        </p:txBody>
      </p:sp>
    </p:spTree>
    <p:extLst>
      <p:ext uri="{BB962C8B-B14F-4D97-AF65-F5344CB8AC3E}">
        <p14:creationId xmlns:p14="http://schemas.microsoft.com/office/powerpoint/2010/main" val="19719638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err="1">
                <a:latin typeface="Times New Roman" panose="02020603050405020304" pitchFamily="18" charset="0"/>
                <a:ea typeface="Calibri" panose="020F0502020204030204" pitchFamily="34" charset="0"/>
              </a:rPr>
              <a:t>yélyal</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hérginûs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novin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marmnovn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nûsdav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achmé</a:t>
            </a:r>
            <a:r>
              <a:rPr lang="en-US" sz="4000" dirty="0">
                <a:latin typeface="Times New Roman" panose="02020603050405020304" pitchFamily="18" charset="0"/>
                <a:ea typeface="Calibri" panose="020F0502020204030204" pitchFamily="34" charset="0"/>
              </a:rPr>
              <a:t> Hor. </a:t>
            </a:r>
            <a:r>
              <a:rPr lang="en-US" sz="4000" dirty="0" err="1">
                <a:latin typeface="Times New Roman" panose="02020603050405020304" pitchFamily="18" charset="0"/>
                <a:ea typeface="Calibri" panose="020F0502020204030204" pitchFamily="34" charset="0"/>
              </a:rPr>
              <a:t>Kalots</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novin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marmnovn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tadél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ûzgéntanis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ûzméryals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takavorootyanûn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voch</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vakhjan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latin typeface="Times New Roman" panose="02020603050405020304" pitchFamily="18" charset="0"/>
                <a:ea typeface="Calibri" panose="020F0502020204030204" pitchFamily="34" charset="0"/>
              </a:rPr>
              <a:t>and ascended into heaven with the same body and sat at the right hand of the Father. He is to come with the same body and with the glory of the Father</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to judge the living and the dead, whose kingdom has no end.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latin typeface="Arm HelvU" pitchFamily="2" charset="0"/>
                <a:ea typeface="Calibri" panose="020F0502020204030204" pitchFamily="34" charset="0"/>
              </a:rPr>
              <a:t>ելեալ ի յերկինըս նովին մարմնովն՝ նըստաւ ընդ աջմէ Հօր: Գալոց է նովին մարմնովն եւ փառօք Հօր, ի դատել ըզկենդանիս եւ ըզմեռեալս, որոյ թագաւորութեանըն ոչ գոյ վախճան:</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11B5C5A-ED6E-31C2-295A-126F47C57E57}"/>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11</a:t>
            </a:r>
          </a:p>
        </p:txBody>
      </p:sp>
    </p:spTree>
    <p:extLst>
      <p:ext uri="{BB962C8B-B14F-4D97-AF65-F5344CB8AC3E}">
        <p14:creationId xmlns:p14="http://schemas.microsoft.com/office/powerpoint/2010/main" val="12824648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err="1">
                <a:latin typeface="Times New Roman" panose="02020603050405020304" pitchFamily="18" charset="0"/>
                <a:ea typeface="Calibri" panose="020F0502020204030204" pitchFamily="34" charset="0"/>
              </a:rPr>
              <a:t>Havadamk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hanéghn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gadaryaln</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khosétsav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horénûs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markarés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havédarans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échn</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Hortanan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karozyats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harakyalsûn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pnagétsav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soorpsûn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latin typeface="Times New Roman" panose="02020603050405020304" pitchFamily="18" charset="0"/>
                <a:ea typeface="Calibri" panose="020F0502020204030204" pitchFamily="34" charset="0"/>
              </a:rPr>
              <a:t>We also believe in the Holy Spirit, the uncreated and the perfect,</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who spoke through the Law and the Prophets and the Gospels; who descended on the river Jordan, preached through the apostles and dwelled in the saints.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latin typeface="Arm HelvU" pitchFamily="2" charset="0"/>
                <a:ea typeface="Calibri" panose="020F0502020204030204" pitchFamily="34" charset="0"/>
              </a:rPr>
              <a:t>Հաւատամք եւ ի Սուրբ Հոգին, յանեղն եւ ի կատարեալն, որ խօսեցաւ յօրէնըս եւ ի մարգարէս եւ յաւետարանս: Որ էջն ի Յորդանան, քարոզեաց յառաքեալսըն եւ բնակեցաւ ի սուրբսըն:</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B83026D-A632-0B99-0AE9-C621DF38E880}"/>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11</a:t>
            </a:r>
          </a:p>
        </p:txBody>
      </p:sp>
    </p:spTree>
    <p:extLst>
      <p:ext uri="{BB962C8B-B14F-4D97-AF65-F5344CB8AC3E}">
        <p14:creationId xmlns:p14="http://schemas.microsoft.com/office/powerpoint/2010/main" val="19272681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err="1">
                <a:latin typeface="Times New Roman" panose="02020603050405020304" pitchFamily="18" charset="0"/>
                <a:ea typeface="Calibri" panose="020F0502020204030204" pitchFamily="34" charset="0"/>
              </a:rPr>
              <a:t>Havadamk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mi </a:t>
            </a:r>
            <a:r>
              <a:rPr lang="en-US" sz="4000" dirty="0" err="1">
                <a:latin typeface="Times New Roman" panose="02020603050405020304" pitchFamily="18" charset="0"/>
                <a:ea typeface="Calibri" panose="020F0502020204030204" pitchFamily="34" charset="0"/>
              </a:rPr>
              <a:t>miyayn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ûnthanragan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arakélagan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yégéghétsi</a:t>
            </a:r>
            <a:r>
              <a:rPr lang="en-US" sz="4000" dirty="0">
                <a:latin typeface="Times New Roman" panose="02020603050405020304" pitchFamily="18" charset="0"/>
                <a:ea typeface="Calibri" panose="020F0502020204030204" pitchFamily="34" charset="0"/>
              </a:rPr>
              <a:t>, i mi </a:t>
            </a:r>
            <a:r>
              <a:rPr lang="en-US" sz="4000" dirty="0" err="1">
                <a:latin typeface="Times New Roman" panose="02020603050405020304" pitchFamily="18" charset="0"/>
                <a:ea typeface="Calibri" panose="020F0502020204030204" pitchFamily="34" charset="0"/>
              </a:rPr>
              <a:t>mûgûrdootyoon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habashkharootyoon</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kavootyoon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to</a:t>
            </a:r>
            <a:r>
              <a:rPr lang="hy-AM" sz="4000" dirty="0">
                <a:latin typeface="Times New Roman" panose="02020603050405020304" pitchFamily="18" charset="0"/>
                <a:ea typeface="Calibri" panose="020F0502020204030204" pitchFamily="34" charset="0"/>
              </a:rPr>
              <a:t>-</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latin typeface="Times New Roman" panose="02020603050405020304" pitchFamily="18" charset="0"/>
                <a:ea typeface="Calibri" panose="020F0502020204030204" pitchFamily="34" charset="0"/>
              </a:rPr>
              <a:t>We also believe in only one, universal, and apostolic holy Church; in one baptism; in repentance and in the remission and forgiveness of sins;</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we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latin typeface="Arm HelvU" pitchFamily="2" charset="0"/>
                <a:ea typeface="Calibri" panose="020F0502020204030204" pitchFamily="34" charset="0"/>
              </a:rPr>
              <a:t>Հաւատամք եւ ի մի միայն, ընդհանրական եւ առաքելական սուրբ եկեղեցի, ի մի մըկըրտութիւն, յապաշխարութիւն, ի քաւութիւն եւ ի</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C1BDC18-1B96-D6B6-B135-37456A3FDAA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11</a:t>
            </a:r>
          </a:p>
        </p:txBody>
      </p:sp>
    </p:spTree>
    <p:extLst>
      <p:ext uri="{BB962C8B-B14F-4D97-AF65-F5344CB8AC3E}">
        <p14:creationId xmlns:p14="http://schemas.microsoft.com/office/powerpoint/2010/main" val="7305455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err="1">
                <a:latin typeface="Times New Roman" panose="02020603050405020304" pitchFamily="18" charset="0"/>
                <a:ea typeface="Calibri" panose="020F0502020204030204" pitchFamily="34" charset="0"/>
              </a:rPr>
              <a:t>toghootyoon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méghats</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i </a:t>
            </a:r>
            <a:r>
              <a:rPr lang="en-US" sz="4000" dirty="0" err="1">
                <a:latin typeface="Times New Roman" panose="02020603050405020304" pitchFamily="18" charset="0"/>
                <a:ea typeface="Calibri" panose="020F0502020204030204" pitchFamily="34" charset="0"/>
              </a:rPr>
              <a:t>harootyoon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mérélots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tadasdanûn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marmnots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harkayootyoonûn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gyansûn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havidénaganûs</a:t>
            </a:r>
            <a:r>
              <a:rPr lang="en-US" sz="40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latin typeface="Times New Roman" panose="02020603050405020304" pitchFamily="18" charset="0"/>
                <a:ea typeface="Calibri" panose="020F0502020204030204" pitchFamily="34" charset="0"/>
              </a:rPr>
              <a:t>we believe in the resurrection of the dead, in the everlasting judgment of souls and bodies, in the kingdom of heaven and in life eternal.</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latin typeface="Arm HelvU" pitchFamily="2" charset="0"/>
                <a:ea typeface="Calibri" panose="020F0502020204030204" pitchFamily="34" charset="0"/>
              </a:rPr>
              <a:t>Թողութիւն մեղաց: Ի յարութիւն մեռելոց, ի դատաստանըն յաւիտենից հոգւոց եւ մարմնոց, յարքայութիւնըն երկնից եւ ի կեանսըն յաւիտենականըս:</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8CC8C37-72F7-1BAB-D3BC-973862B8B7C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12</a:t>
            </a:r>
          </a:p>
        </p:txBody>
      </p:sp>
    </p:spTree>
    <p:extLst>
      <p:ext uri="{BB962C8B-B14F-4D97-AF65-F5344CB8AC3E}">
        <p14:creationId xmlns:p14="http://schemas.microsoft.com/office/powerpoint/2010/main" val="40241471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pPr algn="l"/>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u="none" strike="noStrike" baseline="0" dirty="0" err="1">
                <a:latin typeface="Times New Roman" panose="02020603050405020304" pitchFamily="18" charset="0"/>
                <a:cs typeface="Times New Roman" panose="02020603050405020304" pitchFamily="18" charset="0"/>
              </a:rPr>
              <a:t>Isg</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vork</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asénûn</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ér</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yérpémûn</a:t>
            </a:r>
            <a:r>
              <a:rPr lang="hy-AM"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horzham</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voch</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ér</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Vortin</a:t>
            </a:r>
            <a:r>
              <a:rPr lang="en-US" sz="4000" u="none" strike="noStrike" baseline="0" dirty="0">
                <a:latin typeface="Times New Roman" panose="02020603050405020304" pitchFamily="18" charset="0"/>
                <a:cs typeface="Times New Roman" panose="02020603050405020304" pitchFamily="18" charset="0"/>
              </a:rPr>
              <a:t>, gam </a:t>
            </a:r>
            <a:r>
              <a:rPr lang="en-US" sz="4000" u="none" strike="noStrike" baseline="0" dirty="0" err="1">
                <a:latin typeface="Times New Roman" panose="02020603050405020304" pitchFamily="18" charset="0"/>
                <a:cs typeface="Times New Roman" panose="02020603050405020304" pitchFamily="18" charset="0"/>
              </a:rPr>
              <a:t>ér</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yérpémûn</a:t>
            </a:r>
            <a:endParaRPr lang="en-US" sz="4000" u="none" strike="noStrike" baseline="0" dirty="0">
              <a:latin typeface="Times New Roman" panose="02020603050405020304" pitchFamily="18" charset="0"/>
              <a:cs typeface="Times New Roman" panose="02020603050405020304" pitchFamily="18" charset="0"/>
            </a:endParaRPr>
          </a:p>
          <a:p>
            <a:pPr algn="l"/>
            <a:r>
              <a:rPr lang="en-US" sz="4000" u="none" strike="noStrike" baseline="0" dirty="0" err="1">
                <a:latin typeface="Times New Roman" panose="02020603050405020304" pitchFamily="18" charset="0"/>
                <a:cs typeface="Times New Roman" panose="02020603050405020304" pitchFamily="18" charset="0"/>
              </a:rPr>
              <a:t>horzham</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voch</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ér</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Soorp</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Hokin</a:t>
            </a:r>
            <a:r>
              <a:rPr lang="en-US" sz="4000" u="none" strike="noStrike" baseline="0" dirty="0">
                <a:latin typeface="Times New Roman" panose="02020603050405020304" pitchFamily="18" charset="0"/>
                <a:cs typeface="Times New Roman" panose="02020603050405020304" pitchFamily="18" charset="0"/>
              </a:rPr>
              <a:t>,</a:t>
            </a:r>
            <a:r>
              <a:rPr lang="hy-AM"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a:latin typeface="Times New Roman" panose="02020603050405020304" pitchFamily="18" charset="0"/>
                <a:cs typeface="Times New Roman" panose="02020603050405020304" pitchFamily="18" charset="0"/>
              </a:rPr>
              <a:t>gam </a:t>
            </a:r>
            <a:r>
              <a:rPr lang="en-US" sz="4000" u="none" strike="noStrike" baseline="0" dirty="0" err="1">
                <a:latin typeface="Times New Roman" panose="02020603050405020304" pitchFamily="18" charset="0"/>
                <a:cs typeface="Times New Roman" panose="02020603050405020304" pitchFamily="18" charset="0"/>
              </a:rPr>
              <a:t>té</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hochéyits</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yéghén</a:t>
            </a:r>
            <a:r>
              <a:rPr lang="en-US" sz="4000" u="none" strike="noStrike" baseline="0" dirty="0">
                <a:latin typeface="Times New Roman" panose="02020603050405020304" pitchFamily="18" charset="0"/>
                <a:cs typeface="Times New Roman" panose="02020603050405020304" pitchFamily="18" charset="0"/>
              </a:rPr>
              <a:t> gam </a:t>
            </a:r>
            <a:r>
              <a:rPr lang="en-US" sz="4000" u="none" strike="noStrike" baseline="0" dirty="0" err="1">
                <a:latin typeface="Times New Roman" panose="02020603050405020304" pitchFamily="18" charset="0"/>
                <a:cs typeface="Times New Roman" panose="02020603050405020304" pitchFamily="18" charset="0"/>
              </a:rPr>
              <a:t>haylmé</a:t>
            </a:r>
            <a:r>
              <a:rPr lang="hy-AM"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éyooténé</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asén</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linél</a:t>
            </a:r>
            <a:r>
              <a:rPr lang="hy-AM" sz="4000" u="none" strike="noStrike" baseline="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ea typeface="Calibri" panose="020F0502020204030204" pitchFamily="34" charset="0"/>
              </a:rPr>
              <a:t>zOrtin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gam </a:t>
            </a:r>
            <a:r>
              <a:rPr lang="en-US" sz="4000" dirty="0" err="1">
                <a:latin typeface="Times New Roman" panose="02020603050405020304" pitchFamily="18" charset="0"/>
                <a:ea typeface="Calibri" panose="020F0502020204030204" pitchFamily="34" charset="0"/>
              </a:rPr>
              <a:t>ûzSoorp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popokhélik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éngam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aylaylélik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zaynbisisûn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nûzové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gatooghigé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arakélagan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yégéghétsi</a:t>
            </a:r>
            <a:r>
              <a:rPr lang="en-US" sz="4000" dirty="0">
                <a:latin typeface="Times New Roman" panose="02020603050405020304" pitchFamily="18" charset="0"/>
                <a:ea typeface="Calibri" panose="020F0502020204030204" pitchFamily="34" charset="0"/>
              </a:rPr>
              <a:t>.</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3170099"/>
          </a:xfrm>
          <a:prstGeom prst="rect">
            <a:avLst/>
          </a:prstGeom>
          <a:noFill/>
          <a:ln>
            <a:noFill/>
          </a:ln>
        </p:spPr>
        <p:txBody>
          <a:bodyPr wrap="square" rtlCol="0">
            <a:spAutoFit/>
          </a:bodyPr>
          <a:lstStyle/>
          <a:p>
            <a:pPr algn="l"/>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hy-AM" sz="4000" dirty="0">
                <a:solidFill>
                  <a:schemeClr val="accent1">
                    <a:lumMod val="75000"/>
                  </a:schemeClr>
                </a:solidFill>
                <a:latin typeface="Times New Roman" panose="02020603050405020304" pitchFamily="18" charset="0"/>
                <a:ea typeface="Calibri" panose="020F0502020204030204" pitchFamily="34" charset="0"/>
              </a:rPr>
              <a:t> </a:t>
            </a:r>
            <a:r>
              <a:rPr lang="en-US" sz="4000" b="0" i="0" u="none" strike="noStrike" baseline="0" dirty="0">
                <a:latin typeface="Times New Roman" panose="02020603050405020304" pitchFamily="18" charset="0"/>
                <a:cs typeface="Times New Roman" panose="02020603050405020304" pitchFamily="18" charset="0"/>
              </a:rPr>
              <a:t>The universal and apostolic</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holy Church anathematizes those who</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say that there was a time when the Son</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was not, or that there was a time when</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the Holy Spirit</a:t>
            </a:r>
            <a:r>
              <a:rPr lang="en-US" sz="4000" dirty="0">
                <a:solidFill>
                  <a:schemeClr val="accent1">
                    <a:lumMod val="75000"/>
                  </a:schemeClr>
                </a:solidFill>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was not, or that they came into being out of nothing, or who say that the Son of God or the Holy Spirit is of different substance, or that they are changeable or alterable.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pPr algn="l"/>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Իսկ որք ասենըն՝ էր երբեմըն յորժամ ոչ էր Որ դին, կամ էր երբեմըն յորժամ ոչ էր Սուրբ Հո գին, կամ թէ՝ յոչէից եղեն կամ յայլմէ էութենէ ասեն լինել զՈրդին Աստուծոյ եւ կամ ըզՍուրբ Հոգին, եւ թէ փոփոխելիք են կամ այ- լայլելիք, զայնպիսիսըն նըզովէ կաթուղիկէ եւ առաքելական սուրբ եկեղեցի:</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CF4CDA4-1607-9F3B-8B92-D18C94F7199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12</a:t>
            </a:r>
          </a:p>
        </p:txBody>
      </p:sp>
    </p:spTree>
    <p:extLst>
      <p:ext uri="{BB962C8B-B14F-4D97-AF65-F5344CB8AC3E}">
        <p14:creationId xmlns:p14="http://schemas.microsoft.com/office/powerpoint/2010/main" val="30791071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pPr algn="l"/>
            <a:r>
              <a:rPr lang="en-US" sz="4000" b="0" u="none" strike="noStrike" baseline="0" dirty="0">
                <a:solidFill>
                  <a:srgbClr val="FF0000"/>
                </a:solidFill>
                <a:latin typeface="Times New Roman" panose="02020603050405020304" pitchFamily="18" charset="0"/>
                <a:cs typeface="Times New Roman" panose="02020603050405020304" pitchFamily="18" charset="0"/>
              </a:rPr>
              <a:t>CLB. </a:t>
            </a:r>
            <a:r>
              <a:rPr lang="en-US" sz="4000" b="0" u="none" strike="noStrike" baseline="0" dirty="0" err="1">
                <a:latin typeface="Times New Roman" panose="02020603050405020304" pitchFamily="18" charset="0"/>
                <a:cs typeface="Times New Roman" panose="02020603050405020304" pitchFamily="18" charset="0"/>
              </a:rPr>
              <a:t>Isg</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paravoréstsook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vorharach</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kan</a:t>
            </a:r>
            <a:r>
              <a:rPr lang="en-US" sz="4000" b="0" u="none" strike="noStrike" baseline="0" dirty="0">
                <a:latin typeface="Times New Roman" panose="02020603050405020304" pitchFamily="18" charset="0"/>
                <a:cs typeface="Times New Roman" panose="02020603050405020304" pitchFamily="18" charset="0"/>
              </a:rPr>
              <a:t> z-</a:t>
            </a:r>
            <a:r>
              <a:rPr lang="en-US" sz="4000" b="0" u="none" strike="noStrike" baseline="0" dirty="0" err="1">
                <a:latin typeface="Times New Roman" panose="02020603050405020304" pitchFamily="18" charset="0"/>
                <a:cs typeface="Times New Roman" panose="02020603050405020304" pitchFamily="18" charset="0"/>
              </a:rPr>
              <a:t>havidyanûs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yérgirbakanélov</a:t>
            </a:r>
            <a:endParaRPr lang="en-US" sz="4000" b="0" u="none" strike="noStrike" baseline="0" dirty="0">
              <a:latin typeface="Times New Roman" panose="02020603050405020304" pitchFamily="18" charset="0"/>
              <a:cs typeface="Times New Roman" panose="02020603050405020304" pitchFamily="18" charset="0"/>
            </a:endParaRPr>
          </a:p>
          <a:p>
            <a:pPr algn="l"/>
            <a:r>
              <a:rPr lang="en-US" sz="4000" b="0" u="none" strike="noStrike" baseline="0" dirty="0" err="1">
                <a:latin typeface="Times New Roman" panose="02020603050405020304" pitchFamily="18" charset="0"/>
                <a:cs typeface="Times New Roman" panose="02020603050405020304" pitchFamily="18" charset="0"/>
              </a:rPr>
              <a:t>Sûrpo</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Yérrortootyanûn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miyo</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Asdvadzootyanûn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Hor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Vortvo</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hy-AM" sz="400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Hokvooyn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Sûrpo</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ayzhm</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mishd</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havidyanûs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havidénits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Amén</a:t>
            </a:r>
            <a:r>
              <a:rPr lang="en-US" sz="4000" b="0" u="none" strike="noStrike" baseline="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pPr algn="l"/>
            <a:r>
              <a:rPr lang="en-US" sz="4000" b="0" i="0" u="none" strike="noStrike" baseline="0" dirty="0">
                <a:solidFill>
                  <a:srgbClr val="FF0000"/>
                </a:solidFill>
                <a:latin typeface="Times New Roman" panose="02020603050405020304" pitchFamily="18" charset="0"/>
                <a:cs typeface="Times New Roman" panose="02020603050405020304" pitchFamily="18" charset="0"/>
              </a:rPr>
              <a:t>CLB. </a:t>
            </a:r>
            <a:r>
              <a:rPr lang="en-US" sz="4000" b="0" i="0" u="none" strike="noStrike" baseline="0" dirty="0">
                <a:latin typeface="Times New Roman" panose="02020603050405020304" pitchFamily="18" charset="0"/>
                <a:cs typeface="Times New Roman" panose="02020603050405020304" pitchFamily="18" charset="0"/>
              </a:rPr>
              <a:t>But we glorify him who existed</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before eternity, bowing down to the</a:t>
            </a:r>
          </a:p>
          <a:p>
            <a:pPr algn="l"/>
            <a:r>
              <a:rPr lang="en-US" sz="4000" b="0" i="0" u="none" strike="noStrike" baseline="0" dirty="0">
                <a:latin typeface="Times New Roman" panose="02020603050405020304" pitchFamily="18" charset="0"/>
                <a:cs typeface="Times New Roman" panose="02020603050405020304" pitchFamily="18" charset="0"/>
              </a:rPr>
              <a:t>Holy Trinity and the one Godhead, the</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Father and the Son and the Holy</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Spirit, now and always</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and forever</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and ever. Amen.</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pPr algn="l"/>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Իսկ մեք փառաւորեսցուք որ յառաջ քան զյաւիտեանս երկիրպագանելով Սրբոյ Երրորդութեանն եւ միոյ Աստուածութեանն՝ Հօր եւ Որդւոյ եւ Հոգւոյն Սրբոյ, այժմ եւ միշտ եւ յաւիտեանս յաւիտենից։ Ամէն:</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61FB2F4-0C46-54E0-94E1-A0D9CD6C4B0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12</a:t>
            </a:r>
          </a:p>
        </p:txBody>
      </p:sp>
    </p:spTree>
    <p:extLst>
      <p:ext uri="{BB962C8B-B14F-4D97-AF65-F5344CB8AC3E}">
        <p14:creationId xmlns:p14="http://schemas.microsoft.com/office/powerpoint/2010/main" val="6242474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pPr algn="l"/>
            <a:r>
              <a:rPr lang="en-US" sz="4000" b="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yévûs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khaghaghootyan</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ûzDér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aghachéstsook</a:t>
            </a:r>
            <a:r>
              <a:rPr lang="en-US" sz="4000" b="0" u="none" strike="noStrike" baseline="0" dirty="0">
                <a:latin typeface="Times New Roman" panose="02020603050405020304" pitchFamily="18" charset="0"/>
                <a:cs typeface="Times New Roman" panose="02020603050405020304" pitchFamily="18" charset="0"/>
              </a:rPr>
              <a:t>.</a:t>
            </a:r>
          </a:p>
          <a:p>
            <a:pPr algn="l"/>
            <a:r>
              <a:rPr lang="en-US" sz="4000" b="0" u="none" strike="noStrike" baseline="0" dirty="0">
                <a:solidFill>
                  <a:srgbClr val="00B050"/>
                </a:solidFill>
                <a:latin typeface="Times New Roman" panose="02020603050405020304" pitchFamily="18" charset="0"/>
                <a:cs typeface="Times New Roman" panose="02020603050405020304" pitchFamily="18" charset="0"/>
              </a:rPr>
              <a:t>CHR. </a:t>
            </a:r>
            <a:r>
              <a:rPr lang="en-US" sz="4000" b="0" u="none" strike="noStrike" baseline="0" dirty="0" err="1">
                <a:latin typeface="Times New Roman" panose="02020603050405020304" pitchFamily="18" charset="0"/>
                <a:cs typeface="Times New Roman" panose="02020603050405020304" pitchFamily="18" charset="0"/>
              </a:rPr>
              <a:t>Dér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voghormya</a:t>
            </a:r>
            <a:endParaRPr lang="en-US" sz="4000" b="0" u="none" strike="noStrike" baseline="0" dirty="0">
              <a:latin typeface="Times New Roman" panose="02020603050405020304" pitchFamily="18" charset="0"/>
              <a:cs typeface="Times New Roman" panose="02020603050405020304" pitchFamily="18"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havadov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khûntréstsook</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Dyarné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a:t>
            </a:r>
            <a:r>
              <a:rPr lang="en-US" sz="4000" dirty="0">
                <a:latin typeface="Times New Roman" panose="02020603050405020304" pitchFamily="18" charset="0"/>
                <a:ea typeface="Calibri" panose="020F0502020204030204" pitchFamily="34" charset="0"/>
              </a:rPr>
              <a:t>-zo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pûrgchén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mérmé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Krisdosé</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zhamoos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bashdaman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aghotits</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3170099"/>
          </a:xfrm>
          <a:prstGeom prst="rect">
            <a:avLst/>
          </a:prstGeom>
          <a:noFill/>
          <a:ln>
            <a:noFill/>
          </a:ln>
        </p:spPr>
        <p:txBody>
          <a:bodyPr wrap="square" rtlCol="0">
            <a:spAutoFit/>
          </a:bodyPr>
          <a:lstStyle/>
          <a:p>
            <a:pPr algn="l"/>
            <a:r>
              <a:rPr lang="en-US" sz="40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 </a:t>
            </a:r>
            <a:r>
              <a:rPr lang="en-US" sz="4000" b="0" i="0" u="none" strike="noStrike" baseline="0" dirty="0">
                <a:latin typeface="Times New Roman" panose="02020603050405020304" pitchFamily="18" charset="0"/>
                <a:cs typeface="Times New Roman" panose="02020603050405020304" pitchFamily="18" charset="0"/>
              </a:rPr>
              <a:t>And again for peace let us</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beseech the Lord.</a:t>
            </a:r>
          </a:p>
          <a:p>
            <a:pPr algn="l"/>
            <a:r>
              <a:rPr lang="en-US" sz="4000" b="0" i="0" u="none" strike="noStrike" baseline="0" dirty="0">
                <a:solidFill>
                  <a:srgbClr val="00B050"/>
                </a:solidFill>
                <a:latin typeface="Times New Roman" panose="02020603050405020304" pitchFamily="18" charset="0"/>
                <a:cs typeface="Times New Roman" panose="02020603050405020304" pitchFamily="18" charset="0"/>
              </a:rPr>
              <a:t>CHR. </a:t>
            </a:r>
            <a:r>
              <a:rPr lang="en-US" sz="4000" b="0" i="0" u="none" strike="noStrike" baseline="0" dirty="0">
                <a:latin typeface="Times New Roman" panose="02020603050405020304" pitchFamily="18" charset="0"/>
                <a:cs typeface="Times New Roman" panose="02020603050405020304" pitchFamily="18" charset="0"/>
              </a:rPr>
              <a:t>Lord, have mercy.</a:t>
            </a: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Let us again in faith beseech  and ask of our Lord God and Savior Jesus Christ at this hour of worship and prayer, that he may make them worthy of acceptance…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pPr algn="l"/>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Եւ եւըս խաղաղութեան ըզՏէր աղաչեսցուք:</a:t>
            </a:r>
          </a:p>
          <a:p>
            <a:pPr algn="l"/>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Տէր ողորմեա:</a:t>
            </a:r>
            <a:endParaRPr lang="en-US" sz="4000" dirty="0">
              <a:latin typeface="Arm HelvU" pitchFamily="2" charset="0"/>
              <a:ea typeface="Calibri" panose="020F0502020204030204" pitchFamily="34" charset="0"/>
            </a:endParaRPr>
          </a:p>
          <a:p>
            <a:pPr algn="l"/>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Եւ եւըս հաւատով աղաչեսցուք եւ խընդրեսցուք ի Տեառնէ Աստուծոյ եւ ի փըրկչէն մերմէ Յիսուսէ Քրիստոսէ ի ժամուս պաշտաման եւ աղօթից։…</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9686C1C-A52D-6591-1AAC-F7178A20A62F}"/>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12</a:t>
            </a:r>
          </a:p>
        </p:txBody>
      </p:sp>
    </p:spTree>
    <p:extLst>
      <p:ext uri="{BB962C8B-B14F-4D97-AF65-F5344CB8AC3E}">
        <p14:creationId xmlns:p14="http://schemas.microsoft.com/office/powerpoint/2010/main" val="38546923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Save us, O Lord. Grant, O Lord, grant, O Lord, grant, O Lord. Lord, have mercy. To you, O Lord, we commit ourselves. Lord, have mercy, Lord, have mercy,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Կեցո, Տէր։ Շնորհեա Տէր, շնորհեա Տէր, շնորհեա Տէր։ Տէր ողորմեա։ Քեզ Տեառնըդ յանձն եղիցուք։ Տէր ողորմեա, Տէր ողորմեա, Տէր ողորմեա: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F63F20C-978D-1FA8-E45C-BDDD85474C89}"/>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13</a:t>
            </a:r>
          </a:p>
        </p:txBody>
      </p:sp>
    </p:spTree>
    <p:extLst>
      <p:ext uri="{BB962C8B-B14F-4D97-AF65-F5344CB8AC3E}">
        <p14:creationId xmlns:p14="http://schemas.microsoft.com/office/powerpoint/2010/main" val="20709573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Vorbészi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arzhanavork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kohootyamp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paravorél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prstClr val="black"/>
                </a:solidFill>
                <a:latin typeface="Wingdings" panose="05000000000000000000" pitchFamily="2" charset="2"/>
                <a:ea typeface="Calibri" panose="020F0502020204030204" pitchFamily="34" charset="0"/>
              </a:rPr>
              <a:t>X</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Khaghaghootyoon</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aménétsoon</a:t>
            </a:r>
            <a:r>
              <a:rPr lang="en-US" sz="4000" dirty="0">
                <a:solidFill>
                  <a:prstClr val="black"/>
                </a:solidFill>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So that we may be worthy to give thanks and to glorify you with the Father and with the Holy Spirit, now and always and forever and ever. Amen.</a:t>
            </a:r>
            <a:endParaRPr lang="hy-AM" sz="4000" dirty="0">
              <a:latin typeface="Times New Roman" panose="02020603050405020304" pitchFamily="18" charset="0"/>
              <a:ea typeface="Calibri" panose="020F0502020204030204" pitchFamily="34" charset="0"/>
            </a:endParaRPr>
          </a:p>
          <a:p>
            <a:r>
              <a:rPr lang="en-US" sz="4000" dirty="0">
                <a:solidFill>
                  <a:prstClr val="black"/>
                </a:solidFill>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Peace be to all.</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cs typeface="Times New Roman" panose="02020603050405020304" pitchFamily="18" charset="0"/>
              </a:rPr>
              <a:t>ՔՀՆ.</a:t>
            </a:r>
            <a:r>
              <a:rPr lang="hy-AM" sz="4000" dirty="0">
                <a:latin typeface="Arm HelvU" pitchFamily="2" charset="0"/>
                <a:ea typeface="Calibri" panose="020F0502020204030204" pitchFamily="34" charset="0"/>
                <a:cs typeface="Times New Roman" panose="02020603050405020304" pitchFamily="18" charset="0"/>
              </a:rPr>
              <a:t>	Որպէսզի արժանաւորք եղիցուք գոհութեամբ փառաւորել զքեզ ընդ Հօր եւ Սուրբ Հոգւոյդ, այժմ եւ միշտ եւ յաւիտեանս յաւիտենից։ Ամէն: </a:t>
            </a:r>
            <a:endParaRPr lang="en-US" sz="4000" dirty="0">
              <a:latin typeface="Arm HelvU" pitchFamily="2" charset="0"/>
              <a:ea typeface="Calibri" panose="020F0502020204030204" pitchFamily="34" charset="0"/>
              <a:cs typeface="Times New Roman" panose="02020603050405020304" pitchFamily="18" charset="0"/>
            </a:endParaRPr>
          </a:p>
          <a:p>
            <a:r>
              <a:rPr lang="en-US" sz="4000" dirty="0">
                <a:solidFill>
                  <a:prstClr val="black"/>
                </a:solidFill>
                <a:latin typeface="Wingdings" panose="05000000000000000000" pitchFamily="2" charset="2"/>
                <a:ea typeface="Calibri" panose="020F0502020204030204" pitchFamily="34" charset="0"/>
              </a:rPr>
              <a:t>X </a:t>
            </a:r>
            <a:r>
              <a:rPr lang="hy-AM" sz="4000" dirty="0">
                <a:latin typeface="Arm HelvU" pitchFamily="2" charset="0"/>
                <a:ea typeface="Calibri" panose="020F0502020204030204" pitchFamily="34" charset="0"/>
                <a:cs typeface="Times New Roman" panose="02020603050405020304" pitchFamily="18" charset="0"/>
              </a:rPr>
              <a:t>Խաղաղութիւն ամենեցուն</a:t>
            </a:r>
            <a:endParaRPr lang="en-US" sz="4000" dirty="0">
              <a:latin typeface="Arm HelvU" pitchFamily="2" charset="0"/>
              <a:ea typeface="Calibri" panose="020F0502020204030204" pitchFamily="34" charset="0"/>
              <a:cs typeface="Times New Roman" panose="02020603050405020304" pitchFamily="18" charset="0"/>
            </a:endParaRPr>
          </a:p>
          <a:p>
            <a:endParaRPr lang="en-US" sz="4000" dirty="0">
              <a:latin typeface="Arm HelvU" pitchFamily="2" charset="0"/>
              <a:ea typeface="Calibri" panose="020F0502020204030204" pitchFamily="34" charset="0"/>
              <a:cs typeface="Times New Roman" panose="02020603050405020304" pitchFamily="18"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CB0B52C-599B-4D09-C131-F012229FA04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13</a:t>
            </a:r>
          </a:p>
        </p:txBody>
      </p:sp>
    </p:spTree>
    <p:extLst>
      <p:ext uri="{BB962C8B-B14F-4D97-AF65-F5344CB8AC3E}">
        <p14:creationId xmlns:p14="http://schemas.microsoft.com/office/powerpoint/2010/main" val="14682766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koom</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yérgirbakéstsook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And with your spirit.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Let us bow down to God.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To you we bow down, O Lord.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Եւ ընդ հոգւոյդ քում: </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Աստուծոյ երկիրպագեսցուք:  </a:t>
            </a:r>
          </a:p>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Առաջի քո, Տէր:</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9BB66FC-36D5-94DA-ACAD-56E5DFD7A55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13</a:t>
            </a:r>
          </a:p>
        </p:txBody>
      </p:sp>
    </p:spTree>
    <p:extLst>
      <p:ext uri="{BB962C8B-B14F-4D97-AF65-F5344CB8AC3E}">
        <p14:creationId xmlns:p14="http://schemas.microsoft.com/office/powerpoint/2010/main" val="32648462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Khaghaghootyamp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pûrgich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vér</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kan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midûs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ûzpans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amratso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anérgyoogh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charé</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Havasarya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jûshmarid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yérgûrbakoos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vork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jûshmardootyamp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yérgirbakanén</a:t>
            </a:r>
            <a:r>
              <a:rPr lang="en-US" sz="40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With your peace, O Christ our Savior, which is beyond all understanding and speech, strengthen us and keep us fearless of all evil.</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Number us among your true worshipers, who worship you in spirit and in truth.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Խաղաղութեամբ քով Քրիստոս փրկիչ մեր, որ ի վեր է քան զամենայն միտս եւ զբանս, ամրացո զմեզ եւ աներկիւղ պահեա յամենայն չարէ: Հաւասարեա զմեզ ընդ </a:t>
            </a:r>
            <a:r>
              <a:rPr lang="en-US" sz="4000" dirty="0">
                <a:latin typeface="Arm HelvU" pitchFamily="2" charset="0"/>
                <a:ea typeface="Calibri" panose="020F0502020204030204" pitchFamily="34" charset="0"/>
              </a:rPr>
              <a:t>q</a:t>
            </a:r>
            <a:r>
              <a:rPr lang="hy-AM" sz="4000" dirty="0">
                <a:latin typeface="Arm HelvU" pitchFamily="2" charset="0"/>
                <a:ea typeface="Calibri" panose="020F0502020204030204" pitchFamily="34" charset="0"/>
              </a:rPr>
              <a:t>շմարիտ երկրպագուս քո, որք հոգւով եւ ճշմարտութեամբ քեզ երկիրպագանեն: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4E94AA3-1F56-EDE4-C6AC-2D7E83AA056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13</a:t>
            </a:r>
          </a:p>
        </p:txBody>
      </p:sp>
    </p:spTree>
    <p:extLst>
      <p:ext uri="{BB962C8B-B14F-4D97-AF65-F5344CB8AC3E}">
        <p14:creationId xmlns:p14="http://schemas.microsoft.com/office/powerpoint/2010/main" val="6099434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Vasûn</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aménasoorp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Yérrortootyanût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vayélé</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ishkhanootyoon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 For to the all-holy Trinity is befitting glory, dominion, and honor, now and always and forever and ever. Blessed be our Lord Jesus Christ.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Վասն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զի ամենասուրբ Երրորդութեանդ վայել է փառք, իշխանութիւն եւ պատիւ, այժմ եւ միշտ եւ յաւիտեանս յաւիտենից: Օրհնեալ Տէր մեր Յիսուս Քրիստոս։ Ամէն:</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2ED12E5-07FE-55BA-6AD4-757BA61ADF2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13</a:t>
            </a:r>
          </a:p>
        </p:txBody>
      </p:sp>
    </p:spTree>
    <p:extLst>
      <p:ext uri="{BB962C8B-B14F-4D97-AF65-F5344CB8AC3E}">
        <p14:creationId xmlns:p14="http://schemas.microsoft.com/office/powerpoint/2010/main" val="42731237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Orhnya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a:t>
            </a:r>
            <a:endParaRPr lang="en-US" sz="4000" dirty="0">
              <a:solidFill>
                <a:srgbClr val="FF0000"/>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zaménésyant</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Bless, O lord.</a:t>
            </a:r>
            <a:endParaRPr lang="en-US" sz="4000" dirty="0">
              <a:solidFill>
                <a:srgbClr val="FF0000"/>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May the Lord God bless you all.</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Օրհնեա, տէր:  </a:t>
            </a:r>
          </a:p>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a:t>
            </a:r>
            <a:r>
              <a:rPr lang="en-US" sz="4000" dirty="0">
                <a:latin typeface="Wingdings" panose="05000000000000000000" pitchFamily="2" charset="2"/>
                <a:ea typeface="Calibri" panose="020F0502020204030204" pitchFamily="34" charset="0"/>
              </a:rPr>
              <a:t>X </a:t>
            </a:r>
            <a:r>
              <a:rPr lang="hy-AM" sz="4000" dirty="0">
                <a:latin typeface="Arm HelvU" pitchFamily="2" charset="0"/>
                <a:ea typeface="Calibri" panose="020F0502020204030204" pitchFamily="34" charset="0"/>
              </a:rPr>
              <a:t>Տէր Աստուած օրհնեսցէ զամենեսեանդ:</a:t>
            </a:r>
          </a:p>
          <a:p>
            <a:r>
              <a:rPr lang="hy-AM" sz="4000" dirty="0">
                <a:solidFill>
                  <a:schemeClr val="accent1">
                    <a:lumMod val="75000"/>
                  </a:schemeClr>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Ամէն:</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78BBEA4-AA38-AE9A-4E0F-D29F3E9D9432}"/>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13</a:t>
            </a:r>
          </a:p>
        </p:txBody>
      </p:sp>
    </p:spTree>
    <p:extLst>
      <p:ext uri="{BB962C8B-B14F-4D97-AF65-F5344CB8AC3E}">
        <p14:creationId xmlns:p14="http://schemas.microsoft.com/office/powerpoint/2010/main" val="36772605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HAVADATSELOTS BADARAK</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THE HOLY EUCHARIST</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ՀԱՒԱՏԱՑԵԼՈՑ ՊԱՏԱՐԱԳ</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4EC996E-0103-18D1-88CE-AC57C675F96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14</a:t>
            </a:r>
          </a:p>
        </p:txBody>
      </p:sp>
    </p:spTree>
    <p:extLst>
      <p:ext uri="{BB962C8B-B14F-4D97-AF65-F5344CB8AC3E}">
        <p14:creationId xmlns:p14="http://schemas.microsoft.com/office/powerpoint/2010/main" val="24531556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Mi </a:t>
            </a:r>
            <a:r>
              <a:rPr lang="en-US" sz="4000" dirty="0" err="1">
                <a:latin typeface="Times New Roman" panose="02020603050405020304" pitchFamily="18" charset="0"/>
                <a:ea typeface="Calibri" panose="020F0502020204030204" pitchFamily="34" charset="0"/>
              </a:rPr>
              <a:t>vok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hérakhayits</a:t>
            </a:r>
            <a:r>
              <a:rPr lang="en-US" sz="4000" dirty="0">
                <a:latin typeface="Times New Roman" panose="02020603050405020304" pitchFamily="18" charset="0"/>
                <a:ea typeface="Calibri" panose="020F0502020204030204" pitchFamily="34" charset="0"/>
              </a:rPr>
              <a:t>, mi </a:t>
            </a:r>
            <a:r>
              <a:rPr lang="en-US" sz="4000" dirty="0" err="1">
                <a:latin typeface="Times New Roman" panose="02020603050405020304" pitchFamily="18" charset="0"/>
                <a:ea typeface="Calibri" panose="020F0502020204030204" pitchFamily="34" charset="0"/>
              </a:rPr>
              <a:t>vok</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térahavadits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mi </a:t>
            </a:r>
            <a:r>
              <a:rPr lang="en-US" sz="4000" dirty="0" err="1">
                <a:latin typeface="Times New Roman" panose="02020603050405020304" pitchFamily="18" charset="0"/>
                <a:ea typeface="Calibri" panose="020F0502020204030204" pitchFamily="34" charset="0"/>
              </a:rPr>
              <a:t>vok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habashkharoghats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hanmakrits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mértséstsi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hasdvadzayin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khorhoorts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Let none of the catechumens, none with little faith, and none of the penitents or the unclean draw near to this divine mystery.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cs typeface="Times New Roman" panose="02020603050405020304" pitchFamily="18" charset="0"/>
              </a:rPr>
              <a:t>ՍՐԿ.</a:t>
            </a:r>
            <a:r>
              <a:rPr lang="en-US" sz="4000" dirty="0">
                <a:latin typeface="Arm HelvU" pitchFamily="2" charset="0"/>
                <a:ea typeface="Calibri" panose="020F0502020204030204" pitchFamily="34" charset="0"/>
                <a:cs typeface="Times New Roman" panose="02020603050405020304" pitchFamily="18" charset="0"/>
              </a:rPr>
              <a:t> </a:t>
            </a:r>
            <a:r>
              <a:rPr lang="hy-AM" sz="4000" dirty="0">
                <a:latin typeface="Arm HelvU" pitchFamily="2" charset="0"/>
                <a:ea typeface="Calibri" panose="020F0502020204030204" pitchFamily="34" charset="0"/>
                <a:cs typeface="Times New Roman" panose="02020603050405020304" pitchFamily="18" charset="0"/>
              </a:rPr>
              <a:t>Մի՝ ոք յերախայից, մի՝ ոք ի թերահաւատից եւ մի՝ ոք յապաշխարողաց եւ յանմաքրից մերձեսցի յաստուածային խորհուրդս:</a:t>
            </a:r>
            <a:endParaRPr lang="en-US" sz="4000" dirty="0">
              <a:latin typeface="Arm HelvU" pitchFamily="2" charset="0"/>
              <a:ea typeface="Calibri" panose="020F0502020204030204" pitchFamily="34" charset="0"/>
              <a:cs typeface="Times New Roman" panose="02020603050405020304" pitchFamily="18"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E6E90CA-8F9A-A152-5376-1E43EB3B6B1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14</a:t>
            </a:r>
          </a:p>
        </p:txBody>
      </p:sp>
    </p:spTree>
    <p:extLst>
      <p:ext uri="{BB962C8B-B14F-4D97-AF65-F5344CB8AC3E}">
        <p14:creationId xmlns:p14="http://schemas.microsoft.com/office/powerpoint/2010/main" val="30179377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pPr algn="l"/>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Marmin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déroonagan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pûrgchagan</a:t>
            </a:r>
            <a:r>
              <a:rPr lang="en-US" sz="4000" dirty="0">
                <a:latin typeface="Times New Roman" panose="02020603050405020304" pitchFamily="18" charset="0"/>
                <a:ea typeface="Calibri" panose="020F0502020204030204" pitchFamily="34" charset="0"/>
              </a:rPr>
              <a:t> ga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yérgnayin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zorootyoonkn</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err="1">
                <a:latin typeface="Times New Roman" panose="02020603050405020304" pitchFamily="18" charset="0"/>
                <a:ea typeface="Calibri" panose="020F0502020204030204" pitchFamily="34" charset="0"/>
                <a:cs typeface="Times New Roman" panose="02020603050405020304" pitchFamily="18" charset="0"/>
              </a:rPr>
              <a:t>hanérévooyts</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err="1">
                <a:latin typeface="Times New Roman" panose="02020603050405020304" pitchFamily="18" charset="0"/>
                <a:ea typeface="Calibri" panose="020F0502020204030204" pitchFamily="34" charset="0"/>
                <a:cs typeface="Times New Roman" panose="02020603050405020304" pitchFamily="18" charset="0"/>
              </a:rPr>
              <a:t>yérkén</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err="1">
                <a:latin typeface="Times New Roman" panose="02020603050405020304" pitchFamily="18" charset="0"/>
                <a:ea typeface="Calibri" panose="020F0502020204030204" pitchFamily="34" charset="0"/>
                <a:cs typeface="Times New Roman" panose="02020603050405020304" pitchFamily="18" charset="0"/>
              </a:rPr>
              <a:t>yév</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err="1">
                <a:latin typeface="Times New Roman" panose="02020603050405020304" pitchFamily="18" charset="0"/>
                <a:ea typeface="Calibri" panose="020F0502020204030204" pitchFamily="34" charset="0"/>
                <a:cs typeface="Times New Roman" panose="02020603050405020304" pitchFamily="18" charset="0"/>
              </a:rPr>
              <a:t>asén</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err="1">
                <a:latin typeface="Times New Roman" panose="02020603050405020304" pitchFamily="18" charset="0"/>
                <a:ea typeface="Calibri" panose="020F0502020204030204" pitchFamily="34" charset="0"/>
                <a:cs typeface="Times New Roman" panose="02020603050405020304" pitchFamily="18" charset="0"/>
              </a:rPr>
              <a:t>anhankisd</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err="1">
                <a:latin typeface="Times New Roman" panose="02020603050405020304" pitchFamily="18" charset="0"/>
                <a:ea typeface="Calibri" panose="020F0502020204030204" pitchFamily="34" charset="0"/>
                <a:cs typeface="Times New Roman" panose="02020603050405020304" pitchFamily="18" charset="0"/>
              </a:rPr>
              <a:t>parparov</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soorp</a:t>
            </a:r>
            <a:r>
              <a:rPr lang="en-US" sz="4000" b="0" u="none" strike="noStrike" baseline="0" dirty="0">
                <a:latin typeface="Times New Roman" panose="02020603050405020304" pitchFamily="18" charset="0"/>
                <a:cs typeface="Times New Roman" panose="02020603050405020304" pitchFamily="18" charset="0"/>
              </a:rPr>
              <a:t>,</a:t>
            </a:r>
          </a:p>
          <a:p>
            <a:pPr algn="l"/>
            <a:r>
              <a:rPr lang="en-US" sz="4000" b="0" u="none" strike="noStrike" baseline="0" dirty="0" err="1">
                <a:latin typeface="Times New Roman" panose="02020603050405020304" pitchFamily="18" charset="0"/>
                <a:cs typeface="Times New Roman" panose="02020603050405020304" pitchFamily="18" charset="0"/>
              </a:rPr>
              <a:t>soorp</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soorp</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Dér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zorootyants</a:t>
            </a:r>
            <a:r>
              <a:rPr lang="en-US" sz="4000" b="0" u="none" strike="noStrike" baseline="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The body of the Lord and the blood of the Savior are before us; the heavenl</a:t>
            </a:r>
            <a:r>
              <a:rPr lang="en-US" sz="4000" dirty="0">
                <a:latin typeface="Times New Roman" panose="02020603050405020304" pitchFamily="18" charset="0"/>
                <a:ea typeface="Calibri" panose="020F0502020204030204" pitchFamily="34" charset="0"/>
                <a:cs typeface="Times New Roman" panose="02020603050405020304" pitchFamily="18" charset="0"/>
              </a:rPr>
              <a:t>y hosts are invisibly singing and saying with unceasing voice:</a:t>
            </a:r>
            <a:r>
              <a:rPr lang="hy-AM"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Holy, holy, holy is the Lord of hosts.</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pPr algn="l"/>
            <a:r>
              <a:rPr lang="hy-AM" sz="4000" dirty="0">
                <a:solidFill>
                  <a:srgbClr val="00B050"/>
                </a:solidFill>
                <a:latin typeface="Arm HelvU" pitchFamily="2" charset="0"/>
                <a:ea typeface="Calibri" panose="020F0502020204030204" pitchFamily="34" charset="0"/>
                <a:cs typeface="Times New Roman" panose="02020603050405020304" pitchFamily="18" charset="0"/>
              </a:rPr>
              <a:t>ԴՊՐ.</a:t>
            </a:r>
            <a:r>
              <a:rPr lang="en-US" sz="4000" dirty="0">
                <a:latin typeface="Arm HelvU" pitchFamily="2" charset="0"/>
                <a:ea typeface="Calibri" panose="020F0502020204030204" pitchFamily="34" charset="0"/>
                <a:cs typeface="Times New Roman" panose="02020603050405020304" pitchFamily="18" charset="0"/>
              </a:rPr>
              <a:t> </a:t>
            </a:r>
            <a:r>
              <a:rPr lang="hy-AM" sz="4000" dirty="0">
                <a:latin typeface="Arm HelvU" pitchFamily="2" charset="0"/>
                <a:ea typeface="Calibri" panose="020F0502020204030204" pitchFamily="34" charset="0"/>
                <a:cs typeface="Times New Roman" panose="02020603050405020304" pitchFamily="18" charset="0"/>
              </a:rPr>
              <a:t>Մարմին տէրունական եւ արիւն փըրկչական կայ առաջի, երկնային զօրութիւնքն յաներեւոյթս երգեն եւ ասեն անհանգիստ բարբառով. սուրբ, սուրբ, սուրբ, Տէր զօրութեանց:</a:t>
            </a:r>
            <a:endParaRPr lang="en-US" sz="4000" dirty="0">
              <a:latin typeface="Arm HelvU" pitchFamily="2" charset="0"/>
              <a:ea typeface="Calibri" panose="020F0502020204030204" pitchFamily="34" charset="0"/>
              <a:cs typeface="Times New Roman" panose="02020603050405020304" pitchFamily="18"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DEA0407-13F7-F54B-C08E-5B16E05FF6D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14</a:t>
            </a:r>
          </a:p>
        </p:txBody>
      </p:sp>
    </p:spTree>
    <p:extLst>
      <p:ext uri="{BB962C8B-B14F-4D97-AF65-F5344CB8AC3E}">
        <p14:creationId xmlns:p14="http://schemas.microsoft.com/office/powerpoint/2010/main" val="2211567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Saghmos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asatsék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tûbirk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tsayniv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kaghtsrootyamp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zérks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hokévors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O you choristers, sing psalms to the Lord our God, sing spiritual songs in a sweet voice.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Սաղմոս ասացէք Տեառն Աստուծոյ մերում, դըպիրք, ձայնիւ քաղցրութեամբ զերգս հոգեւորս: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958BDFB-D60F-88CC-5451-69FC7AC4D076}"/>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14</a:t>
            </a:r>
          </a:p>
        </p:txBody>
      </p:sp>
    </p:spTree>
    <p:extLst>
      <p:ext uri="{BB962C8B-B14F-4D97-AF65-F5344CB8AC3E}">
        <p14:creationId xmlns:p14="http://schemas.microsoft.com/office/powerpoint/2010/main" val="26102485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 y="3376"/>
            <a:ext cx="16609672"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 ԿԱՄ ԾՈՒՆԿԻ ԳԱԼ/</a:t>
            </a:r>
            <a:r>
              <a:rPr lang="en-US" sz="4400" dirty="0">
                <a:solidFill>
                  <a:srgbClr val="548DD4"/>
                </a:solidFill>
                <a:latin typeface="Arm HelvU" pitchFamily="2" charset="0"/>
                <a:ea typeface="Calibri" panose="020F0502020204030204" pitchFamily="34" charset="0"/>
              </a:rPr>
              <a:t>STAND OR KNEEL</a:t>
            </a:r>
            <a:r>
              <a:rPr lang="hy-AM" sz="4400" dirty="0">
                <a:solidFill>
                  <a:srgbClr val="548DD4"/>
                </a:solidFill>
                <a:latin typeface="Arm HelvU" pitchFamily="2" charset="0"/>
                <a:ea typeface="Calibri" panose="020F0502020204030204" pitchFamily="34" charset="0"/>
              </a:rPr>
              <a:t> 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14</a:t>
            </a:r>
          </a:p>
        </p:txBody>
      </p:sp>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Hûréshdagayin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garkavorootyamp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lûtsér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zko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zégéghétsi</a:t>
            </a:r>
            <a:r>
              <a:rPr lang="en-US" sz="4000" dirty="0">
                <a:latin typeface="Times New Roman" panose="02020603050405020304" pitchFamily="18" charset="0"/>
                <a:ea typeface="Calibri" panose="020F0502020204030204" pitchFamily="34" charset="0"/>
              </a:rPr>
              <a:t>. </a:t>
            </a:r>
          </a:p>
          <a:p>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Hazark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hazarats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hréshdagabédk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pyoork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pyooroots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hréshdagk</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O God, you have filled your holy Church with angelic order.</a:t>
            </a:r>
          </a:p>
          <a:p>
            <a:r>
              <a:rPr lang="en-US" sz="4000" dirty="0">
                <a:latin typeface="Wingdings" panose="05000000000000000000" pitchFamily="2" charset="2"/>
                <a:ea typeface="Calibri" panose="020F0502020204030204" pitchFamily="34" charset="0"/>
                <a:cs typeface="Times New Roman" panose="02020603050405020304" pitchFamily="18" charset="0"/>
              </a:rPr>
              <a:t>X</a:t>
            </a:r>
            <a:r>
              <a:rPr lang="en-US" sz="4000" dirty="0">
                <a:latin typeface="Times New Roman" panose="02020603050405020304" pitchFamily="18" charset="0"/>
                <a:ea typeface="Calibri" panose="020F0502020204030204" pitchFamily="34" charset="0"/>
              </a:rPr>
              <a:t> Thousands of thousands of arch-angels stand before you, and myriads of myriads of</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Հըրեշտակային կարգաւորութեամբ լըցեր, Աստուած, զքո սուրբ զեկեղեցի: </a:t>
            </a:r>
          </a:p>
          <a:p>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Հազարք հազարաց հրեշտակապետք կան առաջի քո եւ բիւրք բիւրուց հրեշտակք</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7048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bashdén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martgané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hajétsar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ûntoonil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zorhnootyoon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tsayniv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khorhûrtaganav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zorootyants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angels worship you, O Lord, and yet you are pleased to accept praise from human beings who sing in a mystical voice: Holy, holy, holy is the Lord of hosts.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պաշտեն ըզքեզ, Տէր, եւ ի մարդկանէ հաճեցար ընդունիլ զօրհնութիւն, ձայնիւ խորհրդականաւ. սուրբ, սուրբ, սուրբ, Տէր զօրութեանց:</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D281794-51FC-9991-0970-0E109C9CC6DF}"/>
              </a:ext>
            </a:extLst>
          </p:cNvPr>
          <p:cNvSpPr txBox="1"/>
          <p:nvPr/>
        </p:nvSpPr>
        <p:spPr>
          <a:xfrm>
            <a:off x="-1" y="3376"/>
            <a:ext cx="16609672"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 ԿԱՄ ԾՈՒՆԿԻ ԳԱԼ/</a:t>
            </a:r>
            <a:r>
              <a:rPr lang="en-US" sz="4400" dirty="0">
                <a:solidFill>
                  <a:srgbClr val="548DD4"/>
                </a:solidFill>
                <a:latin typeface="Arm HelvU" pitchFamily="2" charset="0"/>
                <a:ea typeface="Calibri" panose="020F0502020204030204" pitchFamily="34" charset="0"/>
              </a:rPr>
              <a:t>STAND OR KNEEL</a:t>
            </a:r>
            <a:r>
              <a:rPr lang="hy-AM" sz="4400" dirty="0">
                <a:solidFill>
                  <a:srgbClr val="548DD4"/>
                </a:solidFill>
                <a:latin typeface="Arm HelvU" pitchFamily="2" charset="0"/>
                <a:ea typeface="Calibri" panose="020F0502020204030204" pitchFamily="34" charset="0"/>
              </a:rPr>
              <a:t> 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14</a:t>
            </a:r>
          </a:p>
        </p:txBody>
      </p:sp>
    </p:spTree>
    <p:extLst>
      <p:ext uri="{BB962C8B-B14F-4D97-AF65-F5344CB8AC3E}">
        <p14:creationId xmlns:p14="http://schemas.microsoft.com/office/powerpoint/2010/main" val="26006441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And again for peace let us beseech the Lord.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pPr lvl="0"/>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prstClr val="black"/>
                </a:solidFill>
                <a:latin typeface="Arm HelvU" pitchFamily="2" charset="0"/>
                <a:ea typeface="Calibri" panose="020F0502020204030204" pitchFamily="34" charset="0"/>
              </a:rPr>
              <a:t> </a:t>
            </a:r>
            <a:r>
              <a:rPr lang="hy-AM" sz="4000" dirty="0">
                <a:solidFill>
                  <a:prstClr val="black"/>
                </a:solidFill>
                <a:latin typeface="Arm HelvU" pitchFamily="2" charset="0"/>
                <a:ea typeface="Calibri" panose="020F0502020204030204" pitchFamily="34" charset="0"/>
              </a:rPr>
              <a:t>Եւ եւըս խաղաղութեան զՏէր աղաչեսցուք:  </a:t>
            </a:r>
          </a:p>
          <a:p>
            <a:pPr lvl="0"/>
            <a:r>
              <a:rPr lang="hy-AM" sz="4000" dirty="0">
                <a:solidFill>
                  <a:srgbClr val="00B050"/>
                </a:solidFill>
                <a:latin typeface="Arm HelvU" pitchFamily="2" charset="0"/>
                <a:ea typeface="Calibri" panose="020F0502020204030204" pitchFamily="34" charset="0"/>
              </a:rPr>
              <a:t>ԴՊՐ.</a:t>
            </a:r>
            <a:r>
              <a:rPr lang="hy-AM" sz="4000" dirty="0">
                <a:solidFill>
                  <a:prstClr val="black"/>
                </a:solidFill>
                <a:latin typeface="Arm HelvU" pitchFamily="2" charset="0"/>
                <a:ea typeface="Calibri" panose="020F0502020204030204" pitchFamily="34" charset="0"/>
              </a:rPr>
              <a:t> Տէր ողորմեա:</a:t>
            </a:r>
            <a:endParaRPr lang="en-US" sz="4000" dirty="0">
              <a:solidFill>
                <a:prstClr val="black"/>
              </a:solidFill>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EB1095F-43DB-ECF4-B72D-F652060EA911}"/>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15</a:t>
            </a:r>
          </a:p>
        </p:txBody>
      </p:sp>
    </p:spTree>
    <p:extLst>
      <p:ext uri="{BB962C8B-B14F-4D97-AF65-F5344CB8AC3E}">
        <p14:creationId xmlns:p14="http://schemas.microsoft.com/office/powerpoint/2010/main" val="33750738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havadov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haghots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séghanooys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ahiv</a:t>
            </a:r>
            <a:r>
              <a:rPr lang="en-US" sz="4000" dirty="0">
                <a:latin typeface="Times New Roman" panose="02020603050405020304" pitchFamily="18" charset="0"/>
                <a:ea typeface="Calibri" panose="020F0502020204030204" pitchFamily="34" charset="0"/>
              </a:rPr>
              <a:t>,… </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And again with faith and purity let us stand in awe and pray before this holy altar of God;…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Save, O Lord,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եւըս հաւատով եւ սըրբութեամբ կացցուք յաղօթս առաջի սըրբոյ սեղանոյս Աստուծոյ ահիւ։…</a:t>
            </a:r>
          </a:p>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Կեցո, Տէր, եւ ողորմեա: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3A593BF-66E0-15BE-2556-4D06410F5270}"/>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15</a:t>
            </a:r>
          </a:p>
        </p:txBody>
      </p:sp>
    </p:spTree>
    <p:extLst>
      <p:ext uri="{BB962C8B-B14F-4D97-AF65-F5344CB8AC3E}">
        <p14:creationId xmlns:p14="http://schemas.microsoft.com/office/powerpoint/2010/main" val="9155696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317009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Shnorhok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martasirootyamp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pûrgchin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Hisoosi</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a:t>
            </a:r>
            <a:r>
              <a:rPr lang="hy-AM" sz="4000" dirty="0">
                <a:latin typeface="Times New Roman" panose="02020603050405020304" pitchFamily="18" charset="0"/>
                <a:ea typeface="Calibri" panose="020F0502020204030204" pitchFamily="34" charset="0"/>
              </a:rPr>
              <a:t>-</a:t>
            </a:r>
            <a:r>
              <a:rPr lang="en-US" sz="4000" dirty="0" err="1">
                <a:latin typeface="Times New Roman" panose="02020603050405020304" pitchFamily="18" charset="0"/>
                <a:ea typeface="Calibri" panose="020F0502020204030204" pitchFamily="34" charset="0"/>
              </a:rPr>
              <a:t>sdosi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miyankamayn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vayélé</a:t>
            </a:r>
            <a:r>
              <a:rPr lang="en-US" sz="4000" dirty="0">
                <a:latin typeface="Times New Roman" panose="02020603050405020304" pitchFamily="18" charset="0"/>
                <a:ea typeface="Calibri" panose="020F0502020204030204" pitchFamily="34" charset="0"/>
              </a:rPr>
              <a:t> park,</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ishkhanootyoon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ayzhûm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a:t>
            </a:r>
          </a:p>
          <a:p>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317009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By the grace and loving kindness of our Lord and Savior Jesus Christ, with whom to you, O Father, and also to the Holy Spirit is befitting glory,</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inion, and honor, now and always and forever and ever. Amen. </a:t>
            </a:r>
          </a:p>
          <a:p>
            <a:r>
              <a:rPr lang="en-US" sz="4000" dirty="0">
                <a:latin typeface="Wingdings" panose="05000000000000000000" pitchFamily="2" charset="2"/>
                <a:ea typeface="Calibri" panose="020F0502020204030204" pitchFamily="34" charset="0"/>
              </a:rPr>
              <a:t>X</a:t>
            </a:r>
            <a:r>
              <a:rPr lang="hy-AM" sz="4000" dirty="0">
                <a:latin typeface="Wingdings" panose="05000000000000000000" pitchFamily="2" charset="2"/>
                <a:ea typeface="Calibri" panose="020F0502020204030204" pitchFamily="34" charset="0"/>
              </a:rPr>
              <a:t> </a:t>
            </a:r>
            <a:r>
              <a:rPr lang="en-US" sz="4000" dirty="0">
                <a:latin typeface="Times New Roman" panose="02020603050405020304" pitchFamily="18" charset="0"/>
                <a:ea typeface="Calibri" panose="020F0502020204030204" pitchFamily="34" charset="0"/>
              </a:rPr>
              <a:t>Peace be to all.</a:t>
            </a:r>
          </a:p>
          <a:p>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Շնորհօք եւ մարդասիրութեամբ Տեառն մերոյ եւ փրկչին Յիսուսի Քրիստոսի, ընդ որում քեզ՝ Հօր, միանգամայն եւ Հոգւոյդ Սրբոյ, վայել էփա-ռք, իշխանութիւն եւ պատիւ, այժմ եւ միշտ եւ յաւիտեանս յաւիտենից։ Ամէն: </a:t>
            </a:r>
          </a:p>
          <a:p>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Խաղաղութիւն ամենեցուն: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D3ACF7E-1C2B-6778-FF83-25C5F07ED4FD}"/>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16</a:t>
            </a:r>
          </a:p>
        </p:txBody>
      </p:sp>
    </p:spTree>
    <p:extLst>
      <p:ext uri="{BB962C8B-B14F-4D97-AF65-F5344CB8AC3E}">
        <p14:creationId xmlns:p14="http://schemas.microsoft.com/office/powerpoint/2010/main" val="27180602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koom</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yérgirbakéstsook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a:t>
            </a:r>
          </a:p>
          <a:p>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And with your spirit.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Let us bow down to God.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To you we bow down, O Lord.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ընդ հոգւոյդ քում:  </a:t>
            </a:r>
          </a:p>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Աստուծոյ երկիրպագեսցուք:</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Առաջի քո, Տէր:</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73989C4-1BAD-5B28-A3C8-EC9713C45F79}"/>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16</a:t>
            </a:r>
          </a:p>
        </p:txBody>
      </p:sp>
    </p:spTree>
    <p:extLst>
      <p:ext uri="{BB962C8B-B14F-4D97-AF65-F5344CB8AC3E}">
        <p14:creationId xmlns:p14="http://schemas.microsoft.com/office/powerpoint/2010/main" val="16837089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Vogchooyn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mimyants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hampooyr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garoghk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haghortil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khorhûrtooys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troons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yélék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aghotétsék</a:t>
            </a:r>
            <a:r>
              <a:rPr lang="en-US" sz="4000" dirty="0">
                <a:latin typeface="Times New Roman" panose="02020603050405020304" pitchFamily="18" charset="0"/>
                <a:ea typeface="Calibri" panose="020F0502020204030204" pitchFamily="34" charset="0"/>
              </a:rPr>
              <a:t>.</a:t>
            </a:r>
          </a:p>
          <a:p>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Greet one another with a holy kiss; and you who are not worthy to partake of this divine mystery go outside the doors and pray there.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Ողջոյն տուք միմեանց ի համբոյր սըրբութեան եւ որք ոչ էք կարողք հաղորդիլ աստուածային խորհրդոյս, առ դրունս ելէք եւ աղօթեցէք:</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2808126-A523-BB84-E66B-97BEF5164E03}"/>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16</a:t>
            </a:r>
          </a:p>
        </p:txBody>
      </p:sp>
    </p:spTree>
    <p:extLst>
      <p:ext uri="{BB962C8B-B14F-4D97-AF65-F5344CB8AC3E}">
        <p14:creationId xmlns:p14="http://schemas.microsoft.com/office/powerpoint/2010/main" val="2533292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méch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haydnétsav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Énn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pazmétsav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hûnchétsav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voghchooyni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hraman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dûvav</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Yégég</a:t>
            </a:r>
            <a:r>
              <a:rPr lang="hy-AM" sz="4000" dirty="0">
                <a:latin typeface="Times New Roman" panose="02020603050405020304" pitchFamily="18" charset="0"/>
                <a:ea typeface="Calibri" panose="020F0502020204030204" pitchFamily="34" charset="0"/>
              </a:rPr>
              <a:t>հ-</a:t>
            </a:r>
            <a:r>
              <a:rPr lang="en-US" sz="4000" dirty="0" err="1">
                <a:latin typeface="Times New Roman" panose="02020603050405020304" pitchFamily="18" charset="0"/>
                <a:ea typeface="Calibri" panose="020F0502020204030204" pitchFamily="34" charset="0"/>
              </a:rPr>
              <a:t>étsis</a:t>
            </a:r>
            <a:r>
              <a:rPr lang="en-US" sz="4000" dirty="0">
                <a:latin typeface="Times New Roman" panose="02020603050405020304" pitchFamily="18" charset="0"/>
                <a:ea typeface="Calibri" panose="020F0502020204030204" pitchFamily="34" charset="0"/>
              </a:rPr>
              <a:t> mi </a:t>
            </a:r>
            <a:r>
              <a:rPr lang="en-US" sz="4000" dirty="0" err="1">
                <a:latin typeface="Times New Roman" panose="02020603050405020304" pitchFamily="18" charset="0"/>
                <a:ea typeface="Calibri" panose="020F0502020204030204" pitchFamily="34" charset="0"/>
              </a:rPr>
              <a:t>antsn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hampooyrûs</a:t>
            </a:r>
            <a:r>
              <a:rPr lang="en-US" sz="4000" dirty="0">
                <a:latin typeface="Times New Roman" panose="02020603050405020304" pitchFamily="18" charset="0"/>
                <a:ea typeface="Calibri" panose="020F0502020204030204" pitchFamily="34" charset="0"/>
              </a:rPr>
              <a:t> hot </a:t>
            </a:r>
            <a:r>
              <a:rPr lang="en-US" sz="4000" dirty="0" err="1">
                <a:latin typeface="Times New Roman" panose="02020603050405020304" pitchFamily="18" charset="0"/>
                <a:ea typeface="Calibri" panose="020F0502020204030204" pitchFamily="34" charset="0"/>
              </a:rPr>
              <a:t>lûrman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dûvav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tûshnamootyoonûn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hératsav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hûnthanoorûs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sûprétsav</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Christ is revealed among us; he who is God is here seated. The voice of peace has resounded, the holy greeting is commanded. The Church has become one soul, the kiss is given for a full bond. Enmity has been removed, and love is spread among us Now,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Քրիստոս ի մէջ մեր յայտնեցաւ, որ Էնն Աստուած աստ բազմեցաւ. խաղաղութեան ձայն հընչեցաւ, սուրբ ողջունի հրաման տըւաւ: Եկեղեցիս մի անձն եղեւ, համբոյրըս յօդ լըրման տըւաւ: Թըշնամութիւնըն հեռացաւ, սէրն յընդհանուրըս սըփռեցաւ:</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40F0017-7AA4-6201-61B6-3B5C4D43A576}"/>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16</a:t>
            </a:r>
          </a:p>
        </p:txBody>
      </p:sp>
    </p:spTree>
    <p:extLst>
      <p:ext uri="{BB962C8B-B14F-4D97-AF65-F5344CB8AC3E}">
        <p14:creationId xmlns:p14="http://schemas.microsoft.com/office/powerpoint/2010/main" val="32856496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Art </a:t>
            </a:r>
            <a:r>
              <a:rPr lang="en-US" sz="4000" dirty="0" err="1">
                <a:latin typeface="Times New Roman" panose="02020603050405020304" pitchFamily="18" charset="0"/>
                <a:ea typeface="Calibri" panose="020F0502020204030204" pitchFamily="34" charset="0"/>
              </a:rPr>
              <a:t>bashdonyayk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ûztsayn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zorhnootyoon</a:t>
            </a:r>
            <a:r>
              <a:rPr lang="en-US" sz="4000" dirty="0">
                <a:latin typeface="Times New Roman" panose="02020603050405020304" pitchFamily="18" charset="0"/>
                <a:ea typeface="Calibri" panose="020F0502020204030204" pitchFamily="34" charset="0"/>
              </a:rPr>
              <a:t> i mi </a:t>
            </a:r>
            <a:r>
              <a:rPr lang="en-US" sz="4000" dirty="0" err="1">
                <a:latin typeface="Times New Roman" panose="02020603050405020304" pitchFamily="18" charset="0"/>
                <a:ea typeface="Calibri" panose="020F0502020204030204" pitchFamily="34" charset="0"/>
              </a:rPr>
              <a:t>péran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miyasnagan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asdvadzootyann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srovpékn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sûrpapan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O ministers, raise your voice, bless in one accord the united Godhead to whom the seraphim give praise.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Արդ պաշտօնեայք բարձեալ ըզձայն տուք զօրհնութիւն ի մի բերան, միասնական աստուածութեանն որում սրովբէքն են սըրբաբան: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BB93336-9E36-C840-0448-3D79548C84A4}"/>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16</a:t>
            </a:r>
          </a:p>
        </p:txBody>
      </p:sp>
    </p:spTree>
    <p:extLst>
      <p:ext uri="{BB962C8B-B14F-4D97-AF65-F5344CB8AC3E}">
        <p14:creationId xmlns:p14="http://schemas.microsoft.com/office/powerpoint/2010/main" val="1297225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Ahiv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yérgyooghiv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parvok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nayétsarook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ûzkooshootyamp</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a:solidFill>
                  <a:schemeClr val="accent1">
                    <a:lumMod val="75000"/>
                  </a:schemeClr>
                </a:solidFill>
                <a:latin typeface="Times New Roman" panose="02020603050405020304" pitchFamily="18" charset="0"/>
                <a:ea typeface="Calibri" panose="020F0502020204030204" pitchFamily="34" charset="0"/>
              </a:rPr>
              <a:t>DCN.</a:t>
            </a:r>
            <a:r>
              <a:rPr lang="en-US" sz="4000">
                <a:latin typeface="Times New Roman" panose="02020603050405020304" pitchFamily="18" charset="0"/>
                <a:ea typeface="Calibri" panose="020F0502020204030204" pitchFamily="34" charset="0"/>
              </a:rPr>
              <a:t>	Let us stand in fear, let us stand in awe, let us stand straight, and let us look attentively.</a:t>
            </a:r>
            <a:endParaRPr lang="en-US" sz="4000">
              <a:solidFill>
                <a:srgbClr val="00B050"/>
              </a:solidFill>
              <a:latin typeface="Times New Roman" panose="02020603050405020304" pitchFamily="18" charset="0"/>
              <a:ea typeface="Calibri" panose="020F0502020204030204" pitchFamily="34" charset="0"/>
            </a:endParaRPr>
          </a:p>
          <a:p>
            <a:r>
              <a:rPr lang="en-US" sz="4000">
                <a:solidFill>
                  <a:srgbClr val="00B050"/>
                </a:solidFill>
                <a:latin typeface="Times New Roman" panose="02020603050405020304" pitchFamily="18" charset="0"/>
                <a:ea typeface="Calibri" panose="020F0502020204030204" pitchFamily="34" charset="0"/>
              </a:rPr>
              <a:t>CHR.</a:t>
            </a:r>
            <a:r>
              <a:rPr lang="en-US" sz="4000">
                <a:latin typeface="Times New Roman" panose="02020603050405020304" pitchFamily="18" charset="0"/>
                <a:ea typeface="Calibri" panose="020F0502020204030204" pitchFamily="34" charset="0"/>
              </a:rPr>
              <a:t>	To you, O God.</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Ահիւ կացցուք, երկիւղիւ կացցուք, բարւոք կացցուք եւ նայեցարուք ըզգուշութեամբ:</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Առ քեզ, Աստուած:</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0B93A7A-AC9C-B512-2B3B-0EA969090231}"/>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17</a:t>
            </a:r>
          </a:p>
        </p:txBody>
      </p:sp>
    </p:spTree>
    <p:extLst>
      <p:ext uri="{BB962C8B-B14F-4D97-AF65-F5344CB8AC3E}">
        <p14:creationId xmlns:p14="http://schemas.microsoft.com/office/powerpoint/2010/main" val="29323646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anarad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orhnootyan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Christ, the immaculate Lamb of God, is offered here in sacrifice.</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For he is mercy and peace and sacrifice of praise.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Պատարագ Քրիստոս մատչի անարատ Գառն Աստուծոյ: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Ողորմութիւն եւ խաղաղութիւն եւ պատարագ օրհնութեան: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C8CEBFF-8291-A5C0-737F-4337A682E8CE}"/>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17</a:t>
            </a:r>
          </a:p>
        </p:txBody>
      </p:sp>
    </p:spTree>
    <p:extLst>
      <p:ext uri="{BB962C8B-B14F-4D97-AF65-F5344CB8AC3E}">
        <p14:creationId xmlns:p14="http://schemas.microsoft.com/office/powerpoint/2010/main" val="37142561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Shnorhk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sûrparar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zorootyoonûn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p>
          <a:p>
            <a:r>
              <a:rPr lang="en-US" sz="4000" dirty="0" err="1">
                <a:latin typeface="Wingdings" panose="05000000000000000000" pitchFamily="2" charset="2"/>
                <a:ea typeface="Calibri" panose="020F0502020204030204" pitchFamily="34" charset="0"/>
              </a:rPr>
              <a:t>X</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aménésyan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May the grace, the love, and the divine sanctifying power of the Father and of the Son and of the Holy Spirit,  </a:t>
            </a:r>
          </a:p>
          <a:p>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be with you all.</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Շնորհք, սէր եւ աստուածային սրբարար զօրութիւնն Հօր եւ Որդւոյ եւ Հոգւոյն Սրբոյ, </a:t>
            </a:r>
          </a:p>
          <a:p>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եղիցի ընդ ձեզ ընդ ամենեսեան: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8F3873F-E1D6-0963-8DE8-189946284249}"/>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17</a:t>
            </a:r>
          </a:p>
        </p:txBody>
      </p:sp>
    </p:spTree>
    <p:extLst>
      <p:ext uri="{BB962C8B-B14F-4D97-AF65-F5344CB8AC3E}">
        <p14:creationId xmlns:p14="http://schemas.microsoft.com/office/powerpoint/2010/main" val="17836210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koom</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Ûztûroons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ûztûroons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imasdootyamp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ûzkooshootyamp</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vér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ûndzayétsootsék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ûzmidûs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yérgyooghiv</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Oonimk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aménagal</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Amen. And with your spirit.</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Guard the doors! Guard the doors! With all wisdom and vigilance and with the awe of God lift up your minds to this divine mystery.</a:t>
            </a:r>
            <a:endParaRPr lang="hy-AM" sz="4000" dirty="0">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We lift them up to you, O Lord almighty.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Ամէն։ Եւ ընդ հոգւոյդ քում:</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Ըզդըրունս, ըզդըրունս, ամենայն իմաստութեամբ եւ ըզգուշութեամբ. ի վեր ընծայեցուցէք ըզմիտըս ձեր աստուածային երկիւղիւ:</a:t>
            </a:r>
          </a:p>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Ունիմք առ քեզ, Տէր ամենակալ: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7B8FBD3-036D-50E8-E944-474A9DC77E7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17</a:t>
            </a:r>
          </a:p>
        </p:txBody>
      </p:sp>
    </p:spTree>
    <p:extLst>
      <p:ext uri="{BB962C8B-B14F-4D97-AF65-F5344CB8AC3E}">
        <p14:creationId xmlns:p14="http://schemas.microsoft.com/office/powerpoint/2010/main" val="28130650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kohatsarook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ûzDyarné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polorov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sûrdiv</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Arzhan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irav</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pPr algn="l"/>
            <a:r>
              <a:rPr lang="en-US" sz="4000" b="0" u="none" strike="noStrike" baseline="0" dirty="0">
                <a:solidFill>
                  <a:srgbClr val="FF0000"/>
                </a:solidFill>
                <a:latin typeface="TimesNewRomanPSMT"/>
              </a:rPr>
              <a:t>CLB.</a:t>
            </a:r>
            <a:r>
              <a:rPr lang="en-US" sz="4000" b="0" u="none" strike="noStrike" baseline="0" dirty="0">
                <a:latin typeface="TimesNewRomanPSMT"/>
              </a:rPr>
              <a:t> </a:t>
            </a:r>
            <a:r>
              <a:rPr lang="en-US" sz="4000" b="0" u="none" strike="noStrike" baseline="0" dirty="0" err="1">
                <a:latin typeface="TimesNewRomanPS-ItalicMT"/>
              </a:rPr>
              <a:t>Yév</a:t>
            </a:r>
            <a:r>
              <a:rPr lang="en-US" sz="4000" b="0" u="none" strike="noStrike" baseline="0" dirty="0">
                <a:latin typeface="TimesNewRomanPS-ItalicMT"/>
              </a:rPr>
              <a:t> </a:t>
            </a:r>
            <a:r>
              <a:rPr lang="en-US" sz="4000" b="0" u="none" strike="noStrike" baseline="0" dirty="0" err="1">
                <a:latin typeface="TimesNewRomanPS-ItalicMT"/>
              </a:rPr>
              <a:t>ûnt</a:t>
            </a:r>
            <a:r>
              <a:rPr lang="en-US" sz="4000" b="0" u="none" strike="noStrike" baseline="0" dirty="0">
                <a:latin typeface="TimesNewRomanPS-ItalicMT"/>
              </a:rPr>
              <a:t> </a:t>
            </a:r>
            <a:r>
              <a:rPr lang="en-US" sz="4000" b="0" u="none" strike="noStrike" baseline="0" dirty="0" err="1">
                <a:latin typeface="TimesNewRomanPS-ItalicMT"/>
              </a:rPr>
              <a:t>sérovpésûn</a:t>
            </a:r>
            <a:r>
              <a:rPr lang="en-US" sz="4000" b="0" u="none" strike="noStrike" baseline="0" dirty="0">
                <a:latin typeface="TimesNewRomanPS-ItalicMT"/>
              </a:rPr>
              <a:t> </a:t>
            </a:r>
            <a:r>
              <a:rPr lang="en-US" sz="4000" b="0" u="none" strike="noStrike" baseline="0" dirty="0" err="1">
                <a:latin typeface="TimesNewRomanPS-ItalicMT"/>
              </a:rPr>
              <a:t>yév</a:t>
            </a:r>
            <a:r>
              <a:rPr lang="en-US" sz="4000" b="0" u="none" strike="noStrike" baseline="0" dirty="0">
                <a:latin typeface="TimesNewRomanPS-ItalicMT"/>
              </a:rPr>
              <a:t> </a:t>
            </a:r>
            <a:r>
              <a:rPr lang="en-US" sz="4000" b="0" u="none" strike="noStrike" baseline="0" dirty="0" err="1">
                <a:latin typeface="TimesNewRomanPS-ItalicMT"/>
              </a:rPr>
              <a:t>ûnt</a:t>
            </a:r>
            <a:r>
              <a:rPr lang="en-US" sz="4000" b="0" u="none" strike="noStrike" baseline="0" dirty="0">
                <a:latin typeface="TimesNewRomanPS-ItalicMT"/>
              </a:rPr>
              <a:t> </a:t>
            </a:r>
            <a:r>
              <a:rPr lang="en-US" sz="4000" b="0" u="none" strike="noStrike" baseline="0" dirty="0" err="1">
                <a:latin typeface="TimesNewRomanPS-ItalicMT"/>
              </a:rPr>
              <a:t>kérovpésûn</a:t>
            </a:r>
            <a:r>
              <a:rPr lang="en-US" sz="4000" b="0" u="none" strike="noStrike" baseline="0" dirty="0">
                <a:latin typeface="TimesNewRomanPS-ItalicMT"/>
              </a:rPr>
              <a:t>,</a:t>
            </a:r>
            <a:r>
              <a:rPr lang="hy-AM" sz="4000" b="0" u="none" strike="noStrike" baseline="0" dirty="0">
                <a:latin typeface="TimesNewRomanPS-ItalicMT"/>
              </a:rPr>
              <a:t> </a:t>
            </a:r>
            <a:r>
              <a:rPr lang="en-US" sz="4000" b="0" u="none" strike="noStrike" baseline="0" dirty="0" err="1">
                <a:latin typeface="TimesNewRomanPS-ItalicMT"/>
              </a:rPr>
              <a:t>miyatsayn</a:t>
            </a:r>
            <a:r>
              <a:rPr lang="en-US" sz="4000" b="0" u="none" strike="noStrike" baseline="0" dirty="0">
                <a:latin typeface="TimesNewRomanPS-ItalicMT"/>
              </a:rPr>
              <a:t> </a:t>
            </a:r>
            <a:r>
              <a:rPr lang="en-US" sz="4000" b="0" u="none" strike="noStrike" baseline="0" dirty="0" err="1">
                <a:latin typeface="TimesNewRomanPS-ItalicMT"/>
              </a:rPr>
              <a:t>sûrpasatsootyamp</a:t>
            </a:r>
            <a:r>
              <a:rPr lang="hy-AM" sz="4000" b="0" u="none" strike="noStrike" baseline="0" dirty="0">
                <a:latin typeface="TimesNewRomanPS-ItalicMT"/>
              </a:rPr>
              <a:t> </a:t>
            </a:r>
            <a:r>
              <a:rPr lang="en-US" sz="4000" b="0" u="none" strike="noStrike" baseline="0" dirty="0" err="1">
                <a:latin typeface="TimesNewRomanPS-ItalicMT"/>
              </a:rPr>
              <a:t>horinél</a:t>
            </a:r>
            <a:r>
              <a:rPr lang="en-US" sz="4000" b="0" u="none" strike="noStrike" baseline="0" dirty="0">
                <a:latin typeface="TimesNewRomanPS-ItalicMT"/>
              </a:rPr>
              <a:t> </a:t>
            </a:r>
            <a:r>
              <a:rPr lang="en-US" sz="4000" b="0" u="none" strike="noStrike" baseline="0" dirty="0" err="1">
                <a:latin typeface="TimesNewRomanPS-ItalicMT"/>
              </a:rPr>
              <a:t>nûvaks</a:t>
            </a:r>
            <a:r>
              <a:rPr lang="en-US" sz="4000" b="0" u="none" strike="noStrike" baseline="0" dirty="0">
                <a:latin typeface="TimesNewRomanPS-ItalicMT"/>
              </a:rPr>
              <a:t>, </a:t>
            </a:r>
            <a:r>
              <a:rPr lang="en-US" sz="4000" b="0" u="none" strike="noStrike" baseline="0" dirty="0" err="1">
                <a:latin typeface="TimesNewRomanPS-ItalicMT"/>
              </a:rPr>
              <a:t>yév</a:t>
            </a:r>
            <a:r>
              <a:rPr lang="en-US" sz="4000" b="0" u="none" strike="noStrike" baseline="0" dirty="0">
                <a:latin typeface="TimesNewRomanPS-ItalicMT"/>
              </a:rPr>
              <a:t> </a:t>
            </a:r>
            <a:r>
              <a:rPr lang="en-US" sz="4000" b="0" u="none" strike="noStrike" baseline="0" dirty="0" err="1">
                <a:latin typeface="TimesNewRomanPS-ItalicMT"/>
              </a:rPr>
              <a:t>hamartsagabés</a:t>
            </a:r>
            <a:r>
              <a:rPr lang="hy-AM" sz="4000" b="0" u="none" strike="noStrike" baseline="0" dirty="0">
                <a:latin typeface="TimesNewRomanPS-ItalicMT"/>
              </a:rPr>
              <a:t> </a:t>
            </a:r>
            <a:r>
              <a:rPr lang="en-US" sz="4000" b="0" u="none" strike="noStrike" baseline="0" dirty="0" err="1">
                <a:latin typeface="TimesNewRomanPS-ItalicMT"/>
              </a:rPr>
              <a:t>kochélov</a:t>
            </a:r>
            <a:r>
              <a:rPr lang="en-US" sz="4000" b="0" u="none" strike="noStrike" baseline="0" dirty="0">
                <a:latin typeface="TimesNewRomanPS-ItalicMT"/>
              </a:rPr>
              <a:t> </a:t>
            </a:r>
            <a:r>
              <a:rPr lang="en-US" sz="4000" b="0" u="none" strike="noStrike" baseline="0" dirty="0" err="1">
                <a:latin typeface="TimesNewRomanPS-ItalicMT"/>
              </a:rPr>
              <a:t>aghaghagél</a:t>
            </a:r>
            <a:r>
              <a:rPr lang="en-US" sz="4000" b="0" u="none" strike="noStrike" baseline="0" dirty="0">
                <a:latin typeface="TimesNewRomanPS-ItalicMT"/>
              </a:rPr>
              <a:t> </a:t>
            </a:r>
            <a:r>
              <a:rPr lang="en-US" sz="4000" b="0" u="none" strike="noStrike" baseline="0" dirty="0" err="1">
                <a:latin typeface="TimesNewRomanPS-ItalicMT"/>
              </a:rPr>
              <a:t>ûnt</a:t>
            </a:r>
            <a:r>
              <a:rPr lang="en-US" sz="4000" b="0" u="none" strike="noStrike" baseline="0" dirty="0">
                <a:latin typeface="TimesNewRomanPS-ItalicMT"/>
              </a:rPr>
              <a:t> </a:t>
            </a:r>
            <a:r>
              <a:rPr lang="en-US" sz="4000" b="0" u="none" strike="noStrike" baseline="0" dirty="0" err="1">
                <a:latin typeface="TimesNewRomanPS-ItalicMT"/>
              </a:rPr>
              <a:t>nosin</a:t>
            </a:r>
            <a:r>
              <a:rPr lang="en-US" sz="4000" b="0" u="none" strike="noStrike" baseline="0" dirty="0">
                <a:latin typeface="TimesNewRomanPS-ItalicMT"/>
              </a:rPr>
              <a:t> </a:t>
            </a:r>
            <a:r>
              <a:rPr lang="en-US" sz="4000" b="0" u="none" strike="noStrike" baseline="0" dirty="0" err="1">
                <a:latin typeface="TimesNewRomanPS-ItalicMT"/>
              </a:rPr>
              <a:t>yév</a:t>
            </a:r>
            <a:r>
              <a:rPr lang="en-US" sz="4000" b="0" u="none" strike="noStrike" baseline="0" dirty="0">
                <a:latin typeface="TimesNewRomanPS-ItalicMT"/>
              </a:rPr>
              <a:t> </a:t>
            </a:r>
            <a:r>
              <a:rPr lang="en-US" sz="4000" b="0" u="none" strike="noStrike" baseline="0" dirty="0" err="1">
                <a:latin typeface="TimesNewRomanPS-ItalicMT"/>
              </a:rPr>
              <a:t>asél</a:t>
            </a:r>
            <a:r>
              <a:rPr lang="en-US" sz="4000" b="0" u="none" strike="noStrike" baseline="0" dirty="0">
                <a:latin typeface="TimesNewRomanPS-ItalicMT"/>
              </a:rPr>
              <a:t>:</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And give thanks to the Lord wholeheartedly.</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It is proper and right to do so.</a:t>
            </a:r>
            <a:endParaRPr lang="hy-AM" sz="4000" dirty="0">
              <a:latin typeface="Times New Roman" panose="02020603050405020304" pitchFamily="18" charset="0"/>
              <a:ea typeface="Calibri" panose="020F0502020204030204" pitchFamily="34" charset="0"/>
            </a:endParaRPr>
          </a:p>
          <a:p>
            <a:pPr algn="l"/>
            <a:r>
              <a:rPr lang="en-US" sz="4000" b="0" i="0" u="none" strike="noStrike" baseline="0" dirty="0">
                <a:solidFill>
                  <a:srgbClr val="FF0000"/>
                </a:solidFill>
                <a:latin typeface="TimesNewRomanPSMT"/>
              </a:rPr>
              <a:t>CLB.</a:t>
            </a:r>
            <a:r>
              <a:rPr lang="en-US" sz="4000" b="0" i="0" u="none" strike="noStrike" baseline="0" dirty="0">
                <a:latin typeface="TimesNewRomanPSMT"/>
              </a:rPr>
              <a:t> And he granted us in one voice</a:t>
            </a:r>
            <a:r>
              <a:rPr lang="hy-AM" sz="4000" b="0" i="0" u="none" strike="noStrike" baseline="0" dirty="0">
                <a:latin typeface="TimesNewRomanPSMT"/>
              </a:rPr>
              <a:t> </a:t>
            </a:r>
            <a:r>
              <a:rPr lang="en-US" sz="4000" b="0" i="0" u="none" strike="noStrike" baseline="0" dirty="0">
                <a:latin typeface="TimesNewRomanPSMT"/>
              </a:rPr>
              <a:t>with the seraphim and cherubim to</a:t>
            </a:r>
            <a:r>
              <a:rPr lang="hy-AM" sz="4000" b="0" i="0" u="none" strike="noStrike" baseline="0" dirty="0">
                <a:latin typeface="TimesNewRomanPSMT"/>
              </a:rPr>
              <a:t> </a:t>
            </a:r>
            <a:r>
              <a:rPr lang="en-US" sz="4000" b="0" i="0" u="none" strike="noStrike" baseline="0" dirty="0">
                <a:latin typeface="TimesNewRomanPSMT"/>
              </a:rPr>
              <a:t>sing your holiness, to make melodies,</a:t>
            </a:r>
            <a:r>
              <a:rPr lang="hy-AM" sz="4000" b="0" i="0" u="none" strike="noStrike" baseline="0" dirty="0">
                <a:latin typeface="TimesNewRomanPSMT"/>
              </a:rPr>
              <a:t> </a:t>
            </a:r>
            <a:r>
              <a:rPr lang="en-US" sz="4000" b="0" i="0" u="none" strike="noStrike" baseline="0" dirty="0">
                <a:latin typeface="TimesNewRomanPSMT"/>
              </a:rPr>
              <a:t>boldly cry out, and say:</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գոհացարուք ըզՏեառնէ բոլորով սըրտիւ: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Արժան եւ իրաւ:</a:t>
            </a:r>
          </a:p>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ընդ սերովբէսն եւ ընդ քերովբէսն միաձայն սրբասացութեամբ յօրինել նուագս եւ համարձակապէս գոչելով աղաղակել ընդ նոսին եւ ասել.-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18BA745-B4E3-C12E-B141-6CD90B1FA3F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17</a:t>
            </a:r>
          </a:p>
        </p:txBody>
      </p:sp>
    </p:spTree>
    <p:extLst>
      <p:ext uri="{BB962C8B-B14F-4D97-AF65-F5344CB8AC3E}">
        <p14:creationId xmlns:p14="http://schemas.microsoft.com/office/powerpoint/2010/main" val="3812432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zorootyants</a:t>
            </a:r>
            <a:r>
              <a:rPr lang="en-US" sz="4000" dirty="0">
                <a:latin typeface="Times New Roman" panose="02020603050405020304" pitchFamily="18" charset="0"/>
                <a:ea typeface="Calibri" panose="020F0502020204030204" pitchFamily="34" charset="0"/>
              </a:rPr>
              <a:t>, li </a:t>
            </a:r>
            <a:r>
              <a:rPr lang="en-US" sz="4000" dirty="0" err="1">
                <a:latin typeface="Times New Roman" panose="02020603050405020304" pitchFamily="18" charset="0"/>
                <a:ea typeface="Calibri" panose="020F0502020204030204" pitchFamily="34" charset="0"/>
              </a:rPr>
              <a:t>yén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yérgink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parok</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Orhnootyoon</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partsoons</a:t>
            </a:r>
            <a:r>
              <a:rPr lang="en-US" sz="4000" dirty="0">
                <a:latin typeface="Times New Roman" panose="02020603050405020304" pitchFamily="18" charset="0"/>
                <a:ea typeface="Calibri" panose="020F0502020204030204" pitchFamily="34" charset="0"/>
              </a:rPr>
              <a:t>. </a:t>
            </a:r>
          </a:p>
          <a:p>
            <a:r>
              <a:rPr lang="en-US" sz="4000" dirty="0" err="1">
                <a:latin typeface="Times New Roman" panose="02020603050405020304" pitchFamily="18" charset="0"/>
                <a:ea typeface="Calibri" panose="020F0502020204030204" pitchFamily="34" charset="0"/>
              </a:rPr>
              <a:t>Orhnyalt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yégir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kalotst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anvamp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Ovsanna</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partsoons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Holy, holy, holy, is the Lord of hosts; heaven and earth are filled with your glory. Glory in the highest.</a:t>
            </a:r>
          </a:p>
          <a:p>
            <a:r>
              <a:rPr lang="en-US" sz="4000" dirty="0">
                <a:latin typeface="Times New Roman" panose="02020603050405020304" pitchFamily="18" charset="0"/>
                <a:ea typeface="Calibri" panose="020F0502020204030204" pitchFamily="34" charset="0"/>
              </a:rPr>
              <a:t>Blessed are you who came and who is to come in the name of the Lord. Hosanna in the highest.</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Սուրբ, սուրբ, սուրբ, Տէր զօրութեանց. լի են երկինք եւ երկիր </a:t>
            </a:r>
            <a:r>
              <a:rPr lang="en-US" sz="4000" dirty="0">
                <a:latin typeface="Arm HelvU" pitchFamily="2" charset="0"/>
                <a:ea typeface="Calibri" panose="020F0502020204030204" pitchFamily="34" charset="0"/>
              </a:rPr>
              <a:t>w</a:t>
            </a:r>
            <a:r>
              <a:rPr lang="hy-AM" sz="4000" dirty="0">
                <a:latin typeface="Arm HelvU" pitchFamily="2" charset="0"/>
                <a:ea typeface="Calibri" panose="020F0502020204030204" pitchFamily="34" charset="0"/>
              </a:rPr>
              <a:t>առօք քո. օրհնութիւն ի բարձունս, օրհնեալդ որ եկիր եւ գալոցդ ես անուամբ Տեառն: Ովսաննա ի բարձունս:</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895065A-1E45-FCEE-8689-429E15159F6C}"/>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18</a:t>
            </a:r>
          </a:p>
        </p:txBody>
      </p:sp>
    </p:spTree>
    <p:extLst>
      <p:ext uri="{BB962C8B-B14F-4D97-AF65-F5344CB8AC3E}">
        <p14:creationId xmlns:p14="http://schemas.microsoft.com/office/powerpoint/2010/main" val="42822480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gérék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ays</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marmin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pazmats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pashkhi</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kavootyoon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toghootyoon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méghats</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Take, eat, this is my body, which is distributed for you and for many, for the expiation and forgiveness of sins.</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Առէք, կերէք, այս է մարմին իմ, որ վասն ձեր եւ բազմաց բաշխի, ի քաւութիւն եւ ի թողութիւն մեղաց:  </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Ամէն:</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D8A661F-8703-4D57-ADC6-8651BCF590D0}"/>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18</a:t>
            </a:r>
          </a:p>
        </p:txBody>
      </p:sp>
    </p:spTree>
    <p:extLst>
      <p:ext uri="{BB962C8B-B14F-4D97-AF65-F5344CB8AC3E}">
        <p14:creationId xmlns:p14="http://schemas.microsoft.com/office/powerpoint/2010/main" val="32596295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Arpék</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sûmané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aménékyan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ays</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aryoon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ookhdi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haghakûs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pazmats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héghani</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kavootyoon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toghootyoon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méghats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Drink from this all of you; this is my blood of the new covenant, which is shed for you and for many, for the expiation and forgiveness of sins.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Արբէք ի սմանէ ամենեքեան, այս է արիւն իմ նորոյ ուխտի, որ յաղագս ձեր եւ բազմաց հեղանի, ի քաւութիւն եւ ի թողութիւն մեղաց:</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23F0190-E7B1-4ED1-328D-2B1F6CFE5CF2}"/>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18</a:t>
            </a:r>
          </a:p>
        </p:txBody>
      </p:sp>
    </p:spTree>
    <p:extLst>
      <p:ext uri="{BB962C8B-B14F-4D97-AF65-F5344CB8AC3E}">
        <p14:creationId xmlns:p14="http://schemas.microsoft.com/office/powerpoint/2010/main" val="17500700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pPr lvl="0"/>
            <a:r>
              <a:rPr lang="en-US" sz="4000" dirty="0">
                <a:solidFill>
                  <a:srgbClr val="00B050"/>
                </a:solidFill>
                <a:latin typeface="Times New Roman" panose="02020603050405020304" pitchFamily="18" charset="0"/>
                <a:ea typeface="Calibri" panose="020F0502020204030204" pitchFamily="34" charset="0"/>
              </a:rPr>
              <a:t>CHR.</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Amén</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Hayr</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yérgnavor</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vor</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zOrtit</a:t>
            </a:r>
            <a:r>
              <a:rPr lang="en-US" sz="4000" dirty="0">
                <a:solidFill>
                  <a:prstClr val="black"/>
                </a:solidFill>
                <a:latin typeface="Times New Roman" panose="02020603050405020304" pitchFamily="18" charset="0"/>
                <a:ea typeface="Calibri" panose="020F0502020204030204" pitchFamily="34" charset="0"/>
              </a:rPr>
              <a:t> ko </a:t>
            </a:r>
            <a:r>
              <a:rPr lang="en-US" sz="4000" dirty="0" err="1">
                <a:solidFill>
                  <a:prstClr val="black"/>
                </a:solidFill>
                <a:latin typeface="Times New Roman" panose="02020603050405020304" pitchFamily="18" charset="0"/>
                <a:ea typeface="Calibri" panose="020F0502020204030204" pitchFamily="34" charset="0"/>
              </a:rPr>
              <a:t>yédoor</a:t>
            </a:r>
            <a:r>
              <a:rPr lang="en-US" sz="4000" dirty="0">
                <a:solidFill>
                  <a:prstClr val="black"/>
                </a:solidFill>
                <a:latin typeface="Times New Roman" panose="02020603050405020304" pitchFamily="18" charset="0"/>
                <a:ea typeface="Calibri" panose="020F0502020204030204" pitchFamily="34" charset="0"/>
              </a:rPr>
              <a:t> i </a:t>
            </a:r>
            <a:r>
              <a:rPr lang="en-US" sz="4000" dirty="0" err="1">
                <a:solidFill>
                  <a:prstClr val="black"/>
                </a:solidFill>
                <a:latin typeface="Times New Roman" panose="02020603050405020304" pitchFamily="18" charset="0"/>
                <a:ea typeface="Calibri" panose="020F0502020204030204" pitchFamily="34" charset="0"/>
              </a:rPr>
              <a:t>mah</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vasûn</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mér</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bardaban</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bardyats</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mérots</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héghmamp</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aryan</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nora</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aghachémk</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ûzkéz</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voghormya</a:t>
            </a:r>
            <a:r>
              <a:rPr lang="en-US" sz="4000" dirty="0">
                <a:solidFill>
                  <a:prstClr val="black"/>
                </a:solidFill>
                <a:latin typeface="Times New Roman" panose="02020603050405020304" pitchFamily="18" charset="0"/>
                <a:ea typeface="Calibri" panose="020F0502020204030204" pitchFamily="34" charset="0"/>
              </a:rPr>
              <a:t> ko </a:t>
            </a:r>
            <a:r>
              <a:rPr lang="en-US" sz="4000" dirty="0" err="1">
                <a:solidFill>
                  <a:prstClr val="black"/>
                </a:solidFill>
                <a:latin typeface="Times New Roman" panose="02020603050405020304" pitchFamily="18" charset="0"/>
                <a:ea typeface="Calibri" panose="020F0502020204030204" pitchFamily="34" charset="0"/>
              </a:rPr>
              <a:t>panavor</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hodi</a:t>
            </a:r>
            <a:r>
              <a:rPr lang="en-US" sz="4000" dirty="0">
                <a:solidFill>
                  <a:prstClr val="black"/>
                </a:solidFill>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pPr lvl="0"/>
            <a:r>
              <a:rPr lang="en-US" sz="4000" dirty="0">
                <a:solidFill>
                  <a:srgbClr val="00B050"/>
                </a:solidFill>
                <a:latin typeface="Times New Roman" panose="02020603050405020304" pitchFamily="18" charset="0"/>
                <a:ea typeface="Calibri" panose="020F0502020204030204" pitchFamily="34" charset="0"/>
              </a:rPr>
              <a:t>CHR.</a:t>
            </a:r>
            <a:r>
              <a:rPr lang="en-US" sz="4000" dirty="0">
                <a:solidFill>
                  <a:prstClr val="black"/>
                </a:solidFill>
                <a:latin typeface="Times New Roman" panose="02020603050405020304" pitchFamily="18" charset="0"/>
                <a:ea typeface="Calibri" panose="020F0502020204030204" pitchFamily="34" charset="0"/>
              </a:rPr>
              <a:t>	Amen. Heavenly Father, who gave your Son unto death for us as debtor of our debts, we beseech you, through the shedding of his blood, have mercy upon your rational flock.</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pPr lvl="0"/>
            <a:r>
              <a:rPr lang="hy-AM" sz="4000" dirty="0">
                <a:solidFill>
                  <a:srgbClr val="00B050"/>
                </a:solidFill>
                <a:latin typeface="Arm HelvU" pitchFamily="2" charset="0"/>
                <a:ea typeface="Calibri" panose="020F0502020204030204" pitchFamily="34" charset="0"/>
              </a:rPr>
              <a:t>ԴՊՐ.</a:t>
            </a:r>
            <a:r>
              <a:rPr lang="hy-AM" sz="4000" dirty="0">
                <a:solidFill>
                  <a:prstClr val="black"/>
                </a:solidFill>
                <a:latin typeface="Arm HelvU" pitchFamily="2" charset="0"/>
                <a:ea typeface="Calibri" panose="020F0502020204030204" pitchFamily="34" charset="0"/>
              </a:rPr>
              <a:t> Ամէն: Հայր երկնաւոր, որ զՈրդիդ քո ետուր ի մահ վասըն մեր, պարտապան պարտեաց մերոց. հեղմամբ արեան նորա աղաչեմք ըզքեզ, ողորմեա քո բանաւոր հօտի: </a:t>
            </a:r>
            <a:endParaRPr lang="en-US" sz="4000" dirty="0">
              <a:solidFill>
                <a:prstClr val="black"/>
              </a:solidFill>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231341C-C60C-AE71-699C-8808CCAC7A64}"/>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18</a:t>
            </a:r>
          </a:p>
        </p:txBody>
      </p:sp>
    </p:spTree>
    <p:extLst>
      <p:ext uri="{BB962C8B-B14F-4D97-AF65-F5344CB8AC3E}">
        <p14:creationId xmlns:p14="http://schemas.microsoft.com/office/powerpoint/2010/main" val="17505194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ûzkooys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koyots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madootsanémk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ûsd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haghaks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Haménayni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kovémk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kohanamk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Asdûvadz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And we offer to you, your own of your own on behalf of all and for all.</a:t>
            </a:r>
            <a:endParaRPr lang="hy-AM" sz="4000" dirty="0">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In all things blessed are you, O Lord. We bless you, we praise you, we give thanks to you, we beseech you, O Lord, our God.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զքոյս ի քոյոց քեզ մատուցանեմք ըստ ամենայնի եւ յաղագս ամենեցուն:  </a:t>
            </a:r>
          </a:p>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Յամենայնի օրհնեալ ես, Տէր, օրհնեմք ըզքեզ, գովեմք ըզքեզ, գոհանամք ըզքէն, աղաչեմք ըզքեզ, Տէր Աստըւած մեր:</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9251428-578E-303B-7A8E-AD782D39C1A6}"/>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18</a:t>
            </a:r>
          </a:p>
        </p:txBody>
      </p:sp>
    </p:spTree>
    <p:extLst>
      <p:ext uri="{BB962C8B-B14F-4D97-AF65-F5344CB8AC3E}">
        <p14:creationId xmlns:p14="http://schemas.microsoft.com/office/powerpoint/2010/main" val="13051421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Orhnya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a:t>
            </a:r>
          </a:p>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Wingdings" panose="05000000000000000000" pitchFamily="2" charset="2"/>
                <a:ea typeface="Calibri" panose="020F0502020204030204" pitchFamily="34" charset="0"/>
              </a:rPr>
              <a:t>X</a:t>
            </a:r>
            <a:r>
              <a:rPr lang="en-US" sz="4000" dirty="0" err="1">
                <a:latin typeface="Times New Roman" panose="02020603050405020304" pitchFamily="18" charset="0"/>
                <a:ea typeface="Calibri" panose="020F0502020204030204" pitchFamily="34" charset="0"/>
              </a:rPr>
              <a:t>Khaghaghootyoon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koom</a:t>
            </a:r>
            <a:r>
              <a:rPr lang="en-US" sz="4000" dirty="0">
                <a:latin typeface="Times New Roman" panose="02020603050405020304" pitchFamily="18" charset="0"/>
                <a:ea typeface="Calibri" panose="020F0502020204030204" pitchFamily="34" charset="0"/>
              </a:rPr>
              <a:t>.</a:t>
            </a: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yérgirbakéstsook</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Bless, O lord.</a:t>
            </a: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Wingdings" panose="05000000000000000000" pitchFamily="2" charset="2"/>
                <a:ea typeface="Calibri" panose="020F0502020204030204" pitchFamily="34" charset="0"/>
              </a:rPr>
              <a:t>X</a:t>
            </a:r>
            <a:r>
              <a:rPr lang="en-US" sz="4000" dirty="0" err="1">
                <a:latin typeface="Times New Roman" panose="02020603050405020304" pitchFamily="18" charset="0"/>
                <a:ea typeface="Calibri" panose="020F0502020204030204" pitchFamily="34" charset="0"/>
              </a:rPr>
              <a:t>Peace</a:t>
            </a:r>
            <a:r>
              <a:rPr lang="en-US" sz="4000" dirty="0">
                <a:latin typeface="Times New Roman" panose="02020603050405020304" pitchFamily="18" charset="0"/>
                <a:ea typeface="Calibri" panose="020F0502020204030204" pitchFamily="34" charset="0"/>
              </a:rPr>
              <a:t> be to all.</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And with your spirit.</a:t>
            </a: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Let us bow down to God.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 տէր:  </a:t>
            </a:r>
          </a:p>
          <a:p>
            <a:r>
              <a:rPr lang="hy-AM" sz="4000" dirty="0">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Խաղաղութիւն ամենեցուն:</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ընդ հոգւոյդ քում:  </a:t>
            </a:r>
          </a:p>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Աստուծոյ երկիրպագեսցուք: </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6129BC3-4CDB-C168-3D29-7C093FE9CD62}"/>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18</a:t>
            </a:r>
          </a:p>
        </p:txBody>
      </p:sp>
    </p:spTree>
    <p:extLst>
      <p:ext uri="{BB962C8B-B14F-4D97-AF65-F5344CB8AC3E}">
        <p14:creationId xmlns:p14="http://schemas.microsoft.com/office/powerpoint/2010/main" val="31324372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hashdootyoon</a:t>
            </a:r>
            <a:r>
              <a:rPr lang="en-US" sz="4000" dirty="0">
                <a:latin typeface="Times New Roman" panose="02020603050405020304" pitchFamily="18" charset="0"/>
                <a:ea typeface="Calibri" panose="020F0502020204030204" pitchFamily="34" charset="0"/>
              </a:rPr>
              <a:t>, hats </a:t>
            </a:r>
            <a:r>
              <a:rPr lang="en-US" sz="4000" dirty="0" err="1">
                <a:latin typeface="Times New Roman" panose="02020603050405020304" pitchFamily="18" charset="0"/>
                <a:ea typeface="Calibri" panose="020F0502020204030204" pitchFamily="34" charset="0"/>
              </a:rPr>
              <a:t>génats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pashkhis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héghmamp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aryan</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hodi</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To you we bow down, O Lord. Son of God, who was sacrificed for reconciliation with the Father, bread of life distributed among us; we beseech you, through the shedding of your holy blood, have mercy upon the flock redeemed by your blood.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Առաջի քո, Տէր: Որդի Աստուծոյ, որ պատարագեալ Հօր ի հաշտութիւն հաց կենաց բաշխիս ի մեզ. հեղմամբ արեան քո սուրբ, աղաչեմք ըզքեզ, ողորմեա արեամբ քով փըրկեալ հօտի:</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DD45AC4-3924-768D-341A-51A11C10D32B}"/>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19</a:t>
            </a:r>
          </a:p>
        </p:txBody>
      </p:sp>
    </p:spTree>
    <p:extLst>
      <p:ext uri="{BB962C8B-B14F-4D97-AF65-F5344CB8AC3E}">
        <p14:creationId xmlns:p14="http://schemas.microsoft.com/office/powerpoint/2010/main" val="29654045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Vorbészi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mértsétsélotsûs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hantadabardoot</a:t>
            </a:r>
            <a:r>
              <a:rPr lang="hy-AM" sz="4000" dirty="0">
                <a:latin typeface="Times New Roman" panose="02020603050405020304" pitchFamily="18" charset="0"/>
                <a:ea typeface="Calibri" panose="020F0502020204030204" pitchFamily="34" charset="0"/>
              </a:rPr>
              <a:t>-</a:t>
            </a:r>
            <a:r>
              <a:rPr lang="en-US" sz="4000" dirty="0" err="1">
                <a:latin typeface="Times New Roman" panose="02020603050405020304" pitchFamily="18" charset="0"/>
                <a:ea typeface="Calibri" panose="020F0502020204030204" pitchFamily="34" charset="0"/>
              </a:rPr>
              <a:t>yoon</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kavootyoon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toghootyoon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méghats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So that this may be for all of us who approach it, for acquittal, for expiation and for forgiveness of sins.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Որպէսզի եղիցի սա ամենեցուն մեզ մերձեցելոցս՝ յանդատապարտութ- իւն, ի քաւութիւն եւ ի թողութիւն մեղաց: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80CF5C8-38D6-A1FD-DEF7-7A328B451C67}"/>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19</a:t>
            </a:r>
          </a:p>
        </p:txBody>
      </p:sp>
    </p:spTree>
    <p:extLst>
      <p:ext uri="{BB962C8B-B14F-4D97-AF65-F5344CB8AC3E}">
        <p14:creationId xmlns:p14="http://schemas.microsoft.com/office/powerpoint/2010/main" val="93857600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zparagtsi</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zkhorhoort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ichyal</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hérgnits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gadarés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tsérûn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héghmamp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aryan</a:t>
            </a:r>
            <a:r>
              <a:rPr lang="en-US" sz="4000" dirty="0">
                <a:latin typeface="Times New Roman" panose="02020603050405020304" pitchFamily="18" charset="0"/>
                <a:ea typeface="Calibri" panose="020F0502020204030204" pitchFamily="34" charset="0"/>
              </a:rPr>
              <a:t> sora,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hanko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zhokis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nûnchétsélotsn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Spirit of God, who descending from heaven accomplishes through us the mystery of him who is glorified with you. By the shedding of his blood, we beseech you, grant rest to the souls those of ours who have fallen asleep.</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Հոգի Աստուծոյ, որ զ</a:t>
            </a:r>
            <a:r>
              <a:rPr lang="en-US" sz="4000" dirty="0">
                <a:latin typeface="Arm HelvU" pitchFamily="2" charset="0"/>
                <a:ea typeface="Calibri" panose="020F0502020204030204" pitchFamily="34" charset="0"/>
              </a:rPr>
              <a:t>w</a:t>
            </a:r>
            <a:r>
              <a:rPr lang="hy-AM" sz="4000" dirty="0">
                <a:latin typeface="Arm HelvU" pitchFamily="2" charset="0"/>
                <a:ea typeface="Calibri" panose="020F0502020204030204" pitchFamily="34" charset="0"/>
              </a:rPr>
              <a:t>առակցի քո զխորհուրդ, իջեալ ի յերկնից. կատարես ի ձեռըն մեր. հեղմամբ արեան սորա, աղաչեմք ըզքեզ, հանգո զհոգիս մեր ննջեցելոցն: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00F27C3-40AC-A086-EFD0-E245970EAD68}"/>
              </a:ext>
            </a:extLst>
          </p:cNvPr>
          <p:cNvSpPr txBox="1"/>
          <p:nvPr/>
        </p:nvSpPr>
        <p:spPr>
          <a:xfrm>
            <a:off x="-1" y="3376"/>
            <a:ext cx="16276320" cy="769441"/>
          </a:xfrm>
          <a:prstGeom prst="rect">
            <a:avLst/>
          </a:prstGeom>
          <a:noFill/>
          <a:ln>
            <a:noFill/>
          </a:ln>
        </p:spPr>
        <p:txBody>
          <a:bodyPr wrap="square" rtlCol="0">
            <a:spAutoFit/>
          </a:bodyPr>
          <a:lstStyle/>
          <a:p>
            <a:r>
              <a:rPr lang="hy-AM" sz="4400" dirty="0">
                <a:solidFill>
                  <a:srgbClr val="548DD4"/>
                </a:solidFill>
                <a:latin typeface="Arm HelvU" pitchFamily="2" charset="0"/>
                <a:ea typeface="Calibri" panose="020F0502020204030204" pitchFamily="34" charset="0"/>
              </a:rPr>
              <a:t>ՈՏՔԻ ԿԱՆԳՆԻԼ/</a:t>
            </a:r>
            <a:r>
              <a:rPr lang="en-US" sz="4400" dirty="0">
                <a:solidFill>
                  <a:srgbClr val="548DD4"/>
                </a:solidFill>
                <a:latin typeface="Arm HelvU" pitchFamily="2" charset="0"/>
                <a:ea typeface="Calibri" panose="020F0502020204030204" pitchFamily="34" charset="0"/>
              </a:rPr>
              <a:t>STAND                                                     </a:t>
            </a:r>
            <a:r>
              <a:rPr lang="hy-AM" sz="4400" dirty="0">
                <a:solidFill>
                  <a:srgbClr val="548DD4"/>
                </a:solidFill>
                <a:latin typeface="Arm HelvU" pitchFamily="2" charset="0"/>
                <a:ea typeface="Calibri" panose="020F0502020204030204" pitchFamily="34" charset="0"/>
              </a:rPr>
              <a:t>Էջ</a:t>
            </a:r>
            <a:r>
              <a:rPr lang="en-US" sz="4400" dirty="0">
                <a:solidFill>
                  <a:srgbClr val="548DD4"/>
                </a:solidFill>
                <a:latin typeface="Arm HelvU" pitchFamily="2" charset="0"/>
                <a:ea typeface="Calibri" panose="020F0502020204030204" pitchFamily="34" charset="0"/>
              </a:rPr>
              <a:t>/page</a:t>
            </a:r>
            <a:r>
              <a:rPr lang="hy-AM" sz="4400" dirty="0">
                <a:solidFill>
                  <a:srgbClr val="548DD4"/>
                </a:solidFill>
                <a:latin typeface="Arm HelvU" pitchFamily="2" charset="0"/>
                <a:ea typeface="Calibri" panose="020F0502020204030204" pitchFamily="34" charset="0"/>
              </a:rPr>
              <a:t> </a:t>
            </a:r>
            <a:r>
              <a:rPr lang="en-US" sz="4400" dirty="0">
                <a:solidFill>
                  <a:srgbClr val="548DD4"/>
                </a:solidFill>
                <a:latin typeface="Arm HelvU" pitchFamily="2" charset="0"/>
                <a:ea typeface="Calibri" panose="020F0502020204030204" pitchFamily="34" charset="0"/>
              </a:rPr>
              <a:t>19</a:t>
            </a:r>
          </a:p>
        </p:txBody>
      </p:sp>
    </p:spTree>
    <p:extLst>
      <p:ext uri="{BB962C8B-B14F-4D97-AF65-F5344CB8AC3E}">
        <p14:creationId xmlns:p14="http://schemas.microsoft.com/office/powerpoint/2010/main" val="105633085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arastsés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parérar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With them visit us also, O beneficent God, we beseech you.</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Be mindful, Lord,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Ընդ որս եւ մեզ այց արասցես բարերար Աստուած, աղաչեմք: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Յիշեա, Տէր, եւ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9D14951-41E1-52D2-4FFE-60A5ACEC518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19</a:t>
            </a:r>
          </a:p>
        </p:txBody>
      </p:sp>
    </p:spTree>
    <p:extLst>
      <p:ext uri="{BB962C8B-B14F-4D97-AF65-F5344CB8AC3E}">
        <p14:creationId xmlns:p14="http://schemas.microsoft.com/office/powerpoint/2010/main" val="7586864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Asdvadzadznin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goosin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Mariyamoo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Hovhannoo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Mûgûrdchin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Sdépanosi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Nakhavûgayin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hishadag</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a:t>
            </a:r>
            <a:r>
              <a:rPr lang="en-US" sz="4000" dirty="0">
                <a:solidFill>
                  <a:srgbClr val="00B050"/>
                </a:solidFill>
                <a:latin typeface="Times New Roman" panose="02020603050405020304" pitchFamily="18" charset="0"/>
                <a:ea typeface="Calibri" panose="020F0502020204030204" pitchFamily="34" charset="0"/>
              </a:rPr>
              <a:t> </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We beseech the Lord in this holy sacrifice, to be mindful of the Mother of God, the holy virgin Mary, John the Baptist, the Protomartyr Stephen, and all the saints.</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Be mindful, Lord,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Աստուածածնին սրբոյ կուսին Մարիամու եւ Յովհաննու Մկըրտչին, Ստեփանոսի Նախավկային եւ ամենայն սրբոց. եղիցի յիշատակ ի սուրբ պատարագս, աղաչեմք:</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Յիշեա, Տէր, եւ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DB6DA0F-A933-578C-6B68-4035B4E6E61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19</a:t>
            </a:r>
          </a:p>
        </p:txBody>
      </p:sp>
    </p:spTree>
    <p:extLst>
      <p:ext uri="{BB962C8B-B14F-4D97-AF65-F5344CB8AC3E}">
        <p14:creationId xmlns:p14="http://schemas.microsoft.com/office/powerpoint/2010/main" val="25373712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Arakélots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markaréyits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vartabédats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mardirosats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hayrabédats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hishadag</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317009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We beseech you, O Lord, in this holy sacrifice, to be mindful of the holy apostles, the prophets, the doctors of the Church, the martyrs, and all the holy patriarchs, apostolic bishops, presbyters, orthodox deacons, and all the saints.</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Be mindful, Lord,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Առաքելոց սըրբոց, մարգարէից, վարդապետաց, մարտիրոսաց եւ ամենայն հայրապետաց սըրբոց:…եղիցի յիշատակ ի սուրբ պատարագս, աղաչեմք:</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Յիշեա, Տէր, եւ ողորմեա:</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5BA83EE-96F5-FDE9-AA9A-EC63D56D6D7E}"/>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19</a:t>
            </a:r>
          </a:p>
        </p:txBody>
      </p:sp>
    </p:spTree>
    <p:extLst>
      <p:ext uri="{BB962C8B-B14F-4D97-AF65-F5344CB8AC3E}">
        <p14:creationId xmlns:p14="http://schemas.microsoft.com/office/powerpoint/2010/main" val="261448289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pPr algn="l"/>
            <a:r>
              <a:rPr lang="en-US" sz="4000" b="0" u="none" strike="noStrike" baseline="0" dirty="0">
                <a:solidFill>
                  <a:schemeClr val="accent1">
                    <a:lumMod val="75000"/>
                  </a:schemeClr>
                </a:solidFill>
                <a:latin typeface="TimesNewRomanPSMT"/>
              </a:rPr>
              <a:t>DCN. </a:t>
            </a:r>
            <a:r>
              <a:rPr lang="en-US" sz="4000" b="0" u="none" strike="noStrike" baseline="0" dirty="0" err="1">
                <a:latin typeface="TimesNewRomanPS-ItalicMT"/>
              </a:rPr>
              <a:t>Orhnyal</a:t>
            </a:r>
            <a:r>
              <a:rPr lang="en-US" sz="4000" b="0" u="none" strike="noStrike" baseline="0" dirty="0">
                <a:latin typeface="TimesNewRomanPS-ItalicMT"/>
              </a:rPr>
              <a:t>, </a:t>
            </a:r>
            <a:r>
              <a:rPr lang="en-US" sz="4000" b="0" u="none" strike="noStrike" baseline="0" dirty="0" err="1">
                <a:latin typeface="TimesNewRomanPS-ItalicMT"/>
              </a:rPr>
              <a:t>kovyal</a:t>
            </a:r>
            <a:r>
              <a:rPr lang="en-US" sz="4000" b="0" u="none" strike="noStrike" baseline="0" dirty="0">
                <a:latin typeface="TimesNewRomanPS-ItalicMT"/>
              </a:rPr>
              <a:t> </a:t>
            </a:r>
            <a:r>
              <a:rPr lang="en-US" sz="4000" b="0" u="none" strike="noStrike" baseline="0" dirty="0" err="1">
                <a:latin typeface="TimesNewRomanPS-ItalicMT"/>
              </a:rPr>
              <a:t>yév</a:t>
            </a:r>
            <a:r>
              <a:rPr lang="en-US" sz="4000" b="0" u="none" strike="noStrike" baseline="0" dirty="0">
                <a:latin typeface="TimesNewRomanPS-ItalicMT"/>
              </a:rPr>
              <a:t> </a:t>
            </a:r>
            <a:r>
              <a:rPr lang="en-US" sz="4000" b="0" u="none" strike="noStrike" baseline="0" dirty="0" err="1">
                <a:latin typeface="TimesNewRomanPS-ItalicMT"/>
              </a:rPr>
              <a:t>paravoryal</a:t>
            </a:r>
            <a:r>
              <a:rPr lang="en-US" sz="4000" b="0" u="none" strike="noStrike" baseline="0" dirty="0">
                <a:latin typeface="TimesNewRomanPS-ItalicMT"/>
              </a:rPr>
              <a:t>,</a:t>
            </a:r>
            <a:r>
              <a:rPr lang="hy-AM" sz="4000" b="0" u="none" strike="noStrike" baseline="0" dirty="0">
                <a:latin typeface="TimesNewRomanPS-ItalicMT"/>
              </a:rPr>
              <a:t> </a:t>
            </a:r>
            <a:r>
              <a:rPr lang="en-US" sz="4000" b="0" u="none" strike="noStrike" baseline="0" dirty="0" err="1">
                <a:latin typeface="TimesNewRomanPS-ItalicMT"/>
              </a:rPr>
              <a:t>hrashali</a:t>
            </a:r>
            <a:r>
              <a:rPr lang="en-US" sz="4000" b="0" u="none" strike="noStrike" baseline="0" dirty="0">
                <a:latin typeface="TimesNewRomanPS-ItalicMT"/>
              </a:rPr>
              <a:t> </a:t>
            </a:r>
            <a:r>
              <a:rPr lang="en-US" sz="4000" b="0" u="none" strike="noStrike" baseline="0" dirty="0" err="1">
                <a:latin typeface="TimesNewRomanPS-ItalicMT"/>
              </a:rPr>
              <a:t>yév</a:t>
            </a:r>
            <a:r>
              <a:rPr lang="en-US" sz="4000" b="0" u="none" strike="noStrike" baseline="0" dirty="0">
                <a:latin typeface="TimesNewRomanPS-ItalicMT"/>
              </a:rPr>
              <a:t> </a:t>
            </a:r>
            <a:r>
              <a:rPr lang="en-US" sz="4000" b="0" u="none" strike="noStrike" baseline="0" dirty="0" err="1">
                <a:latin typeface="TimesNewRomanPS-ItalicMT"/>
              </a:rPr>
              <a:t>asdvadzazart</a:t>
            </a:r>
            <a:r>
              <a:rPr lang="hy-AM" sz="4000" b="0" u="none" strike="noStrike" baseline="0" dirty="0">
                <a:latin typeface="TimesNewRomanPS-ItalicMT"/>
              </a:rPr>
              <a:t> </a:t>
            </a:r>
            <a:r>
              <a:rPr lang="en-US" sz="4000" b="0" u="none" strike="noStrike" baseline="0" dirty="0" err="1">
                <a:latin typeface="TimesNewRomanPS-ItalicMT"/>
              </a:rPr>
              <a:t>harootyanûn</a:t>
            </a:r>
            <a:r>
              <a:rPr lang="en-US" sz="4000" b="0" u="none" strike="noStrike" baseline="0" dirty="0">
                <a:latin typeface="TimesNewRomanPS-ItalicMT"/>
              </a:rPr>
              <a:t> </a:t>
            </a:r>
            <a:r>
              <a:rPr lang="en-US" sz="4000" b="0" u="none" strike="noStrike" baseline="0" dirty="0" err="1">
                <a:latin typeface="TimesNewRomanPS-ItalicMT"/>
              </a:rPr>
              <a:t>Krisdosi</a:t>
            </a:r>
            <a:r>
              <a:rPr lang="en-US" sz="4000" b="0" u="none" strike="noStrike" baseline="0" dirty="0">
                <a:latin typeface="TimesNewRomanPS-ItalicMT"/>
              </a:rPr>
              <a:t> </a:t>
            </a:r>
            <a:r>
              <a:rPr lang="en-US" sz="4000" b="0" u="none" strike="noStrike" baseline="0" dirty="0" err="1">
                <a:latin typeface="TimesNewRomanPS-ItalicMT"/>
              </a:rPr>
              <a:t>yérgirbakanémk</a:t>
            </a:r>
            <a:r>
              <a:rPr lang="en-US" sz="4000" b="0" u="none" strike="noStrike" baseline="0" dirty="0">
                <a:latin typeface="TimesNewRomanPS-ItalicMT"/>
              </a:rPr>
              <a:t>.</a:t>
            </a:r>
          </a:p>
          <a:p>
            <a:pPr algn="l"/>
            <a:r>
              <a:rPr lang="en-US" sz="4000" b="0" u="none" strike="noStrike" baseline="0" dirty="0">
                <a:solidFill>
                  <a:srgbClr val="00B050"/>
                </a:solidFill>
                <a:latin typeface="TimesNewRomanPSMT"/>
              </a:rPr>
              <a:t>CHR. </a:t>
            </a:r>
            <a:r>
              <a:rPr lang="en-US" sz="4000" b="0" u="none" strike="noStrike" baseline="0" dirty="0">
                <a:latin typeface="TimesNewRomanPS-ItalicMT"/>
              </a:rPr>
              <a:t>Park </a:t>
            </a:r>
            <a:r>
              <a:rPr lang="en-US" sz="4000" b="0" u="none" strike="noStrike" baseline="0" dirty="0" err="1">
                <a:latin typeface="TimesNewRomanPS-ItalicMT"/>
              </a:rPr>
              <a:t>harootyan</a:t>
            </a:r>
            <a:r>
              <a:rPr lang="en-US" sz="4000" b="0" u="none" strike="noStrike" baseline="0" dirty="0">
                <a:latin typeface="TimesNewRomanPS-ItalicMT"/>
              </a:rPr>
              <a:t> ko, </a:t>
            </a:r>
            <a:r>
              <a:rPr lang="en-US" sz="4000" b="0" u="none" strike="noStrike" baseline="0" dirty="0" err="1">
                <a:latin typeface="TimesNewRomanPS-ItalicMT"/>
              </a:rPr>
              <a:t>Dér</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pPr algn="l"/>
            <a:r>
              <a:rPr lang="en-US" sz="40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 </a:t>
            </a:r>
            <a:r>
              <a:rPr lang="en-US" sz="4000" b="0" i="0" u="none" strike="noStrike" baseline="0" dirty="0">
                <a:latin typeface="Times New Roman" panose="02020603050405020304" pitchFamily="18" charset="0"/>
                <a:cs typeface="Times New Roman" panose="02020603050405020304" pitchFamily="18" charset="0"/>
              </a:rPr>
              <a:t>We bow down to the blessed,</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praised and glorified, wondrous and</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God-adorned resurrection of Christ.</a:t>
            </a:r>
          </a:p>
          <a:p>
            <a:pPr algn="l"/>
            <a:r>
              <a:rPr lang="en-US" sz="4000" b="0" i="0" u="none" strike="noStrike" baseline="0" dirty="0">
                <a:solidFill>
                  <a:srgbClr val="00B050"/>
                </a:solidFill>
                <a:latin typeface="Times New Roman" panose="02020603050405020304" pitchFamily="18" charset="0"/>
                <a:cs typeface="Times New Roman" panose="02020603050405020304" pitchFamily="18" charset="0"/>
              </a:rPr>
              <a:t>CHR. </a:t>
            </a:r>
            <a:r>
              <a:rPr lang="en-US" sz="4000" b="0" i="0" u="none" strike="noStrike" baseline="0" dirty="0">
                <a:latin typeface="Times New Roman" panose="02020603050405020304" pitchFamily="18" charset="0"/>
                <a:cs typeface="Times New Roman" panose="02020603050405020304" pitchFamily="18" charset="0"/>
              </a:rPr>
              <a:t>Glory to your resurrection, Lord.</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pPr algn="l"/>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Օրհնեալ, գովեալ եւ փառաւորեալ, հրաշալի եւ աստուածազարդ</a:t>
            </a:r>
          </a:p>
          <a:p>
            <a:pPr algn="l"/>
            <a:r>
              <a:rPr lang="hy-AM" sz="4000" dirty="0">
                <a:latin typeface="Arm HelvU" pitchFamily="2" charset="0"/>
                <a:ea typeface="Calibri" panose="020F0502020204030204" pitchFamily="34" charset="0"/>
              </a:rPr>
              <a:t>յարութեանըն Քրիստոսի երկիրպագանեմք:</a:t>
            </a:r>
          </a:p>
          <a:p>
            <a:pPr algn="l"/>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Փառք յարութեան քո, Տէր:</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A6EA2-0D76-E71B-CFB2-BBC1C14EF96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20</a:t>
            </a:r>
          </a:p>
        </p:txBody>
      </p:sp>
    </p:spTree>
    <p:extLst>
      <p:ext uri="{BB962C8B-B14F-4D97-AF65-F5344CB8AC3E}">
        <p14:creationId xmlns:p14="http://schemas.microsoft.com/office/powerpoint/2010/main" val="240003783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Arachnortatsûn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arachin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loosavorchatsûn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Tatéyosi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Partoghiméyosi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arakélotsûn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Krikori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Loosavorchin</a:t>
            </a:r>
            <a:r>
              <a:rPr lang="en-US" sz="4000" dirty="0">
                <a:latin typeface="Times New Roman" panose="02020603050405020304" pitchFamily="18" charset="0"/>
                <a:ea typeface="Calibri" panose="020F0502020204030204" pitchFamily="34" charset="0"/>
              </a:rPr>
              <a:t>,…</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hishadag</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We beseech you, O Lord, in this holy sacrifice, to be mindful of our first illuminators and leaders: Saints Thaddaeus and Bartholomew and Gregory the Illuminator… </a:t>
            </a:r>
            <a:r>
              <a:rPr lang="en-US" sz="4000" dirty="0">
                <a:solidFill>
                  <a:srgbClr val="00B050"/>
                </a:solidFill>
                <a:latin typeface="Times New Roman" panose="02020603050405020304" pitchFamily="18" charset="0"/>
                <a:ea typeface="Calibri" panose="020F0502020204030204" pitchFamily="34" charset="0"/>
              </a:rPr>
              <a:t> </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Be mindful, Lord,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Առաջնորդացըն մերոց եւ առաջին լուսաւորչացըն՝ սըրբոց Թադէոսի եւ Բարթողիմէոսի առաքելոցն, եւ Գրիգորի Լուսաւորչին,…եղիցի յիշատակ ի սուրբ պատարագս, աղաչեմք: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Յիշեա, Տէր, եւ ողորմեա:</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0C51146-7FAE-E87A-7A93-483AD366204A}"/>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20</a:t>
            </a:r>
          </a:p>
        </p:txBody>
      </p:sp>
    </p:spTree>
    <p:extLst>
      <p:ext uri="{BB962C8B-B14F-4D97-AF65-F5344CB8AC3E}">
        <p14:creationId xmlns:p14="http://schemas.microsoft.com/office/powerpoint/2010/main" val="30537121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Miyantsnatsélots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sûrpots</a:t>
            </a:r>
            <a:r>
              <a:rPr lang="en-US" sz="4000" dirty="0">
                <a:latin typeface="Times New Roman" panose="02020603050405020304" pitchFamily="18" charset="0"/>
                <a:ea typeface="Calibri" panose="020F0502020204030204" pitchFamily="34" charset="0"/>
              </a:rPr>
              <a:t>,…</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hishadag</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We beseech you, O Lord, in this holy sacrifice, to be mindful of the holy hermits, </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Be mindful, Lord,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Միանձնացելոց սըրբոց,... եղիցի յիշատակ ի սուրբ պատարագս, աղաչեմք:</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Յիշեա, Տէր, եւ ողորմեա: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1280394-41AC-AD6E-425A-587DF63A99EA}"/>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20</a:t>
            </a:r>
          </a:p>
        </p:txBody>
      </p:sp>
    </p:spTree>
    <p:extLst>
      <p:ext uri="{BB962C8B-B14F-4D97-AF65-F5344CB8AC3E}">
        <p14:creationId xmlns:p14="http://schemas.microsoft.com/office/powerpoint/2010/main" val="313465617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Takavorats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havadatsélots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hishadag</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We beseech you, O Lord, in this holy sacrifice, to be mindful of the faithful and holy kings:...</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Be mindful, Lord,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Թագաւորաց հաւատացելոց սըրբոցն`.... եղիցի յիշատակ ի սուրբ պատարագս, աղաչեմք: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Յիշեա, Տէր, եւ ողորմեա: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62A8A7A-868A-DC8F-7CDB-8E9138E3494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21</a:t>
            </a:r>
          </a:p>
        </p:txBody>
      </p:sp>
    </p:spTree>
    <p:extLst>
      <p:ext uri="{BB962C8B-B14F-4D97-AF65-F5344CB8AC3E}">
        <p14:creationId xmlns:p14="http://schemas.microsoft.com/office/powerpoint/2010/main" val="177134476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Ûnthanoor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havadatsélots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arants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ganants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dzérots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dûghayots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chapoo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hasagi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havadov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sûrpootyamp</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nûnchétsélotsn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hishadag</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aghachémk</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We beseech you, O Lord, in this holy sacrifice, to be mindful of all faithful everywhere, men and women, old and young, and all those of every age who in faith and holiness have fallen asleep in Christ.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Be mindful, Lord, and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Ընդհանուր ամենայն հաւատացելոց, արանց եւ կանանց, ծերոց եւ տըղայոց եւ ամենայն չափու հասակի հաւատով եւ սըրբութեամբ ի Քրիստոս նընջեցելոցն. եղիցի յիշատակ ի սուրբ պատարագս, աղաչեմք: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Յիշեա, Տէր, եւ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8D209A3-7DA1-6C9E-9B99-AC9441AEBA7F}"/>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21</a:t>
            </a:r>
          </a:p>
        </p:txBody>
      </p:sp>
    </p:spTree>
    <p:extLst>
      <p:ext uri="{BB962C8B-B14F-4D97-AF65-F5344CB8AC3E}">
        <p14:creationId xmlns:p14="http://schemas.microsoft.com/office/powerpoint/2010/main" val="351612014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pPr algn="l"/>
            <a:r>
              <a:rPr lang="en-US" sz="4000" dirty="0">
                <a:solidFill>
                  <a:srgbClr val="FF0000"/>
                </a:solidFill>
                <a:latin typeface="Times New Roman" panose="02020603050405020304" pitchFamily="18" charset="0"/>
                <a:cs typeface="Times New Roman" panose="02020603050405020304" pitchFamily="18" charset="0"/>
              </a:rPr>
              <a:t>CLB</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Yévûs</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aravél</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zébisgobosabédûn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mér</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yév</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ûzbadvagan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hayrabédn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aména-ynHayots</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Médzi</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Danûn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Giligyo,ûzdér</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dér</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ays</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anoon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sûrpaznakooyn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gatogh-igos</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yév</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vijagis</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paréchan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arachnortn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ûzdér</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ays</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anoon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sûrpazan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arkebisg-obos</a:t>
            </a:r>
            <a:r>
              <a:rPr lang="en-US" sz="400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Shnorhéstsés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méz</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ûnt</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yérgayn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avoorûs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ooghigh</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vartabédootyamp</a:t>
            </a:r>
            <a:r>
              <a:rPr lang="en-US" sz="4000" b="0" u="none" strike="noStrike" baseline="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3170099"/>
          </a:xfrm>
          <a:prstGeom prst="rect">
            <a:avLst/>
          </a:prstGeom>
          <a:noFill/>
          <a:ln>
            <a:noFill/>
          </a:ln>
        </p:spPr>
        <p:txBody>
          <a:bodyPr wrap="square" rtlCol="0">
            <a:spAutoFit/>
          </a:bodyPr>
          <a:lstStyle/>
          <a:p>
            <a:pPr algn="l"/>
            <a:r>
              <a:rPr lang="en-US" sz="4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CLB.</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And especially, be mindful of our Chief Bishop, the venerable</a:t>
            </a:r>
          </a:p>
          <a:p>
            <a:pPr algn="l"/>
            <a:r>
              <a:rPr lang="en-US" sz="4000" dirty="0">
                <a:latin typeface="Times New Roman" panose="02020603050405020304" pitchFamily="18" charset="0"/>
                <a:cs typeface="Times New Roman" panose="02020603050405020304" pitchFamily="18" charset="0"/>
              </a:rPr>
              <a:t>Patriarch of all Armenians of the Great House of Cilicia, His Holiness Catholicos (name of the Catholicos) and the diligent Prelate of our prelacy, His Eminence Archbishop (name of the Prelate). </a:t>
            </a:r>
          </a:p>
          <a:p>
            <a:pPr algn="l"/>
            <a:r>
              <a:rPr lang="en-US" sz="4000" dirty="0">
                <a:latin typeface="Times New Roman" panose="02020603050405020304" pitchFamily="18" charset="0"/>
                <a:cs typeface="Times New Roman" panose="02020603050405020304" pitchFamily="18" charset="0"/>
              </a:rPr>
              <a:t>Grant them long life to lead us in orthodox faith.</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pPr algn="l"/>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Եւս առաւել զեպիսկոպոսապետն մեր եւ զպատուական հայրապետն ամ-ենայն Հայոց Մեծի Տանն Կիլիկիոյ զտէր տէր (այս անուն) սրբազնագոյն կաթ-ողիկոս։ Եւ վիճակիս բարեջան առաջնորդն զտէր (այս անուն) սրբազան արք-եպիսկոպոս։ Շնորհեսցես մեզ ընդ երկայն աւուրս ուղիղ վարդապետութեամբ:</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7C5D23B-77D8-3B73-A086-326CA451BB3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21</a:t>
            </a:r>
          </a:p>
        </p:txBody>
      </p:sp>
    </p:spTree>
    <p:extLst>
      <p:ext uri="{BB962C8B-B14F-4D97-AF65-F5344CB8AC3E}">
        <p14:creationId xmlns:p14="http://schemas.microsoft.com/office/powerpoint/2010/main" val="19568428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parapanootyoon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madootsanémk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anmah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véra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séghanooys</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ûzsa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sûrpootyoon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géntanootyan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barkévéstsés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pPr algn="l"/>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We render thanks and glory to you, O Lord, our God, for this holy and immortal sacrifice which is on this holy table, that you may grant this to us for holiness of life.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Գոհութիւն եւ փառաբանութիւն մատուցանեմք քեզ Տէր Աստուած մեր: Վասըն սուրբ եւ անմահ պատարագիս որ ի վերայ սըրբոյ սեղանոյս. զի ըզսա մեզ ի սըրբութիւն կենդանութեան պարգեւեսցես:</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BBAF478-7524-9AFE-068B-2BD21D861A5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21</a:t>
            </a:r>
          </a:p>
        </p:txBody>
      </p:sp>
    </p:spTree>
    <p:extLst>
      <p:ext uri="{BB962C8B-B14F-4D97-AF65-F5344CB8AC3E}">
        <p14:creationId xmlns:p14="http://schemas.microsoft.com/office/powerpoint/2010/main" val="114411442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Sovav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zhasdadootyoon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zûghtsali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zkhaghaghootyoon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ashkharhi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yégéghétsvo</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Through it grant love, stability and desirable peace to the whole world, to the holy Church and to all orthodox bishops, </a:t>
            </a:r>
            <a:r>
              <a:rPr lang="en-US" sz="4000" b="0" i="0" u="none" strike="noStrike" baseline="0" dirty="0">
                <a:latin typeface="Times New Roman" panose="02020603050405020304" pitchFamily="18" charset="0"/>
                <a:cs typeface="Times New Roman" panose="02020603050405020304" pitchFamily="18" charset="0"/>
              </a:rPr>
              <a:t>and to our Chief</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pPr algn="l"/>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Սովաւ շնորհեա ըզսէր, զհաստատութիւն եւ զըղձալի զխաղաղութիւն ամենայն աշխարհի, սըրբոյ եկեղեցւոյ</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9CBC249-6D51-D6C1-C453-D6B718A10F6F}"/>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21</a:t>
            </a:r>
          </a:p>
        </p:txBody>
      </p:sp>
    </p:spTree>
    <p:extLst>
      <p:ext uri="{BB962C8B-B14F-4D97-AF65-F5344CB8AC3E}">
        <p14:creationId xmlns:p14="http://schemas.microsoft.com/office/powerpoint/2010/main" val="230211532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pPr algn="l"/>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aménayn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ooghapar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yébisgobosats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yébisgobosabédin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méro</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badvagan</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hayrabédin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aménayn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Hayots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Médzi</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Danûn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Giligio</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dyarûn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dyarûn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ays</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anoon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sûrpaznakooyn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gatoghigosi</a:t>
            </a:r>
            <a:r>
              <a:rPr lang="en-US" sz="4000" b="0" u="none" strike="noStrike" baseline="0" dirty="0">
                <a:latin typeface="Times New Roman" panose="02020603050405020304" pitchFamily="18" charset="0"/>
                <a:cs typeface="Times New Roman" panose="02020603050405020304" pitchFamily="18" charset="0"/>
              </a:rPr>
              <a:t>,</a:t>
            </a:r>
            <a:r>
              <a:rPr lang="hy-AM" sz="4000" b="0" u="none" strike="noStrike" baseline="0" dirty="0">
                <a:latin typeface="Times New Roman" panose="02020603050405020304" pitchFamily="18" charset="0"/>
                <a:cs typeface="Times New Roman" panose="02020603050405020304" pitchFamily="18" charset="0"/>
              </a:rPr>
              <a:t> </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pPr algn="l"/>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1800" b="0" i="0" u="none" strike="noStrike" baseline="0" dirty="0">
                <a:latin typeface="TimesNewRomanPSMT"/>
              </a:rPr>
              <a:t> </a:t>
            </a:r>
            <a:r>
              <a:rPr lang="en-US" sz="4000" b="0" i="0" u="none" strike="noStrike" baseline="0" dirty="0">
                <a:latin typeface="Times New Roman" panose="02020603050405020304" pitchFamily="18" charset="0"/>
                <a:cs typeface="Times New Roman" panose="02020603050405020304" pitchFamily="18" charset="0"/>
              </a:rPr>
              <a:t>Bishop, venerable Patriarch of all</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Armenians of the Great House of</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Cilicia, His Holiness Catholicos</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(name of the Catholicos), </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pPr algn="l"/>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ամենայն ուղղափառ եպիսկոպոսաց։ Եւ եպիսկոպոսապետին մերոյ</a:t>
            </a:r>
          </a:p>
          <a:p>
            <a:pPr algn="l"/>
            <a:r>
              <a:rPr lang="hy-AM" sz="4000" dirty="0">
                <a:latin typeface="Arm HelvU" pitchFamily="2" charset="0"/>
                <a:ea typeface="Calibri" panose="020F0502020204030204" pitchFamily="34" charset="0"/>
              </a:rPr>
              <a:t>եւ պատուական հայրապետին ամենայն Հայոց Մեծի Տանն Կիլիկիոյ տեառըն տեառըն (այս անուն) սըրբազնագոյն կաթողիկոսի.</a:t>
            </a:r>
          </a:p>
          <a:p>
            <a:pPr algn="l"/>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CB16922-06F5-EB99-C79A-BC2FFD4C899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22</a:t>
            </a:r>
          </a:p>
        </p:txBody>
      </p:sp>
    </p:spTree>
    <p:extLst>
      <p:ext uri="{BB962C8B-B14F-4D97-AF65-F5344CB8AC3E}">
        <p14:creationId xmlns:p14="http://schemas.microsoft.com/office/powerpoint/2010/main" val="16474828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vijagis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paréchan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arachnortin</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méro</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dyarûn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ays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anoon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sûrpazan</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arkébisgobosi</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kahanayis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vor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ûzbadarakûs</a:t>
            </a:r>
            <a:r>
              <a:rPr lang="hy-AM"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madootsané</a:t>
            </a:r>
            <a:r>
              <a:rPr lang="en-US" sz="4000" b="0" u="none" strike="noStrike" baseline="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b="0" i="0" u="none" strike="noStrike" baseline="0" dirty="0">
                <a:latin typeface="Times New Roman" panose="02020603050405020304" pitchFamily="18" charset="0"/>
                <a:cs typeface="Times New Roman" panose="02020603050405020304" pitchFamily="18" charset="0"/>
              </a:rPr>
              <a:t> and to the</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diligent Prelate of our prelacy His</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Eminence Archbishop (name of the</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Prelate), and to the priest who is</a:t>
            </a:r>
            <a:r>
              <a:rPr lang="hy-AM" sz="4000" b="0" i="0" u="none" strike="noStrike" baseline="0" dirty="0">
                <a:latin typeface="Times New Roman" panose="02020603050405020304" pitchFamily="18" charset="0"/>
                <a:cs typeface="Times New Roman" panose="02020603050405020304" pitchFamily="18" charset="0"/>
              </a:rPr>
              <a:t> </a:t>
            </a:r>
            <a:r>
              <a:rPr lang="en-US" sz="4000" b="0" i="0" u="none" strike="noStrike" baseline="0" dirty="0">
                <a:latin typeface="Times New Roman" panose="02020603050405020304" pitchFamily="18" charset="0"/>
                <a:cs typeface="Times New Roman" panose="02020603050405020304" pitchFamily="18" charset="0"/>
              </a:rPr>
              <a:t>offering this holy sacrifice.</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pPr algn="l"/>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վիճակիս բարեջան առ-աջնորդին մերոյ տեառըն (այս անուն) սըրբազան արքեպիսկոպոսի. եւ քահանայիս որ ըզպատարագըս մատուցանէ:</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1FD8377-9F45-9F6C-CB1C-D33ABCD016B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22</a:t>
            </a:r>
          </a:p>
        </p:txBody>
      </p:sp>
    </p:spTree>
    <p:extLst>
      <p:ext uri="{BB962C8B-B14F-4D97-AF65-F5344CB8AC3E}">
        <p14:creationId xmlns:p14="http://schemas.microsoft.com/office/powerpoint/2010/main" val="39125453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Ûsd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haghaks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a:t>
            </a:r>
          </a:p>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médzis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pûrgchis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Krisdosi</a:t>
            </a:r>
            <a:r>
              <a:rPr lang="en-US" sz="4000" dirty="0">
                <a:latin typeface="Times New Roman" panose="02020603050405020304" pitchFamily="18" charset="0"/>
                <a:ea typeface="Calibri" panose="020F0502020204030204" pitchFamily="34" charset="0"/>
              </a:rPr>
              <a:t>, </a:t>
            </a:r>
          </a:p>
          <a:p>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aménésyan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On behalf of all and for all, we beseech the Lord.</a:t>
            </a: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And may the mercy of our great God and Savior Jesus Christ </a:t>
            </a:r>
          </a:p>
          <a:p>
            <a:r>
              <a:rPr lang="en-US" sz="4000" dirty="0">
                <a:solidFill>
                  <a:prstClr val="black"/>
                </a:solidFill>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be with you all.</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Ըստ ամենայնի եւ յաղագս ամենեցուն:</a:t>
            </a:r>
          </a:p>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եղիցի ողորմութիւն մեծիս Աստուծոյ եւ </a:t>
            </a:r>
            <a:r>
              <a:rPr lang="en-US" sz="4000" dirty="0">
                <a:latin typeface="Arm HelvU" pitchFamily="2" charset="0"/>
                <a:ea typeface="Calibri" panose="020F0502020204030204" pitchFamily="34" charset="0"/>
              </a:rPr>
              <a:t>w</a:t>
            </a:r>
            <a:r>
              <a:rPr lang="hy-AM" sz="4000" dirty="0">
                <a:latin typeface="Arm HelvU" pitchFamily="2" charset="0"/>
                <a:ea typeface="Calibri" panose="020F0502020204030204" pitchFamily="34" charset="0"/>
              </a:rPr>
              <a:t>րկչիս մերոյ Յիսուսի Քրիստոսի, </a:t>
            </a:r>
            <a:endParaRPr lang="en-US" sz="4000" dirty="0">
              <a:latin typeface="Arm HelvU" pitchFamily="2" charset="0"/>
              <a:ea typeface="Calibri" panose="020F0502020204030204" pitchFamily="34" charset="0"/>
            </a:endParaRPr>
          </a:p>
          <a:p>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ընդ ձեզ ընդ ամենեսեան: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6048D41-8022-30E5-9528-81F09E2A2A8B}"/>
              </a:ext>
            </a:extLst>
          </p:cNvPr>
          <p:cNvSpPr txBox="1"/>
          <p:nvPr/>
        </p:nvSpPr>
        <p:spPr>
          <a:xfrm>
            <a:off x="0" y="0"/>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22</a:t>
            </a:r>
          </a:p>
        </p:txBody>
      </p:sp>
    </p:spTree>
    <p:extLst>
      <p:ext uri="{BB962C8B-B14F-4D97-AF65-F5344CB8AC3E}">
        <p14:creationId xmlns:p14="http://schemas.microsoft.com/office/powerpoint/2010/main" val="375469732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koom</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Amen. And with your spirit. </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And again for peace let us beseech the Lord.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Ամէն։ Եւ ընդ հոգւոյդ քում:   </a:t>
            </a:r>
          </a:p>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եւըս խաղաղութեան ըզՏէր աղաչեսցուք:</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583BFBA-FD7F-742E-2B36-D1EA70197929}"/>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22</a:t>
            </a:r>
          </a:p>
        </p:txBody>
      </p:sp>
    </p:spTree>
    <p:extLst>
      <p:ext uri="{BB962C8B-B14F-4D97-AF65-F5344CB8AC3E}">
        <p14:creationId xmlns:p14="http://schemas.microsoft.com/office/powerpoint/2010/main" val="349560452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sûrpovk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hishadagétsak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aravélabés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Together with all the saints whom we have remembered, let us beseech the Lord.</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Ամենայն սըրբովք զորըս յիշատակեցաք եւըս առաւելապէս, ըզՏէր աղաչեսցուք: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 </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E10BE48-DEB6-6C09-3175-B4D84438E1B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23</a:t>
            </a:r>
          </a:p>
        </p:txBody>
      </p:sp>
    </p:spTree>
    <p:extLst>
      <p:ext uri="{BB962C8B-B14F-4D97-AF65-F5344CB8AC3E}">
        <p14:creationId xmlns:p14="http://schemas.microsoft.com/office/powerpoint/2010/main" val="425376024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Vasûn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madootsyal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anmah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véra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séghanooys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By this holy, divine, and immortal sacrifice which is offered on this holy table, let us beseech the Lord.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Վասըն մատուցեալ սուրբ եւ աստուածային անմահ պատարագիս, որ ի վերայ սըրբոյ սեղանոյս, ըզՏէր աղաչեսցուք: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AE9FDBF-5593-78C1-6B70-A54B554ACB8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23</a:t>
            </a:r>
          </a:p>
        </p:txBody>
      </p:sp>
    </p:spTree>
    <p:extLst>
      <p:ext uri="{BB962C8B-B14F-4D97-AF65-F5344CB8AC3E}">
        <p14:creationId xmlns:p14="http://schemas.microsoft.com/office/powerpoint/2010/main" val="4367172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Vorbészi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ûngalav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ûzsa</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hérgnayin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himanali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yoor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madootsarann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ûzpokhanagn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arakéstsé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ûzshnorhs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ûzbarkévûs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Let us beseech the Lord our God, who has accepted this sacrifice at his holy, heavenly, and intelligible altar, that he may send down upon us, in return, the grace and the gifts of the Holy Spirit.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Որպէսզի Տէր Աստուած մեր որ ընկալաւ ըզսա ի սուրբ, յերկնային եւ յիմանալի իւր մատուցարանն, ըզփոխանակն առաքեսցէ առ մեզ ըզշնորհս եւ ըզպարգեւըս Հոգւոյն Սըրբոյ, ըզՏէր աղաչեսցուք: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17602A9-53EC-3980-4616-74DA14F5B68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23</a:t>
            </a:r>
          </a:p>
        </p:txBody>
      </p:sp>
    </p:spTree>
    <p:extLst>
      <p:ext uri="{BB962C8B-B14F-4D97-AF65-F5344CB8AC3E}">
        <p14:creationId xmlns:p14="http://schemas.microsoft.com/office/powerpoint/2010/main" val="36094682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shnorhivt</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Zaménasûrpoohi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zAsdvadzadzinn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gooysûn</a:t>
            </a:r>
            <a:r>
              <a:rPr lang="en-US" sz="4000" dirty="0">
                <a:latin typeface="Times New Roman" panose="02020603050405020304" pitchFamily="18" charset="0"/>
                <a:ea typeface="Calibri" panose="020F0502020204030204" pitchFamily="34" charset="0"/>
              </a:rPr>
              <a:t> Mariyam </a:t>
            </a:r>
            <a:r>
              <a:rPr lang="en-US" sz="4000" dirty="0" err="1">
                <a:latin typeface="Times New Roman" panose="02020603050405020304" pitchFamily="18" charset="0"/>
                <a:ea typeface="Calibri" panose="020F0502020204030204" pitchFamily="34" charset="0"/>
              </a:rPr>
              <a:t>hantérts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sûrpovk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hishélov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317009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O Lord, receive us, save us, and have mercy upon us and guard us with your grace.</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Save us, Lord, and have mercy.</a:t>
            </a: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Remembering the most holy Mother of God, the ever virgin Mary, together with all the saints, let us beseech the Lord.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Ընկալ, կեցո եւ ողորմեա, եւ պահեա ըզմեզ, Տէր, քոյին շնորհիւդ:</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Կեցո, Տէր, եւ ողորմեա:</a:t>
            </a:r>
          </a:p>
          <a:p>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Զամենասըրբուհի զԱստուածածինն ըզմիշտ կոյսըն Մարիամ հանդերձ ամենայն սըրբովք յիշելով, ըզՏէր աղաչեսցուք:</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8C0030D-790A-9AAF-0BA1-0CC8094A0F1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23</a:t>
            </a:r>
          </a:p>
        </p:txBody>
      </p:sp>
    </p:spTree>
    <p:extLst>
      <p:ext uri="{BB962C8B-B14F-4D97-AF65-F5344CB8AC3E}">
        <p14:creationId xmlns:p14="http://schemas.microsoft.com/office/powerpoint/2010/main" val="219139133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Be mindful, O Lord, and have mercy. Lord have mercy. To you, Lord, we commit ourselves. Lord, have mercy, Lord, have mercy, Lord, have mercy.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Յիշեա, Տէր, եւ ողորմեա: Տէր ողորմեա։ Քեզ Տեառնըդ յանձն եղիցուք։ Տէր ողորմեա, Տէր ողորմեա, Տէր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E925AC6-0885-A602-224A-28393BD7B3D7}"/>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23</a:t>
            </a:r>
          </a:p>
        </p:txBody>
      </p:sp>
    </p:spTree>
    <p:extLst>
      <p:ext uri="{BB962C8B-B14F-4D97-AF65-F5344CB8AC3E}">
        <p14:creationId xmlns:p14="http://schemas.microsoft.com/office/powerpoint/2010/main" val="72481179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KAROZ</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SERMON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ՔԱՐՈԶ</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4EC996E-0103-18D1-88CE-AC57C675F964}"/>
              </a:ext>
            </a:extLst>
          </p:cNvPr>
          <p:cNvSpPr txBox="1"/>
          <p:nvPr/>
        </p:nvSpPr>
        <p:spPr>
          <a:xfrm>
            <a:off x="-11575" y="3376"/>
            <a:ext cx="16276320" cy="769441"/>
          </a:xfrm>
          <a:prstGeom prst="rect">
            <a:avLst/>
          </a:prstGeom>
          <a:noFill/>
          <a:ln>
            <a:noFill/>
          </a:ln>
        </p:spPr>
        <p:txBody>
          <a:bodyPr wrap="square" rtlCol="0">
            <a:spAutoFit/>
          </a:bodyPr>
          <a:lstStyle/>
          <a:p>
            <a:pPr algn="ctr"/>
            <a:r>
              <a:rPr lang="hy-AM" sz="4400" dirty="0">
                <a:solidFill>
                  <a:srgbClr val="00B0F0"/>
                </a:solidFill>
                <a:latin typeface="Times New Roman" panose="02020603050405020304" pitchFamily="18" charset="0"/>
                <a:ea typeface="Calibri" panose="020F0502020204030204" pitchFamily="34" charset="0"/>
              </a:rPr>
              <a:t>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SIT</a:t>
            </a:r>
          </a:p>
        </p:txBody>
      </p:sp>
    </p:spTree>
    <p:extLst>
      <p:ext uri="{BB962C8B-B14F-4D97-AF65-F5344CB8AC3E}">
        <p14:creationId xmlns:p14="http://schemas.microsoft.com/office/powerpoint/2010/main" val="368944341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door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hamartsagatsayn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parparov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panal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ûzpéranûs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gartal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yérgnavorût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yérkél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asél</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And grant us to address you with bold voice, to call upon you, O heavenly Father, to sing and say: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տուր մեզ համարձակաձայն բարբառով բանալ ըզբերանըս մեր, կարդալ ըզքեզ երկնաւորըդ Հայր, երգել եւ ասել.-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CAF0C4D-F18A-60BF-DAF7-26F2A3D0041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ՆՍՏԻԼ/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23</a:t>
            </a:r>
          </a:p>
        </p:txBody>
      </p:sp>
    </p:spTree>
    <p:extLst>
      <p:ext uri="{BB962C8B-B14F-4D97-AF65-F5344CB8AC3E}">
        <p14:creationId xmlns:p14="http://schemas.microsoft.com/office/powerpoint/2010/main" val="47094354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Hayr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hérgins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anoon</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Yégéstsé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arkayooty</a:t>
            </a:r>
            <a:r>
              <a:rPr lang="hy-AM" sz="4000" dirty="0">
                <a:latin typeface="Times New Roman" panose="02020603050405020304" pitchFamily="18" charset="0"/>
                <a:ea typeface="Calibri" panose="020F0502020204030204" pitchFamily="34" charset="0"/>
              </a:rPr>
              <a:t>-</a:t>
            </a:r>
            <a:r>
              <a:rPr lang="en-US" sz="4000" dirty="0" err="1">
                <a:latin typeface="Times New Roman" panose="02020603050405020304" pitchFamily="18" charset="0"/>
                <a:ea typeface="Calibri" panose="020F0502020204030204" pitchFamily="34" charset="0"/>
              </a:rPr>
              <a:t>oon</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Yéghitsin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gamk</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vorbés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hérgins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hérgri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hanabazort</a:t>
            </a:r>
            <a:r>
              <a:rPr lang="en-US" sz="4000" dirty="0">
                <a:latin typeface="Times New Roman" panose="02020603050405020304" pitchFamily="18" charset="0"/>
                <a:ea typeface="Calibri" panose="020F0502020204030204" pitchFamily="34" charset="0"/>
              </a:rPr>
              <a:t> door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aysor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Togh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ûzbardis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vorbés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toghoomk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bardabanats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mi </a:t>
            </a:r>
            <a:r>
              <a:rPr lang="en-US" sz="4000" dirty="0" err="1">
                <a:latin typeface="Times New Roman" panose="02020603050405020304" pitchFamily="18" charset="0"/>
                <a:ea typeface="Calibri" panose="020F0502020204030204" pitchFamily="34" charset="0"/>
              </a:rPr>
              <a:t>danir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zméz</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portsootyoon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pûrgya</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charé</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Our Father who art in heaven, hallowed be Thy name. Thy kingdom come. Thy will be done on earth as it is in heaven. Give us this day our daily bread. And forgive us our trespasses, as we forgive those who trespass against us. And lead us not into temptation, but deliver us from evil.</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Հայր մեր որ յերկինս ես, սուրբ եղիցի անուն քո: Եկեսցէ արքայութիւն քո. եղիցին կամք քո որպէս յերկինս եւ յերկրի: Զհաց մեր հանապազորդ տուր մեզ այսօր: Թող մեզ ըզպարտիս մեր, որպէս եւ մեք թողումք մերոց պարտապանաց: Եւ մի’ տանիր զմեզ ի փորձութիւն. այլ փըրկեա ի չարէ:</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5D5A735-4CBF-4AE5-FA54-E1A2F3BBAE4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24</a:t>
            </a:r>
          </a:p>
        </p:txBody>
      </p:sp>
    </p:spTree>
    <p:extLst>
      <p:ext uri="{BB962C8B-B14F-4D97-AF65-F5344CB8AC3E}">
        <p14:creationId xmlns:p14="http://schemas.microsoft.com/office/powerpoint/2010/main" val="248230842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Zi ko </a:t>
            </a:r>
            <a:r>
              <a:rPr lang="en-US" sz="4000" dirty="0" err="1">
                <a:latin typeface="Times New Roman" panose="02020603050405020304" pitchFamily="18" charset="0"/>
                <a:ea typeface="Calibri" panose="020F0502020204030204" pitchFamily="34" charset="0"/>
              </a:rPr>
              <a:t>yé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arkayootyoon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havidyans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p>
          <a:p>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koom</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For Thine is the kingdom and the power and the glory forever. Amen. </a:t>
            </a:r>
          </a:p>
          <a:p>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Peace be to all.</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And with your spirit.</a:t>
            </a:r>
            <a:endParaRPr lang="hy-AM"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Զի քո է արքայութիւն եւ զօրութիւն եւ փառք յաւիտեանս։ Ամէն: </a:t>
            </a:r>
          </a:p>
          <a:p>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Խաղաղութիւն ամենեցուն:  </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ընդ հոգւոյդ քում:</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D6C1660-8697-3206-D03E-C78AD38B2979}"/>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24</a:t>
            </a:r>
          </a:p>
        </p:txBody>
      </p:sp>
    </p:spTree>
    <p:extLst>
      <p:ext uri="{BB962C8B-B14F-4D97-AF65-F5344CB8AC3E}">
        <p14:creationId xmlns:p14="http://schemas.microsoft.com/office/powerpoint/2010/main" val="15490653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yérgirbakéstsook</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Arachi</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Let us bow down to God.</a:t>
            </a:r>
          </a:p>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To you we bow down, O Lord.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	</a:t>
            </a:r>
            <a:r>
              <a:rPr lang="hy-AM" sz="4000" dirty="0">
                <a:latin typeface="Arm HelvU" pitchFamily="2" charset="0"/>
                <a:ea typeface="Calibri" panose="020F0502020204030204" pitchFamily="34" charset="0"/>
              </a:rPr>
              <a:t>Աստուծոյ երկիրպագեսցուք:  </a:t>
            </a:r>
          </a:p>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Առաջի քո, Տէր:</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B925E53-4BDA-7E89-F4C2-93CDDD32B21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24</a:t>
            </a:r>
          </a:p>
        </p:txBody>
      </p:sp>
    </p:spTree>
    <p:extLst>
      <p:ext uri="{BB962C8B-B14F-4D97-AF65-F5344CB8AC3E}">
        <p14:creationId xmlns:p14="http://schemas.microsoft.com/office/powerpoint/2010/main" val="74951058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err="1">
                <a:latin typeface="Times New Roman" panose="02020603050405020304" pitchFamily="18" charset="0"/>
                <a:ea typeface="Calibri" panose="020F0502020204030204" pitchFamily="34" charset="0"/>
              </a:rPr>
              <a:t>Krisdosiv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aménagali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vayélé</a:t>
            </a:r>
            <a:r>
              <a:rPr lang="en-US" sz="4000" dirty="0">
                <a:latin typeface="Times New Roman" panose="02020603050405020304" pitchFamily="18" charset="0"/>
                <a:ea typeface="Calibri" panose="020F0502020204030204" pitchFamily="34" charset="0"/>
              </a:rPr>
              <a:t> park,</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ishkhanootyoon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Broskhoomé</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	</a:t>
            </a:r>
            <a:r>
              <a:rPr lang="en-US" sz="4000" dirty="0">
                <a:latin typeface="Times New Roman" panose="02020603050405020304" pitchFamily="18" charset="0"/>
                <a:ea typeface="Calibri" panose="020F0502020204030204" pitchFamily="34" charset="0"/>
              </a:rPr>
              <a:t>Through Jesus Christ, our Lord, with whom to you, O Holy Spirit, and to the almighty Father is befitting glory,</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dominion, and honor, now and always and forever and ever. Amen.</a:t>
            </a: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Be attentive.</a:t>
            </a:r>
            <a:r>
              <a:rPr lang="hy-AM" sz="4000" dirty="0">
                <a:latin typeface="Times New Roman" panose="02020603050405020304" pitchFamily="18" charset="0"/>
                <a:ea typeface="Calibri" panose="020F0502020204030204" pitchFamily="34" charset="0"/>
              </a:rPr>
              <a:t> </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Քրիստոսիւ, Յիսուսիւ Տէրամբ մերով, ընդ որում քեզ Հոգւոյդ Սրբոյ եւ Հօր ամենակալի վայել է փառք, իշխանութիւն եւ պատիւ, այժմ եւ միշտ եւ յաւիտեանս յաւիտենից։ Ամէն:  </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Պռօսխումէ: </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BDB0427-5C97-AE07-69C6-9BE35FCC5B6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24</a:t>
            </a:r>
          </a:p>
        </p:txBody>
      </p:sp>
    </p:spTree>
    <p:extLst>
      <p:ext uri="{BB962C8B-B14F-4D97-AF65-F5344CB8AC3E}">
        <p14:creationId xmlns:p14="http://schemas.microsoft.com/office/powerpoint/2010/main" val="2828532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sûrpootyoon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sûrpots</a:t>
            </a:r>
            <a:r>
              <a:rPr lang="en-US" sz="4000" dirty="0">
                <a:latin typeface="Times New Roman" panose="02020603050405020304" pitchFamily="18" charset="0"/>
                <a:ea typeface="Calibri" panose="020F0502020204030204" pitchFamily="34" charset="0"/>
              </a:rPr>
              <a:t>. </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Miyayn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miyayn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i pars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Hor.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For the holiness of the holy ones. </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Jesus Christ, you are the only holy, the only Lord for the glory of God the Father. Amen.</a:t>
            </a:r>
            <a:endParaRPr lang="hy-AM"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Ի սրբութիւն սրբոց:  </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Միայն սուրբ, միայն Տէր, Յիսուս Քրիստոս, ի փառս Աստուծոյ Հօր։ Ամէն:</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3B77F8C-6235-9532-3C07-2D91EC163713}"/>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24</a:t>
            </a:r>
          </a:p>
        </p:txBody>
      </p:sp>
    </p:spTree>
    <p:extLst>
      <p:ext uri="{BB962C8B-B14F-4D97-AF65-F5344CB8AC3E}">
        <p14:creationId xmlns:p14="http://schemas.microsoft.com/office/powerpoint/2010/main" val="401812838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jûshmarid</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Vortit</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jûshmarid</a:t>
            </a:r>
            <a:r>
              <a:rPr lang="en-US" sz="4000" dirty="0">
                <a:latin typeface="Times New Roman" panose="02020603050405020304" pitchFamily="18" charset="0"/>
                <a:ea typeface="Calibri" panose="020F0502020204030204" pitchFamily="34" charset="0"/>
              </a:rPr>
              <a:t>. </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Blessed are you Holy Father, true God.</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Amen.</a:t>
            </a:r>
            <a:endParaRPr lang="hy-AM" sz="4000" dirty="0">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Blessed are you </a:t>
            </a:r>
            <a:r>
              <a:rPr lang="en-US" sz="4000" dirty="0">
                <a:solidFill>
                  <a:prstClr val="black"/>
                </a:solidFill>
                <a:latin typeface="Times New Roman" panose="02020603050405020304" pitchFamily="18" charset="0"/>
                <a:ea typeface="Calibri" panose="020F0502020204030204" pitchFamily="34" charset="0"/>
              </a:rPr>
              <a:t>Holy Son</a:t>
            </a:r>
            <a:r>
              <a:rPr lang="en-US" sz="4000" dirty="0">
                <a:latin typeface="Times New Roman" panose="02020603050405020304" pitchFamily="18" charset="0"/>
                <a:ea typeface="Calibri" panose="020F0502020204030204" pitchFamily="34" charset="0"/>
              </a:rPr>
              <a:t>, true God.</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Օրհնեալ Հայր Սուրբ, Աստուած </a:t>
            </a:r>
            <a:r>
              <a:rPr lang="en-US" sz="4000" dirty="0">
                <a:latin typeface="Arm HelvU" pitchFamily="2" charset="0"/>
                <a:ea typeface="Calibri" panose="020F0502020204030204" pitchFamily="34" charset="0"/>
              </a:rPr>
              <a:t>q</a:t>
            </a:r>
            <a:r>
              <a:rPr lang="hy-AM" sz="4000" dirty="0">
                <a:latin typeface="Arm HelvU" pitchFamily="2" charset="0"/>
                <a:ea typeface="Calibri" panose="020F0502020204030204" pitchFamily="34" charset="0"/>
              </a:rPr>
              <a:t>շմարիտ:</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Ամէն:</a:t>
            </a:r>
          </a:p>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Օրհնեալ Որդիդ Սուրբ, Աստուած </a:t>
            </a:r>
            <a:r>
              <a:rPr lang="en-US" sz="4000" dirty="0">
                <a:latin typeface="Arm HelvU" pitchFamily="2" charset="0"/>
                <a:ea typeface="Calibri" panose="020F0502020204030204" pitchFamily="34" charset="0"/>
              </a:rPr>
              <a:t>q</a:t>
            </a:r>
            <a:r>
              <a:rPr lang="hy-AM" sz="4000" dirty="0">
                <a:latin typeface="Arm HelvU" pitchFamily="2" charset="0"/>
                <a:ea typeface="Calibri" panose="020F0502020204030204" pitchFamily="34" charset="0"/>
              </a:rPr>
              <a:t>շմարիտ:</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Ամէն: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4560CC2-D969-F88C-3018-51FCB7A8B340}"/>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24</a:t>
            </a:r>
          </a:p>
        </p:txBody>
      </p:sp>
    </p:spTree>
    <p:extLst>
      <p:ext uri="{BB962C8B-B14F-4D97-AF65-F5344CB8AC3E}">
        <p14:creationId xmlns:p14="http://schemas.microsoft.com/office/powerpoint/2010/main" val="155388890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Hokit</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jûshmarid</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r>
              <a:rPr lang="en-US" sz="4000" dirty="0">
                <a:solidFill>
                  <a:srgbClr val="FF0000"/>
                </a:solidFill>
                <a:latin typeface="Times New Roman" panose="02020603050405020304" pitchFamily="18" charset="0"/>
                <a:ea typeface="Calibri" panose="020F0502020204030204" pitchFamily="34" charset="0"/>
              </a:rPr>
              <a:t> </a:t>
            </a:r>
            <a:endParaRPr lang="hy-AM" sz="4000" dirty="0">
              <a:solidFill>
                <a:srgbClr val="FF0000"/>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Blessed are you Holy </a:t>
            </a:r>
            <a:r>
              <a:rPr lang="en-US" sz="4000" dirty="0">
                <a:solidFill>
                  <a:prstClr val="black"/>
                </a:solidFill>
                <a:latin typeface="Times New Roman" panose="02020603050405020304" pitchFamily="18" charset="0"/>
                <a:ea typeface="Calibri" panose="020F0502020204030204" pitchFamily="34" charset="0"/>
              </a:rPr>
              <a:t>Spirit</a:t>
            </a:r>
            <a:r>
              <a:rPr lang="en-US" sz="4000" dirty="0">
                <a:latin typeface="Times New Roman" panose="02020603050405020304" pitchFamily="18" charset="0"/>
                <a:ea typeface="Calibri" panose="020F0502020204030204" pitchFamily="34" charset="0"/>
              </a:rPr>
              <a:t>, true God.</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Amen.</a:t>
            </a:r>
            <a:endParaRPr lang="hy-AM" sz="4000" dirty="0">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Blessing and glory be to the Father and to the Son and to the Holy Spirit, now and always and forever and 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Օրհնեալ Հոգիդ Սուրբ, Աստուած </a:t>
            </a:r>
            <a:r>
              <a:rPr lang="en-US" sz="4000" dirty="0">
                <a:latin typeface="Arm HelvU" pitchFamily="2" charset="0"/>
                <a:ea typeface="Calibri" panose="020F0502020204030204" pitchFamily="34" charset="0"/>
              </a:rPr>
              <a:t>q</a:t>
            </a:r>
            <a:r>
              <a:rPr lang="hy-AM" sz="4000" dirty="0">
                <a:latin typeface="Arm HelvU" pitchFamily="2" charset="0"/>
                <a:ea typeface="Calibri" panose="020F0502020204030204" pitchFamily="34" charset="0"/>
              </a:rPr>
              <a:t>շմարիտ:</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Ամէն:</a:t>
            </a:r>
          </a:p>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Օրհնութիւն եւ փառք Հօր եւ Որդւոյ եւ Հոգւոյն Սրբոյ, այժմ եւ միշտ եւ յաւիտեանս յաւիտենից։ Ամէն: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9ABDB7A-8E19-EBC3-B349-1D327E121D2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25</a:t>
            </a:r>
          </a:p>
        </p:txBody>
      </p:sp>
    </p:spTree>
    <p:extLst>
      <p:ext uri="{BB962C8B-B14F-4D97-AF65-F5344CB8AC3E}">
        <p14:creationId xmlns:p14="http://schemas.microsoft.com/office/powerpoint/2010/main" val="28334246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Vortit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Hokit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Amen. The Father is holy. The Son is holy. The Spirit is holy. Glory be to the Father and to the Son and to the Holy Spirit, now and always and forever and ever. Amen.</a:t>
            </a:r>
            <a:endParaRPr lang="hy-AM"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Ամէն։ Հայր Սուրբ, Որդիդ Սուրբ, Հոգիդ Սուրբ: Օրհնութիւն Հօր եւ Որդւոյ եւ Սըրբոյ Հոգւոյն, այժմ եւ միշտ եւ յաւիտեանս յաւիտենից։ Ամէն:</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B4815B6-713D-E47B-DBA4-BE294507F3F7}"/>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25</a:t>
            </a:r>
          </a:p>
        </p:txBody>
      </p:sp>
    </p:spTree>
    <p:extLst>
      <p:ext uri="{BB962C8B-B14F-4D97-AF65-F5344CB8AC3E}">
        <p14:creationId xmlns:p14="http://schemas.microsoft.com/office/powerpoint/2010/main" val="291507076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pPr algn="l"/>
            <a:r>
              <a:rPr lang="en-US" sz="4000" b="0" u="none" strike="noStrike" baseline="0" dirty="0">
                <a:solidFill>
                  <a:srgbClr val="FF0000"/>
                </a:solidFill>
                <a:latin typeface="Times New Roman" panose="02020603050405020304" pitchFamily="18" charset="0"/>
                <a:cs typeface="Times New Roman" panose="02020603050405020304" pitchFamily="18" charset="0"/>
              </a:rPr>
              <a:t>CLB. </a:t>
            </a:r>
            <a:r>
              <a:rPr lang="en-US" sz="4000" b="0" u="none" strike="noStrike" baseline="0" dirty="0">
                <a:latin typeface="Times New Roman" panose="02020603050405020304" pitchFamily="18" charset="0"/>
                <a:cs typeface="Times New Roman" panose="02020603050405020304" pitchFamily="18" charset="0"/>
              </a:rPr>
              <a:t>i </a:t>
            </a:r>
            <a:r>
              <a:rPr lang="en-US" sz="4000" b="0" u="none" strike="noStrike" baseline="0" dirty="0" err="1">
                <a:latin typeface="Times New Roman" panose="02020603050405020304" pitchFamily="18" charset="0"/>
                <a:cs typeface="Times New Roman" panose="02020603050405020304" pitchFamily="18" charset="0"/>
              </a:rPr>
              <a:t>soorp</a:t>
            </a:r>
            <a:r>
              <a:rPr lang="en-US" sz="4000" b="0" u="none" strike="noStrike" baseline="0" dirty="0">
                <a:latin typeface="Times New Roman" panose="02020603050405020304" pitchFamily="18" charset="0"/>
                <a:cs typeface="Times New Roman" panose="02020603050405020304" pitchFamily="18" charset="0"/>
              </a:rPr>
              <a:t>, i </a:t>
            </a:r>
            <a:r>
              <a:rPr lang="en-US" sz="4000" b="0" u="none" strike="noStrike" baseline="0" dirty="0" err="1">
                <a:latin typeface="Times New Roman" panose="02020603050405020304" pitchFamily="18" charset="0"/>
                <a:cs typeface="Times New Roman" panose="02020603050405020304" pitchFamily="18" charset="0"/>
              </a:rPr>
              <a:t>soorp</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badvagan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marmno</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haréné</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Dyarûn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méro</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pûrgchin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Hisoosi</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Krisdosi</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jashagéstsook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sûrpootyamp</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vor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ichyal</a:t>
            </a:r>
            <a:r>
              <a:rPr lang="en-US" sz="4000" b="0" u="none" strike="noStrike" baseline="0" dirty="0">
                <a:latin typeface="Times New Roman" panose="02020603050405020304" pitchFamily="18" charset="0"/>
                <a:cs typeface="Times New Roman" panose="02020603050405020304" pitchFamily="18" charset="0"/>
              </a:rPr>
              <a:t> I </a:t>
            </a:r>
            <a:r>
              <a:rPr lang="en-US" sz="4000" b="0" u="none" strike="noStrike" baseline="0" dirty="0" err="1">
                <a:latin typeface="Times New Roman" panose="02020603050405020304" pitchFamily="18" charset="0"/>
                <a:cs typeface="Times New Roman" panose="02020603050405020304" pitchFamily="18" charset="0"/>
              </a:rPr>
              <a:t>hérgnits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pashkhi</a:t>
            </a:r>
            <a:r>
              <a:rPr lang="en-US" sz="4000" b="0" u="none" strike="noStrike" baseline="0" dirty="0">
                <a:latin typeface="Times New Roman" panose="02020603050405020304" pitchFamily="18" charset="0"/>
                <a:cs typeface="Times New Roman" panose="02020603050405020304" pitchFamily="18" charset="0"/>
              </a:rPr>
              <a:t> i </a:t>
            </a:r>
            <a:r>
              <a:rPr lang="en-US" sz="4000" b="0" u="none" strike="noStrike" baseline="0" dirty="0" err="1">
                <a:latin typeface="Times New Roman" panose="02020603050405020304" pitchFamily="18" charset="0"/>
                <a:cs typeface="Times New Roman" panose="02020603050405020304" pitchFamily="18" charset="0"/>
              </a:rPr>
              <a:t>michi</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méroom</a:t>
            </a:r>
            <a:r>
              <a:rPr lang="en-US" sz="4000" b="0" u="none" strike="noStrike" baseline="0" dirty="0">
                <a:latin typeface="Times New Roman" panose="02020603050405020304" pitchFamily="18" charset="0"/>
                <a:cs typeface="Times New Roman" panose="02020603050405020304" pitchFamily="18" charset="0"/>
              </a:rPr>
              <a:t>.</a:t>
            </a:r>
            <a:endParaRPr lang="hy-AM"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pPr algn="l"/>
            <a:r>
              <a:rPr lang="en-US" sz="4000" b="0" i="0" u="none" strike="noStrike" baseline="0" dirty="0">
                <a:solidFill>
                  <a:srgbClr val="FF0000"/>
                </a:solidFill>
                <a:latin typeface="Times New Roman" panose="02020603050405020304" pitchFamily="18" charset="0"/>
                <a:cs typeface="Times New Roman" panose="02020603050405020304" pitchFamily="18" charset="0"/>
              </a:rPr>
              <a:t>CLB.</a:t>
            </a:r>
            <a:r>
              <a:rPr lang="en-US" sz="4000" b="0" i="0" u="none" strike="noStrike" baseline="0" dirty="0">
                <a:latin typeface="Times New Roman" panose="02020603050405020304" pitchFamily="18" charset="0"/>
                <a:cs typeface="Times New Roman" panose="02020603050405020304" pitchFamily="18" charset="0"/>
              </a:rPr>
              <a:t> In holiness let us partake of the most holy and precious body and blood of our Lord and Savior Jesus Christ, who descending from heaven, is distributed among us.</a:t>
            </a:r>
            <a:endParaRPr lang="hy-AM"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Ի սուրբ, ի սուրբ, պատուական մարմնոյ եւ յարենէ Տեառն մերոյ եւ փրկչին Յիսուսի Քրիստոսի ճաշակեսցուք սրբութեամբ, որ իջեալ ի յերկնից բաշխի ի միջի մերում:</a:t>
            </a:r>
          </a:p>
          <a:p>
            <a:endParaRPr lang="hy-AM"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6A8B191-736D-49B6-1B98-08AEA2F3727F}"/>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25</a:t>
            </a:r>
          </a:p>
        </p:txBody>
      </p:sp>
    </p:spTree>
    <p:extLst>
      <p:ext uri="{BB962C8B-B14F-4D97-AF65-F5344CB8AC3E}">
        <p14:creationId xmlns:p14="http://schemas.microsoft.com/office/powerpoint/2010/main" val="250046220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pPr algn="l"/>
            <a:r>
              <a:rPr lang="en-US" sz="4000" b="0" u="none" strike="noStrike" baseline="0" dirty="0">
                <a:solidFill>
                  <a:srgbClr val="FF0000"/>
                </a:solidFill>
                <a:latin typeface="Times New Roman" panose="02020603050405020304" pitchFamily="18" charset="0"/>
                <a:cs typeface="Times New Roman" panose="02020603050405020304" pitchFamily="18" charset="0"/>
              </a:rPr>
              <a:t>CLB. </a:t>
            </a:r>
            <a:r>
              <a:rPr lang="en-US" sz="4000" b="0" u="none" strike="noStrike" baseline="0" dirty="0">
                <a:latin typeface="Wingdings-Regular"/>
              </a:rPr>
              <a:t>X </a:t>
            </a:r>
            <a:r>
              <a:rPr lang="en-US" sz="4000" b="0" u="none" strike="noStrike" baseline="0" dirty="0" err="1">
                <a:latin typeface="Times New Roman" panose="02020603050405020304" pitchFamily="18" charset="0"/>
                <a:cs typeface="Times New Roman" panose="02020603050405020304" pitchFamily="18" charset="0"/>
              </a:rPr>
              <a:t>sa</a:t>
            </a:r>
            <a:r>
              <a:rPr lang="en-US" sz="4000" b="0" u="none" strike="noStrike" baseline="0" dirty="0">
                <a:latin typeface="Times New Roman" panose="02020603050405020304" pitchFamily="18" charset="0"/>
                <a:cs typeface="Times New Roman" panose="02020603050405020304" pitchFamily="18" charset="0"/>
              </a:rPr>
              <a:t> é </a:t>
            </a:r>
            <a:r>
              <a:rPr lang="en-US" sz="4000" b="0" u="none" strike="noStrike" baseline="0" dirty="0" err="1">
                <a:latin typeface="Times New Roman" panose="02020603050405020304" pitchFamily="18" charset="0"/>
                <a:cs typeface="Times New Roman" panose="02020603050405020304" pitchFamily="18" charset="0"/>
              </a:rPr>
              <a:t>gyank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hooys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harootyoon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kavootyoon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toghootyoon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méghats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Saghmos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asatsék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Dyarn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Asdoodzo</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méroom</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saghmos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asatsék</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yérgnavor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takavoris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méroom</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anmahi</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vor</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nûsdi</a:t>
            </a:r>
            <a:r>
              <a:rPr lang="en-US" sz="4000" b="0" u="none" strike="noStrike" baseline="0" dirty="0">
                <a:latin typeface="Times New Roman" panose="02020603050405020304" pitchFamily="18" charset="0"/>
                <a:cs typeface="Times New Roman" panose="02020603050405020304" pitchFamily="18" charset="0"/>
              </a:rPr>
              <a:t> I </a:t>
            </a:r>
            <a:r>
              <a:rPr lang="en-US" sz="4000" b="0" u="none" strike="noStrike" baseline="0" dirty="0" err="1">
                <a:latin typeface="Times New Roman" panose="02020603050405020304" pitchFamily="18" charset="0"/>
                <a:cs typeface="Times New Roman" panose="02020603050405020304" pitchFamily="18" charset="0"/>
              </a:rPr>
              <a:t>garûs</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kérovpéyagans</a:t>
            </a:r>
            <a:r>
              <a:rPr lang="en-US" sz="4000" b="0" u="none" strike="noStrike" baseline="0" dirty="0">
                <a:latin typeface="Times New Roman" panose="02020603050405020304" pitchFamily="18" charset="0"/>
                <a:cs typeface="Times New Roman" panose="02020603050405020304" pitchFamily="18" charset="0"/>
              </a:rPr>
              <a:t>.</a:t>
            </a:r>
            <a:endParaRPr lang="hy-AM"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6032724"/>
            <a:ext cx="16276320" cy="1938992"/>
          </a:xfrm>
          <a:prstGeom prst="rect">
            <a:avLst/>
          </a:prstGeom>
          <a:noFill/>
          <a:ln>
            <a:noFill/>
          </a:ln>
        </p:spPr>
        <p:txBody>
          <a:bodyPr wrap="square" rtlCol="0">
            <a:spAutoFit/>
          </a:bodyPr>
          <a:lstStyle/>
          <a:p>
            <a:pPr algn="l"/>
            <a:r>
              <a:rPr lang="en-US" sz="4000" b="0" u="none" strike="noStrike" baseline="0" dirty="0">
                <a:solidFill>
                  <a:srgbClr val="FF0000"/>
                </a:solidFill>
                <a:latin typeface="Times New Roman" panose="02020603050405020304" pitchFamily="18" charset="0"/>
                <a:cs typeface="Times New Roman" panose="02020603050405020304" pitchFamily="18" charset="0"/>
              </a:rPr>
              <a:t>CLB. </a:t>
            </a:r>
            <a:r>
              <a:rPr lang="en-US" sz="4000" b="0" i="0" u="none" strike="noStrike" baseline="0" dirty="0">
                <a:latin typeface="Wingdings-Regular"/>
              </a:rPr>
              <a:t>X </a:t>
            </a:r>
            <a:r>
              <a:rPr lang="en-US" sz="4000" b="0" i="0" u="none" strike="noStrike" baseline="0" dirty="0">
                <a:latin typeface="Times New Roman" panose="02020603050405020304" pitchFamily="18" charset="0"/>
                <a:cs typeface="Times New Roman" panose="02020603050405020304" pitchFamily="18" charset="0"/>
              </a:rPr>
              <a:t>This is life, hope, resurrection, expiation, and forgiveness of sins. Sing psalms to the Lord our God, sing psalms to our heavenly immortal King, who rides in cherubic chariots.</a:t>
            </a:r>
            <a:endParaRPr lang="hy-AM"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 </a:t>
            </a:r>
            <a:r>
              <a:rPr lang="en-US" sz="4000" dirty="0">
                <a:latin typeface="Wingdings" panose="05000000000000000000" pitchFamily="2" charset="2"/>
                <a:ea typeface="Calibri" panose="020F0502020204030204" pitchFamily="34" charset="0"/>
              </a:rPr>
              <a:t>X </a:t>
            </a:r>
            <a:r>
              <a:rPr lang="hy-AM" sz="4000" dirty="0">
                <a:latin typeface="Arm HelvU" pitchFamily="2" charset="0"/>
                <a:ea typeface="Calibri" panose="020F0502020204030204" pitchFamily="34" charset="0"/>
              </a:rPr>
              <a:t>Սա է կեանք, յոյս, յարութիւն, քաւութիւն եւ թողութիւն մեղաց: Սաղմոս ասացէք Տեառն Աստուծոյ մերում, սաղմոս ասացէք երկնաւոր թագաւորիս մերում անմահի, որ նստի ի կառս քերովբէականս: </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8FEEE2B-9EE2-B364-3A76-FE6AF87098B0}"/>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25</a:t>
            </a:r>
          </a:p>
        </p:txBody>
      </p:sp>
    </p:spTree>
    <p:extLst>
      <p:ext uri="{BB962C8B-B14F-4D97-AF65-F5344CB8AC3E}">
        <p14:creationId xmlns:p14="http://schemas.microsoft.com/office/powerpoint/2010/main" val="384420882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Yérrortootyoon</a:t>
            </a:r>
            <a:r>
              <a:rPr lang="en-US" sz="4000" dirty="0">
                <a:latin typeface="Times New Roman" panose="02020603050405020304" pitchFamily="18" charset="0"/>
                <a:ea typeface="Calibri" panose="020F0502020204030204" pitchFamily="34" charset="0"/>
              </a:rPr>
              <a:t>, door </a:t>
            </a:r>
            <a:r>
              <a:rPr lang="en-US" sz="4000" dirty="0" err="1">
                <a:latin typeface="Times New Roman" panose="02020603050405020304" pitchFamily="18" charset="0"/>
                <a:ea typeface="Calibri" panose="020F0502020204030204" pitchFamily="34" charset="0"/>
              </a:rPr>
              <a:t>ashkharhis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khaghaghootyoon</a:t>
            </a:r>
            <a:r>
              <a:rPr lang="en-US" sz="4000" dirty="0">
                <a:latin typeface="Times New Roman" panose="02020603050405020304" pitchFamily="18" charset="0"/>
                <a:ea typeface="Calibri" panose="020F0502020204030204" pitchFamily="34" charset="0"/>
              </a:rPr>
              <a:t>.</a:t>
            </a:r>
            <a:endParaRPr lang="en-US" sz="4000" dirty="0">
              <a:solidFill>
                <a:schemeClr val="accent1">
                  <a:lumMod val="75000"/>
                </a:schemeClr>
              </a:solidFill>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846659"/>
          </a:xfrm>
          <a:prstGeom prst="rect">
            <a:avLst/>
          </a:prstGeom>
          <a:noFill/>
          <a:ln>
            <a:noFill/>
          </a:ln>
        </p:spPr>
        <p:txBody>
          <a:bodyPr wrap="square" rtlCol="0">
            <a:spAutoFit/>
          </a:bodyPr>
          <a:lstStyle/>
          <a:p>
            <a:r>
              <a:rPr lang="en-US" sz="3800" dirty="0">
                <a:solidFill>
                  <a:srgbClr val="00B050"/>
                </a:solidFill>
                <a:latin typeface="Times New Roman" panose="02020603050405020304" pitchFamily="18" charset="0"/>
                <a:ea typeface="Calibri" panose="020F0502020204030204" pitchFamily="34" charset="0"/>
              </a:rPr>
              <a:t>CHR.</a:t>
            </a:r>
            <a:r>
              <a:rPr lang="en-US" sz="3800" dirty="0">
                <a:latin typeface="Times New Roman" panose="02020603050405020304" pitchFamily="18" charset="0"/>
                <a:ea typeface="Calibri" panose="020F0502020204030204" pitchFamily="34" charset="0"/>
              </a:rPr>
              <a:t>	Lord, have mercy, Lord, have mercy, Lord, have mercy, Lord, have mercy.</a:t>
            </a:r>
            <a:endParaRPr lang="en-US" sz="3800" dirty="0">
              <a:solidFill>
                <a:schemeClr val="accent1">
                  <a:lumMod val="75000"/>
                </a:schemeClr>
              </a:solidFill>
              <a:latin typeface="Times New Roman" panose="02020603050405020304" pitchFamily="18" charset="0"/>
              <a:ea typeface="Calibri" panose="020F0502020204030204" pitchFamily="34" charset="0"/>
            </a:endParaRPr>
          </a:p>
          <a:p>
            <a:r>
              <a:rPr lang="en-US" sz="3800" dirty="0">
                <a:solidFill>
                  <a:schemeClr val="accent1">
                    <a:lumMod val="75000"/>
                  </a:schemeClr>
                </a:solidFill>
                <a:latin typeface="Times New Roman" panose="02020603050405020304" pitchFamily="18" charset="0"/>
                <a:ea typeface="Calibri" panose="020F0502020204030204" pitchFamily="34" charset="0"/>
              </a:rPr>
              <a:t>DCN.</a:t>
            </a:r>
            <a:r>
              <a:rPr lang="en-US" sz="3800" dirty="0">
                <a:latin typeface="Times New Roman" panose="02020603050405020304" pitchFamily="18" charset="0"/>
                <a:ea typeface="Calibri" panose="020F0502020204030204" pitchFamily="34" charset="0"/>
              </a:rPr>
              <a:t>	Lord, have mercy, Lord, have mercy, Lord, have mercy, Lord, have mercy.</a:t>
            </a:r>
          </a:p>
          <a:p>
            <a:r>
              <a:rPr lang="en-US" sz="3800" dirty="0">
                <a:solidFill>
                  <a:srgbClr val="00B050"/>
                </a:solidFill>
                <a:latin typeface="Times New Roman" panose="02020603050405020304" pitchFamily="18" charset="0"/>
                <a:ea typeface="Calibri" panose="020F0502020204030204" pitchFamily="34" charset="0"/>
              </a:rPr>
              <a:t>CHR.</a:t>
            </a:r>
            <a:r>
              <a:rPr lang="en-US" sz="3800" dirty="0">
                <a:latin typeface="Times New Roman" panose="02020603050405020304" pitchFamily="18" charset="0"/>
                <a:ea typeface="Calibri" panose="020F0502020204030204" pitchFamily="34" charset="0"/>
              </a:rPr>
              <a:t>	O all-Holy Trinity, grant peace to the world.</a:t>
            </a:r>
            <a:endParaRPr lang="en-US" sz="3800" dirty="0">
              <a:solidFill>
                <a:schemeClr val="accent1">
                  <a:lumMod val="75000"/>
                </a:schemeClr>
              </a:solidFill>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cs typeface="Times New Roman" panose="02020603050405020304" pitchFamily="18" charset="0"/>
              </a:rPr>
              <a:t>ԴՊՐ. </a:t>
            </a:r>
            <a:r>
              <a:rPr lang="hy-AM" sz="4000" dirty="0">
                <a:latin typeface="Arm HelvU" pitchFamily="2" charset="0"/>
                <a:ea typeface="Calibri" panose="020F0502020204030204" pitchFamily="34" charset="0"/>
                <a:cs typeface="Times New Roman" panose="02020603050405020304" pitchFamily="18" charset="0"/>
              </a:rPr>
              <a:t>Տէր ողորմեա, Տէր ողորմեա, Տէր ողորմեա, Տէր ողորմեա:</a:t>
            </a:r>
          </a:p>
          <a:p>
            <a:r>
              <a:rPr lang="hy-AM" sz="4000" dirty="0">
                <a:solidFill>
                  <a:schemeClr val="accent1">
                    <a:lumMod val="75000"/>
                  </a:schemeClr>
                </a:solidFill>
                <a:latin typeface="Arm HelvU" pitchFamily="2" charset="0"/>
                <a:ea typeface="Calibri" panose="020F0502020204030204" pitchFamily="34" charset="0"/>
                <a:cs typeface="Times New Roman" panose="02020603050405020304" pitchFamily="18" charset="0"/>
              </a:rPr>
              <a:t>ՍՐԿ.</a:t>
            </a:r>
            <a:r>
              <a:rPr lang="hy-AM" sz="4000" dirty="0">
                <a:latin typeface="Arm HelvU" pitchFamily="2" charset="0"/>
                <a:ea typeface="Calibri" panose="020F0502020204030204" pitchFamily="34" charset="0"/>
                <a:cs typeface="Times New Roman" panose="02020603050405020304" pitchFamily="18" charset="0"/>
              </a:rPr>
              <a:t>	Տէր ողորմեա, Տէր ողորմեա, Տէր ողորմեա, Տէր ողորմեա:</a:t>
            </a:r>
          </a:p>
          <a:p>
            <a:r>
              <a:rPr lang="hy-AM" sz="4000" dirty="0">
                <a:solidFill>
                  <a:srgbClr val="00B050"/>
                </a:solidFill>
                <a:latin typeface="Arm HelvU" pitchFamily="2" charset="0"/>
                <a:ea typeface="Calibri" panose="020F0502020204030204" pitchFamily="34" charset="0"/>
                <a:cs typeface="Times New Roman" panose="02020603050405020304" pitchFamily="18" charset="0"/>
              </a:rPr>
              <a:t>ԴՊՐ. </a:t>
            </a:r>
            <a:r>
              <a:rPr lang="hy-AM" sz="4000" dirty="0">
                <a:latin typeface="Arm HelvU" pitchFamily="2" charset="0"/>
                <a:ea typeface="Calibri" panose="020F0502020204030204" pitchFamily="34" charset="0"/>
                <a:cs typeface="Times New Roman" panose="02020603050405020304" pitchFamily="18" charset="0"/>
              </a:rPr>
              <a:t>Ամենասուրբ Երրորդութիւն, տուր աշխարհիս խաղաղութիւն: </a:t>
            </a:r>
          </a:p>
          <a:p>
            <a:endParaRPr lang="en-US" sz="4000" dirty="0">
              <a:solidFill>
                <a:schemeClr val="accent1">
                  <a:lumMod val="75000"/>
                </a:schemeClr>
              </a:solidFill>
              <a:latin typeface="Arm HelvU" pitchFamily="2" charset="0"/>
              <a:ea typeface="Calibri" panose="020F0502020204030204" pitchFamily="34" charset="0"/>
              <a:cs typeface="Times New Roman" panose="02020603050405020304" pitchFamily="18"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055A0A1-C5A1-3515-C259-6EA9FCE96B26}"/>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ՆՍՏՒԼ/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                    Էջ/</a:t>
            </a:r>
            <a:r>
              <a:rPr lang="en-US" sz="4400" dirty="0">
                <a:solidFill>
                  <a:srgbClr val="00B0F0"/>
                </a:solidFill>
                <a:latin typeface="Times New Roman" panose="02020603050405020304" pitchFamily="18" charset="0"/>
                <a:ea typeface="Calibri" panose="020F0502020204030204" pitchFamily="34" charset="0"/>
              </a:rPr>
              <a:t>Page 25</a:t>
            </a:r>
          </a:p>
        </p:txBody>
      </p:sp>
    </p:spTree>
    <p:extLst>
      <p:ext uri="{BB962C8B-B14F-4D97-AF65-F5344CB8AC3E}">
        <p14:creationId xmlns:p14="http://schemas.microsoft.com/office/powerpoint/2010/main" val="38807922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hivantats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pûzhûshgootyoon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nûnchétsélots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arkayootyoon</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latin typeface="Times New Roman" panose="02020603050405020304" pitchFamily="18" charset="0"/>
                <a:ea typeface="Calibri" panose="020F0502020204030204" pitchFamily="34" charset="0"/>
              </a:rPr>
              <a:t>Gam</a:t>
            </a:r>
          </a:p>
          <a:p>
            <a:r>
              <a:rPr lang="en-US" sz="4000" dirty="0">
                <a:solidFill>
                  <a:srgbClr val="00B050"/>
                </a:solidFill>
                <a:latin typeface="TimesNewRomanPSMT"/>
              </a:rPr>
              <a:t>CHR. </a:t>
            </a:r>
            <a:r>
              <a:rPr lang="en-US" sz="4000" dirty="0">
                <a:latin typeface="TimesNewRomanPS-ItalicMT"/>
              </a:rPr>
              <a:t>Ari </a:t>
            </a:r>
            <a:r>
              <a:rPr lang="en-US" sz="4000" dirty="0" err="1">
                <a:latin typeface="TimesNewRomanPS-ItalicMT"/>
              </a:rPr>
              <a:t>Asdvadz</a:t>
            </a:r>
            <a:r>
              <a:rPr lang="en-US" sz="4000" dirty="0">
                <a:latin typeface="TimesNewRomanPS-ItalicMT"/>
              </a:rPr>
              <a:t> </a:t>
            </a:r>
            <a:r>
              <a:rPr lang="en-US" sz="4000" dirty="0" err="1">
                <a:latin typeface="TimesNewRomanPS-ItalicMT"/>
              </a:rPr>
              <a:t>hartsûn</a:t>
            </a:r>
            <a:r>
              <a:rPr lang="en-US" sz="4000" dirty="0">
                <a:latin typeface="TimesNewRomanPS-ItalicMT"/>
              </a:rPr>
              <a:t> </a:t>
            </a:r>
            <a:r>
              <a:rPr lang="en-US" sz="4000" dirty="0" err="1">
                <a:latin typeface="TimesNewRomanPS-ItalicMT"/>
              </a:rPr>
              <a:t>mérots</a:t>
            </a:r>
            <a:r>
              <a:rPr lang="en-US" sz="4000" dirty="0">
                <a:latin typeface="TimesNewRomanPS-ItalicMT"/>
              </a:rPr>
              <a:t>, </a:t>
            </a:r>
            <a:r>
              <a:rPr lang="en-US" sz="4000" dirty="0" err="1">
                <a:latin typeface="TimesNewRomanPS-ItalicMT"/>
              </a:rPr>
              <a:t>vor</a:t>
            </a:r>
            <a:r>
              <a:rPr lang="en-US" sz="4000" dirty="0">
                <a:latin typeface="TimesNewRomanPS-ItalicMT"/>
              </a:rPr>
              <a:t> </a:t>
            </a:r>
            <a:r>
              <a:rPr lang="en-US" sz="4000" dirty="0" err="1">
                <a:latin typeface="TimesNewRomanPS-ItalicMT"/>
              </a:rPr>
              <a:t>abavént</a:t>
            </a:r>
            <a:r>
              <a:rPr lang="en-US" sz="4000" dirty="0">
                <a:latin typeface="TimesNewRomanPS-ItalicMT"/>
              </a:rPr>
              <a:t> </a:t>
            </a:r>
            <a:r>
              <a:rPr lang="en-US" sz="4000" dirty="0" err="1">
                <a:latin typeface="TimesNewRomanPS-ItalicMT"/>
              </a:rPr>
              <a:t>és</a:t>
            </a:r>
            <a:r>
              <a:rPr lang="en-US" sz="4000" dirty="0">
                <a:latin typeface="TimesNewRomanPS-ItalicMT"/>
              </a:rPr>
              <a:t> </a:t>
            </a:r>
            <a:r>
              <a:rPr lang="en-US" sz="4000" dirty="0" err="1">
                <a:latin typeface="TimesNewRomanPS-ItalicMT"/>
              </a:rPr>
              <a:t>néghélots</a:t>
            </a:r>
            <a:r>
              <a:rPr lang="en-US" sz="4000" dirty="0">
                <a:latin typeface="TimesNewRomanPS-ItalicMT"/>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877437"/>
          </a:xfrm>
          <a:prstGeom prst="rect">
            <a:avLst/>
          </a:prstGeom>
          <a:noFill/>
          <a:ln>
            <a:noFill/>
          </a:ln>
        </p:spPr>
        <p:txBody>
          <a:bodyPr wrap="square" rtlCol="0">
            <a:spAutoFit/>
          </a:bodyPr>
          <a:lstStyle/>
          <a:p>
            <a:r>
              <a:rPr lang="en-US" sz="3800" dirty="0">
                <a:solidFill>
                  <a:schemeClr val="accent1">
                    <a:lumMod val="75000"/>
                  </a:schemeClr>
                </a:solidFill>
                <a:latin typeface="Times New Roman" panose="02020603050405020304" pitchFamily="18" charset="0"/>
                <a:ea typeface="Calibri" panose="020F0502020204030204" pitchFamily="34" charset="0"/>
              </a:rPr>
              <a:t>DCN.	</a:t>
            </a:r>
            <a:r>
              <a:rPr lang="en-US" sz="3800" dirty="0">
                <a:latin typeface="Times New Roman" panose="02020603050405020304" pitchFamily="18" charset="0"/>
                <a:ea typeface="Calibri" panose="020F0502020204030204" pitchFamily="34" charset="0"/>
              </a:rPr>
              <a:t>And healing to the sick, the kingdom to those who have fallen asleep.</a:t>
            </a:r>
          </a:p>
          <a:p>
            <a:r>
              <a:rPr lang="en-US" sz="3800" dirty="0">
                <a:latin typeface="Times New Roman" panose="02020603050405020304" pitchFamily="18" charset="0"/>
                <a:ea typeface="Calibri" panose="020F0502020204030204" pitchFamily="34" charset="0"/>
              </a:rPr>
              <a:t>Or</a:t>
            </a:r>
          </a:p>
          <a:p>
            <a:r>
              <a:rPr lang="en-US" sz="3800" dirty="0">
                <a:solidFill>
                  <a:srgbClr val="00B050"/>
                </a:solidFill>
                <a:latin typeface="Times New Roman" panose="02020603050405020304" pitchFamily="18" charset="0"/>
                <a:ea typeface="Calibri" panose="020F0502020204030204" pitchFamily="34" charset="0"/>
              </a:rPr>
              <a:t>CHR. </a:t>
            </a:r>
            <a:r>
              <a:rPr lang="en-US" sz="4000" dirty="0">
                <a:latin typeface="TimesNewRomanPSMT"/>
              </a:rPr>
              <a:t>Come to us, God of our fathers, you are the refuge of the afflicted.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rPr>
              <a:t>ՍՐԿ.</a:t>
            </a:r>
            <a:r>
              <a:rPr lang="hy-AM" sz="4000" dirty="0">
                <a:latin typeface="Arm HelvU" pitchFamily="2" charset="0"/>
              </a:rPr>
              <a:t>	Եւ հիւանդաց բըժըշկութիւն, նընջեցելոց արքայութիւն:</a:t>
            </a:r>
          </a:p>
          <a:p>
            <a:r>
              <a:rPr lang="hy-AM" sz="4000" dirty="0">
                <a:latin typeface="Arm HelvU" pitchFamily="2" charset="0"/>
              </a:rPr>
              <a:t>ԿԱՄ</a:t>
            </a:r>
          </a:p>
          <a:p>
            <a:r>
              <a:rPr lang="hy-AM" sz="4000" dirty="0">
                <a:solidFill>
                  <a:srgbClr val="00B050"/>
                </a:solidFill>
                <a:latin typeface="Arm HelvU" pitchFamily="2" charset="0"/>
              </a:rPr>
              <a:t>ԴՊՐ. </a:t>
            </a:r>
            <a:r>
              <a:rPr lang="hy-AM" sz="4000" dirty="0">
                <a:latin typeface="Arm HelvU" pitchFamily="2" charset="0"/>
              </a:rPr>
              <a:t>Արի Աստուած հարցըն մերոց, որ ապաւէնդ ես նեղելոց։</a:t>
            </a:r>
            <a:endParaRPr lang="en-US" sz="4000" dirty="0">
              <a:latin typeface="Arm HelvU" pitchFamily="2"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B871452-EABB-4AD5-919C-5C9D8D7D01A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ՆՍՏՒԼ/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                    Էջ/</a:t>
            </a:r>
            <a:r>
              <a:rPr lang="en-US" sz="4400" dirty="0">
                <a:solidFill>
                  <a:srgbClr val="00B0F0"/>
                </a:solidFill>
                <a:latin typeface="Times New Roman" panose="02020603050405020304" pitchFamily="18" charset="0"/>
                <a:ea typeface="Calibri" panose="020F0502020204030204" pitchFamily="34" charset="0"/>
              </a:rPr>
              <a:t>Page 25</a:t>
            </a:r>
          </a:p>
        </p:txBody>
      </p:sp>
    </p:spTree>
    <p:extLst>
      <p:ext uri="{BB962C8B-B14F-4D97-AF65-F5344CB8AC3E}">
        <p14:creationId xmlns:p14="http://schemas.microsoft.com/office/powerpoint/2010/main" val="277286545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NewRomanPSMT"/>
              </a:rPr>
              <a:t>DCN. </a:t>
            </a:r>
            <a:r>
              <a:rPr lang="en-US" sz="4000" dirty="0">
                <a:latin typeface="TimesNewRomanPS-ItalicMT"/>
              </a:rPr>
              <a:t>Has </a:t>
            </a:r>
            <a:r>
              <a:rPr lang="en-US" sz="4000" dirty="0" err="1">
                <a:latin typeface="TimesNewRomanPS-ItalicMT"/>
              </a:rPr>
              <a:t>hoknootyoon</a:t>
            </a:r>
            <a:r>
              <a:rPr lang="en-US" sz="4000" dirty="0">
                <a:latin typeface="TimesNewRomanPS-ItalicMT"/>
              </a:rPr>
              <a:t> </a:t>
            </a:r>
            <a:r>
              <a:rPr lang="en-US" sz="4000" dirty="0" err="1">
                <a:latin typeface="TimesNewRomanPS-ItalicMT"/>
              </a:rPr>
              <a:t>dzarayits</a:t>
            </a:r>
            <a:r>
              <a:rPr lang="hy-AM" sz="4000" dirty="0">
                <a:latin typeface="TimesNewRomanPS-ItalicMT"/>
              </a:rPr>
              <a:t> </a:t>
            </a:r>
            <a:r>
              <a:rPr lang="en-US" sz="4000" dirty="0" err="1">
                <a:latin typeface="TimesNewRomanPS-ItalicMT"/>
              </a:rPr>
              <a:t>kots</a:t>
            </a:r>
            <a:r>
              <a:rPr lang="en-US" sz="4000" dirty="0">
                <a:latin typeface="TimesNewRomanPS-ItalicMT"/>
              </a:rPr>
              <a:t>, </a:t>
            </a:r>
            <a:r>
              <a:rPr lang="en-US" sz="4000" dirty="0" err="1">
                <a:latin typeface="TimesNewRomanPS-ItalicMT"/>
              </a:rPr>
              <a:t>lér</a:t>
            </a:r>
            <a:r>
              <a:rPr lang="en-US" sz="4000" dirty="0">
                <a:latin typeface="TimesNewRomanPS-ItalicMT"/>
              </a:rPr>
              <a:t> </a:t>
            </a:r>
            <a:r>
              <a:rPr lang="en-US" sz="4000" dirty="0" err="1">
                <a:latin typeface="TimesNewRomanPS-ItalicMT"/>
              </a:rPr>
              <a:t>oknagan</a:t>
            </a:r>
            <a:r>
              <a:rPr lang="en-US" sz="4000" dirty="0">
                <a:latin typeface="TimesNewRomanPS-ItalicMT"/>
              </a:rPr>
              <a:t> </a:t>
            </a:r>
            <a:r>
              <a:rPr lang="en-US" sz="4000" dirty="0" err="1">
                <a:latin typeface="TimesNewRomanPS-ItalicMT"/>
              </a:rPr>
              <a:t>azkis</a:t>
            </a:r>
            <a:r>
              <a:rPr lang="en-US" sz="4000" dirty="0">
                <a:latin typeface="TimesNewRomanPS-ItalicMT"/>
              </a:rPr>
              <a:t> </a:t>
            </a:r>
            <a:r>
              <a:rPr lang="en-US" sz="4000" dirty="0" err="1">
                <a:latin typeface="TimesNewRomanPS-ItalicMT"/>
              </a:rPr>
              <a:t>Hayots</a:t>
            </a:r>
            <a:r>
              <a:rPr lang="en-US" sz="4000" dirty="0">
                <a:latin typeface="TimesNewRomanPS-ItalicMT"/>
              </a:rPr>
              <a:t>.</a:t>
            </a:r>
          </a:p>
          <a:p>
            <a:r>
              <a:rPr lang="en-US" sz="4000" dirty="0">
                <a:solidFill>
                  <a:srgbClr val="00B050"/>
                </a:solidFill>
                <a:latin typeface="TimesNewRomanPSMT"/>
              </a:rPr>
              <a:t>CHR. </a:t>
            </a:r>
            <a:r>
              <a:rPr lang="en-US" sz="4000" dirty="0" err="1">
                <a:latin typeface="TimesNewRomanPS-ItalicMT"/>
              </a:rPr>
              <a:t>Dér</a:t>
            </a:r>
            <a:r>
              <a:rPr lang="en-US" sz="4000" dirty="0">
                <a:latin typeface="TimesNewRomanPS-ItalicMT"/>
              </a:rPr>
              <a:t> </a:t>
            </a:r>
            <a:r>
              <a:rPr lang="en-US" sz="4000" dirty="0" err="1">
                <a:latin typeface="TimesNewRomanPS-ItalicMT"/>
              </a:rPr>
              <a:t>voghormya</a:t>
            </a:r>
            <a:r>
              <a:rPr lang="en-US" sz="4000" dirty="0">
                <a:latin typeface="TimesNewRomanPS-ItalicMT"/>
              </a:rPr>
              <a:t>, </a:t>
            </a:r>
            <a:r>
              <a:rPr lang="en-US" sz="4000" dirty="0" err="1">
                <a:latin typeface="TimesNewRomanPS-ItalicMT"/>
              </a:rPr>
              <a:t>Dér</a:t>
            </a:r>
            <a:r>
              <a:rPr lang="en-US" sz="4000" dirty="0">
                <a:latin typeface="TimesNewRomanPS-ItalicMT"/>
              </a:rPr>
              <a:t> </a:t>
            </a:r>
            <a:r>
              <a:rPr lang="en-US" sz="4000" dirty="0" err="1">
                <a:latin typeface="TimesNewRomanPS-ItalicMT"/>
              </a:rPr>
              <a:t>voghormya,Hisoos</a:t>
            </a:r>
            <a:r>
              <a:rPr lang="en-US" sz="4000" dirty="0">
                <a:latin typeface="TimesNewRomanPS-ItalicMT"/>
              </a:rPr>
              <a:t> </a:t>
            </a:r>
            <a:r>
              <a:rPr lang="en-US" sz="4000" dirty="0" err="1">
                <a:latin typeface="TimesNewRomanPS-ItalicMT"/>
              </a:rPr>
              <a:t>pûrgich</a:t>
            </a:r>
            <a:r>
              <a:rPr lang="en-US" sz="4000" dirty="0">
                <a:latin typeface="TimesNewRomanPS-ItalicMT"/>
              </a:rPr>
              <a:t>, </a:t>
            </a:r>
            <a:r>
              <a:rPr lang="en-US" sz="4000" dirty="0" err="1">
                <a:latin typeface="TimesNewRomanPS-ItalicMT"/>
              </a:rPr>
              <a:t>méz</a:t>
            </a:r>
            <a:r>
              <a:rPr lang="en-US" sz="4000" dirty="0">
                <a:latin typeface="TimesNewRomanPS-ItalicMT"/>
              </a:rPr>
              <a:t> </a:t>
            </a:r>
            <a:r>
              <a:rPr lang="en-US" sz="4000" dirty="0" err="1">
                <a:latin typeface="TimesNewRomanPS-ItalicMT"/>
              </a:rPr>
              <a:t>voghormya</a:t>
            </a:r>
            <a:r>
              <a:rPr lang="en-US" sz="4000" dirty="0">
                <a:latin typeface="TimesNewRomanPS-ItalicMT"/>
              </a:rPr>
              <a:t>.</a:t>
            </a:r>
          </a:p>
          <a:p>
            <a:r>
              <a:rPr lang="en-US" sz="4000" dirty="0">
                <a:solidFill>
                  <a:schemeClr val="accent1">
                    <a:lumMod val="75000"/>
                  </a:schemeClr>
                </a:solidFill>
                <a:latin typeface="TimesNewRomanPSMT"/>
              </a:rPr>
              <a:t>DCN. </a:t>
            </a:r>
            <a:r>
              <a:rPr lang="en-US" sz="4000" dirty="0" err="1">
                <a:latin typeface="TimesNewRomanPS-ItalicMT"/>
              </a:rPr>
              <a:t>Michnortootyamp</a:t>
            </a:r>
            <a:r>
              <a:rPr lang="en-US" sz="4000" dirty="0">
                <a:latin typeface="TimesNewRomanPS-ItalicMT"/>
              </a:rPr>
              <a:t> </a:t>
            </a:r>
            <a:r>
              <a:rPr lang="en-US" sz="4000" dirty="0" err="1">
                <a:latin typeface="TimesNewRomanPS-ItalicMT"/>
              </a:rPr>
              <a:t>soorp</a:t>
            </a:r>
            <a:r>
              <a:rPr lang="en-US" sz="4000" dirty="0">
                <a:latin typeface="TimesNewRomanPS-ItalicMT"/>
              </a:rPr>
              <a:t> </a:t>
            </a:r>
            <a:r>
              <a:rPr lang="en-US" sz="4000" dirty="0" err="1">
                <a:latin typeface="TimesNewRomanPS-ItalicMT"/>
              </a:rPr>
              <a:t>yév</a:t>
            </a:r>
            <a:r>
              <a:rPr lang="hy-AM" sz="4000" dirty="0">
                <a:latin typeface="TimesNewRomanPS-ItalicMT"/>
              </a:rPr>
              <a:t> </a:t>
            </a:r>
            <a:r>
              <a:rPr lang="en-US" sz="4000" dirty="0" err="1">
                <a:latin typeface="TimesNewRomanPS-ItalicMT"/>
              </a:rPr>
              <a:t>anmah</a:t>
            </a:r>
            <a:r>
              <a:rPr lang="en-US" sz="4000" dirty="0">
                <a:latin typeface="TimesNewRomanPS-ItalicMT"/>
              </a:rPr>
              <a:t> </a:t>
            </a:r>
            <a:r>
              <a:rPr lang="en-US" sz="4000" dirty="0" err="1">
                <a:latin typeface="TimesNewRomanPS-ItalicMT"/>
              </a:rPr>
              <a:t>yév</a:t>
            </a:r>
            <a:r>
              <a:rPr lang="en-US" sz="4000" dirty="0">
                <a:latin typeface="TimesNewRomanPS-ItalicMT"/>
              </a:rPr>
              <a:t> </a:t>
            </a:r>
            <a:r>
              <a:rPr lang="en-US" sz="4000" dirty="0" err="1">
                <a:latin typeface="TimesNewRomanPS-ItalicMT"/>
              </a:rPr>
              <a:t>génarar</a:t>
            </a:r>
            <a:r>
              <a:rPr lang="en-US" sz="4000" dirty="0">
                <a:latin typeface="TimesNewRomanPS-ItalicMT"/>
              </a:rPr>
              <a:t> </a:t>
            </a:r>
            <a:r>
              <a:rPr lang="en-US" sz="4000" dirty="0" err="1">
                <a:latin typeface="TimesNewRomanPS-ItalicMT"/>
              </a:rPr>
              <a:t>badarakis</a:t>
            </a:r>
            <a:r>
              <a:rPr lang="en-US" sz="4000" dirty="0">
                <a:latin typeface="TimesNewRomanPS-ItalicMT"/>
              </a:rPr>
              <a:t>.</a:t>
            </a:r>
          </a:p>
          <a:p>
            <a:r>
              <a:rPr lang="en-US" sz="4000" dirty="0">
                <a:solidFill>
                  <a:srgbClr val="00B050"/>
                </a:solidFill>
                <a:latin typeface="TimesNewRomanPSMT"/>
              </a:rPr>
              <a:t>CHR. </a:t>
            </a:r>
            <a:r>
              <a:rPr lang="en-US" sz="4000" dirty="0" err="1">
                <a:latin typeface="TimesNewRomanPS-ItalicMT"/>
              </a:rPr>
              <a:t>Ûngal</a:t>
            </a:r>
            <a:r>
              <a:rPr lang="en-US" sz="4000" dirty="0">
                <a:latin typeface="TimesNewRomanPS-ItalicMT"/>
              </a:rPr>
              <a:t>, </a:t>
            </a:r>
            <a:r>
              <a:rPr lang="en-US" sz="4000" dirty="0" err="1">
                <a:latin typeface="TimesNewRomanPS-ItalicMT"/>
              </a:rPr>
              <a:t>Dér</a:t>
            </a:r>
            <a:r>
              <a:rPr lang="en-US" sz="4000" dirty="0">
                <a:latin typeface="TimesNewRomanPS-ItalicMT"/>
              </a:rPr>
              <a:t>, </a:t>
            </a:r>
            <a:r>
              <a:rPr lang="en-US" sz="4000" dirty="0" err="1">
                <a:latin typeface="TimesNewRomanPS-ItalicMT"/>
              </a:rPr>
              <a:t>yév</a:t>
            </a:r>
            <a:r>
              <a:rPr lang="en-US" sz="4000" dirty="0">
                <a:latin typeface="TimesNewRomanPS-ItalicMT"/>
              </a:rPr>
              <a:t> </a:t>
            </a:r>
            <a:r>
              <a:rPr lang="en-US" sz="4000" dirty="0" err="1">
                <a:latin typeface="TimesNewRomanPS-ItalicMT"/>
              </a:rPr>
              <a:t>voghormya</a:t>
            </a:r>
            <a:r>
              <a:rPr lang="en-US" sz="4000" dirty="0">
                <a:latin typeface="TimesNewRomanPS-ItalicMT"/>
              </a:rPr>
              <a:t>.</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chemeClr val="accent1">
                    <a:lumMod val="75000"/>
                  </a:schemeClr>
                </a:solidFill>
                <a:latin typeface="TimesNewRomanPSMT"/>
              </a:rPr>
              <a:t>DCN. </a:t>
            </a:r>
            <a:r>
              <a:rPr lang="en-US" sz="4000" dirty="0">
                <a:latin typeface="TimesNewRomanPSMT"/>
              </a:rPr>
              <a:t>Hasten for aid to your servants,</a:t>
            </a:r>
            <a:r>
              <a:rPr lang="hy-AM" sz="4000" dirty="0">
                <a:latin typeface="TimesNewRomanPSMT"/>
              </a:rPr>
              <a:t> </a:t>
            </a:r>
            <a:r>
              <a:rPr lang="en-US" sz="4000" dirty="0">
                <a:latin typeface="TimesNewRomanPSMT"/>
              </a:rPr>
              <a:t>be helper to the Armenian nation.</a:t>
            </a:r>
          </a:p>
          <a:p>
            <a:r>
              <a:rPr lang="en-US" sz="4000" dirty="0">
                <a:solidFill>
                  <a:srgbClr val="00B050"/>
                </a:solidFill>
                <a:latin typeface="TimesNewRomanPSMT"/>
              </a:rPr>
              <a:t>CHR. </a:t>
            </a:r>
            <a:r>
              <a:rPr lang="en-US" sz="4000" dirty="0">
                <a:latin typeface="TimesNewRomanPSMT"/>
              </a:rPr>
              <a:t>Lord, have mercy, Lord, have mercy,</a:t>
            </a:r>
            <a:r>
              <a:rPr lang="hy-AM" sz="4000" dirty="0">
                <a:latin typeface="TimesNewRomanPSMT"/>
              </a:rPr>
              <a:t> </a:t>
            </a:r>
            <a:r>
              <a:rPr lang="en-US" sz="4000" dirty="0">
                <a:latin typeface="TimesNewRomanPSMT"/>
              </a:rPr>
              <a:t>Jesus Savior, have mercy upon us.</a:t>
            </a:r>
          </a:p>
          <a:p>
            <a:r>
              <a:rPr lang="en-US" sz="4000" dirty="0">
                <a:solidFill>
                  <a:schemeClr val="accent1">
                    <a:lumMod val="75000"/>
                  </a:schemeClr>
                </a:solidFill>
                <a:latin typeface="TimesNewRomanPSMT"/>
              </a:rPr>
              <a:t>DCN. </a:t>
            </a:r>
            <a:r>
              <a:rPr lang="en-US" sz="4000" dirty="0">
                <a:latin typeface="TimesNewRomanPSMT"/>
              </a:rPr>
              <a:t>Through this holy and immortal</a:t>
            </a:r>
            <a:r>
              <a:rPr lang="hy-AM" sz="4000" dirty="0">
                <a:latin typeface="TimesNewRomanPSMT"/>
              </a:rPr>
              <a:t> </a:t>
            </a:r>
            <a:r>
              <a:rPr lang="en-US" sz="4000" dirty="0">
                <a:latin typeface="TimesNewRomanPSMT"/>
              </a:rPr>
              <a:t>and life-giving sacrifice.</a:t>
            </a:r>
          </a:p>
          <a:p>
            <a:r>
              <a:rPr lang="en-US" sz="4000" dirty="0">
                <a:solidFill>
                  <a:srgbClr val="00B050"/>
                </a:solidFill>
                <a:latin typeface="TimesNewRomanPSMT"/>
              </a:rPr>
              <a:t>CHR. </a:t>
            </a:r>
            <a:r>
              <a:rPr lang="en-US" sz="4000" dirty="0">
                <a:latin typeface="TimesNewRomanPSMT"/>
              </a:rPr>
              <a:t>Receive our supplication,</a:t>
            </a:r>
            <a:r>
              <a:rPr lang="hy-AM" sz="4000" dirty="0">
                <a:latin typeface="TimesNewRomanPSMT"/>
              </a:rPr>
              <a:t> </a:t>
            </a:r>
            <a:r>
              <a:rPr lang="en-US" sz="4000" dirty="0">
                <a:latin typeface="TimesNewRomanPSMT"/>
              </a:rPr>
              <a:t>O Lord, and have mercy.</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cs typeface="Times New Roman" panose="02020603050405020304" pitchFamily="18" charset="0"/>
              </a:rPr>
              <a:t>ՍՐԿ. </a:t>
            </a:r>
            <a:r>
              <a:rPr lang="hy-AM" sz="4000" dirty="0">
                <a:latin typeface="Arm HelvU" pitchFamily="2" charset="0"/>
                <a:ea typeface="Calibri" panose="020F0502020204030204" pitchFamily="34" charset="0"/>
                <a:cs typeface="Times New Roman" panose="02020603050405020304" pitchFamily="18" charset="0"/>
              </a:rPr>
              <a:t>Հաս յօգնութիւն ծառայից քոց, լեր օգնական ազգիս Հայոց։</a:t>
            </a:r>
          </a:p>
          <a:p>
            <a:r>
              <a:rPr lang="hy-AM" sz="4000" dirty="0">
                <a:solidFill>
                  <a:srgbClr val="00B050"/>
                </a:solidFill>
                <a:latin typeface="Arm HelvU" pitchFamily="2" charset="0"/>
                <a:ea typeface="Calibri" panose="020F0502020204030204" pitchFamily="34" charset="0"/>
                <a:cs typeface="Times New Roman" panose="02020603050405020304" pitchFamily="18" charset="0"/>
              </a:rPr>
              <a:t>ԴՊՐ. </a:t>
            </a:r>
            <a:r>
              <a:rPr lang="hy-AM" sz="4000" dirty="0">
                <a:latin typeface="Arm HelvU" pitchFamily="2" charset="0"/>
                <a:ea typeface="Calibri" panose="020F0502020204030204" pitchFamily="34" charset="0"/>
                <a:cs typeface="Times New Roman" panose="02020603050405020304" pitchFamily="18" charset="0"/>
              </a:rPr>
              <a:t>Տէր ողորմեա, Տէր ողորմեա, Յիսուս փրկիչ, մեզ ողորմեա:</a:t>
            </a:r>
          </a:p>
          <a:p>
            <a:r>
              <a:rPr lang="hy-AM" sz="4000" dirty="0">
                <a:solidFill>
                  <a:schemeClr val="accent1">
                    <a:lumMod val="75000"/>
                  </a:schemeClr>
                </a:solidFill>
                <a:latin typeface="Arm HelvU" pitchFamily="2" charset="0"/>
                <a:ea typeface="Calibri" panose="020F0502020204030204" pitchFamily="34" charset="0"/>
                <a:cs typeface="Times New Roman" panose="02020603050405020304" pitchFamily="18" charset="0"/>
              </a:rPr>
              <a:t>ՍՐԿ. </a:t>
            </a:r>
            <a:r>
              <a:rPr lang="hy-AM" sz="4000" dirty="0">
                <a:latin typeface="Arm HelvU" pitchFamily="2" charset="0"/>
                <a:ea typeface="Calibri" panose="020F0502020204030204" pitchFamily="34" charset="0"/>
                <a:cs typeface="Times New Roman" panose="02020603050405020304" pitchFamily="18" charset="0"/>
              </a:rPr>
              <a:t>Միջնորդութեամբ սուրբ եւ անմահ եւ կենարար պատարագիս:</a:t>
            </a:r>
          </a:p>
          <a:p>
            <a:r>
              <a:rPr lang="hy-AM" sz="4000" dirty="0">
                <a:solidFill>
                  <a:srgbClr val="00B050"/>
                </a:solidFill>
                <a:latin typeface="Arm HelvU" pitchFamily="2" charset="0"/>
                <a:ea typeface="Calibri" panose="020F0502020204030204" pitchFamily="34" charset="0"/>
                <a:cs typeface="Times New Roman" panose="02020603050405020304" pitchFamily="18" charset="0"/>
              </a:rPr>
              <a:t>ԴՊՐ. </a:t>
            </a:r>
            <a:r>
              <a:rPr lang="hy-AM" sz="4000" dirty="0">
                <a:latin typeface="Arm HelvU" pitchFamily="2" charset="0"/>
                <a:ea typeface="Calibri" panose="020F0502020204030204" pitchFamily="34" charset="0"/>
                <a:cs typeface="Times New Roman" panose="02020603050405020304" pitchFamily="18" charset="0"/>
              </a:rPr>
              <a:t>Ընկալ, Տէր, եւ ողորմեա։</a:t>
            </a:r>
          </a:p>
          <a:p>
            <a:endParaRPr lang="en-US" sz="4000" dirty="0">
              <a:latin typeface="Arm HelvU" pitchFamily="2" charset="0"/>
              <a:ea typeface="Calibri" panose="020F0502020204030204" pitchFamily="34" charset="0"/>
              <a:cs typeface="Times New Roman" panose="02020603050405020304" pitchFamily="18"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FD5365E-1EDD-BE00-8573-D63B111FC686}"/>
              </a:ext>
            </a:extLst>
          </p:cNvPr>
          <p:cNvSpPr txBox="1"/>
          <p:nvPr/>
        </p:nvSpPr>
        <p:spPr>
          <a:xfrm>
            <a:off x="0" y="0"/>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ՆՍՏՒԼ/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                    Էջ/</a:t>
            </a:r>
            <a:r>
              <a:rPr lang="en-US" sz="4400" dirty="0">
                <a:solidFill>
                  <a:srgbClr val="00B0F0"/>
                </a:solidFill>
                <a:latin typeface="Times New Roman" panose="02020603050405020304" pitchFamily="18" charset="0"/>
                <a:ea typeface="Calibri" panose="020F0502020204030204" pitchFamily="34" charset="0"/>
              </a:rPr>
              <a:t>Page 26</a:t>
            </a:r>
          </a:p>
        </p:txBody>
      </p:sp>
    </p:spTree>
    <p:extLst>
      <p:ext uri="{BB962C8B-B14F-4D97-AF65-F5344CB8AC3E}">
        <p14:creationId xmlns:p14="http://schemas.microsoft.com/office/powerpoint/2010/main" val="129131666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Saghmos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asatsék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tûbirk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tsayniv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kaghtsrootyamp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zérkûs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hokévors</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sûma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vayél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saghmosk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orhnootyoonk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yérkûk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hokévork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Bashdonyayk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hantérts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yérkovk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saghmos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asatsék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hérgins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orhnétsék</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Sing psalms to the Lord our God, O you choristers, sing spiritual hymns in a sweet voice. For to him are befitting psalms and praises, alleluias and spiritual songs. O you ministers, sing psalms together with hymns, and praise the Lord in heaven.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cs typeface="Times New Roman" panose="02020603050405020304" pitchFamily="18" charset="0"/>
              </a:rPr>
              <a:t>ՍՐԿ.</a:t>
            </a:r>
            <a:r>
              <a:rPr lang="en-US" sz="4000" dirty="0">
                <a:solidFill>
                  <a:schemeClr val="accent1">
                    <a:lumMod val="75000"/>
                  </a:schemeClr>
                </a:solidFill>
                <a:latin typeface="Arm HelvU" pitchFamily="2" charset="0"/>
                <a:ea typeface="Calibri" panose="020F0502020204030204" pitchFamily="34" charset="0"/>
                <a:cs typeface="Times New Roman" panose="02020603050405020304" pitchFamily="18" charset="0"/>
              </a:rPr>
              <a:t> </a:t>
            </a:r>
            <a:r>
              <a:rPr lang="hy-AM" sz="4000" dirty="0">
                <a:latin typeface="Arm HelvU" pitchFamily="2" charset="0"/>
                <a:ea typeface="Calibri" panose="020F0502020204030204" pitchFamily="34" charset="0"/>
                <a:cs typeface="Times New Roman" panose="02020603050405020304" pitchFamily="18" charset="0"/>
              </a:rPr>
              <a:t>Սաղմոս ասացէք Տեառն Աստուծոյ մերում, դըպիրք, ձայնիւ քաղցրութեամբ զերգըս հոգեւորս: Զի սըմա վայել են սաղմոսք եւ օրհնութիւնք, ալէլուք եւ երգըք հոգեւորք: Պաշտօնեայք, հանդերձ երգովք սաղմոս ասացէք եւ ըզՏէր յերկինս օրհնեցէք:</a:t>
            </a:r>
            <a:endParaRPr lang="en-US" sz="4000" dirty="0">
              <a:latin typeface="Arm HelvU" pitchFamily="2" charset="0"/>
              <a:ea typeface="Calibri" panose="020F0502020204030204" pitchFamily="34" charset="0"/>
              <a:cs typeface="Times New Roman" panose="02020603050405020304" pitchFamily="18"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FFD211A-1094-58B9-C95A-DAD9F2F0E359}"/>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ՆՍՏՒԼ/</a:t>
            </a:r>
            <a:r>
              <a:rPr lang="en-US" sz="4400" dirty="0">
                <a:solidFill>
                  <a:srgbClr val="00B0F0"/>
                </a:solidFill>
                <a:latin typeface="Times New Roman" panose="02020603050405020304" pitchFamily="18" charset="0"/>
                <a:ea typeface="Calibri" panose="020F0502020204030204" pitchFamily="34" charset="0"/>
              </a:rPr>
              <a:t>SIT      											                  </a:t>
            </a:r>
            <a:r>
              <a:rPr lang="hy-AM" sz="4400" dirty="0">
                <a:solidFill>
                  <a:srgbClr val="00B0F0"/>
                </a:solidFill>
                <a:latin typeface="Times New Roman" panose="02020603050405020304" pitchFamily="18" charset="0"/>
                <a:ea typeface="Calibri" panose="020F0502020204030204" pitchFamily="34" charset="0"/>
              </a:rPr>
              <a:t>                    Էջ/</a:t>
            </a:r>
            <a:r>
              <a:rPr lang="en-US" sz="4400" dirty="0">
                <a:solidFill>
                  <a:srgbClr val="00B0F0"/>
                </a:solidFill>
                <a:latin typeface="Times New Roman" panose="02020603050405020304" pitchFamily="18" charset="0"/>
                <a:ea typeface="Calibri" panose="020F0502020204030204" pitchFamily="34" charset="0"/>
              </a:rPr>
              <a:t>Page 26</a:t>
            </a:r>
          </a:p>
        </p:txBody>
      </p:sp>
    </p:spTree>
    <p:extLst>
      <p:ext uri="{BB962C8B-B14F-4D97-AF65-F5344CB8AC3E}">
        <p14:creationId xmlns:p14="http://schemas.microsoft.com/office/powerpoint/2010/main" val="100061107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badarakyal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pashkhi</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michi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Zmarmin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yoor</a:t>
            </a:r>
            <a:r>
              <a:rPr lang="en-US" sz="4000" dirty="0">
                <a:latin typeface="Times New Roman" panose="02020603050405020304" pitchFamily="18" charset="0"/>
                <a:ea typeface="Calibri" panose="020F0502020204030204" pitchFamily="34" charset="0"/>
              </a:rPr>
              <a:t> da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géragoor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zaryoon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yoor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tsoghé</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Madik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ûzlooys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Jashagétsék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désék</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kaghtsr</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Blessed is God. Christ who is sacrificed is being distributed among us. Alleluia! He gives us his body for food, and he bedews us with his holy blood. Alleluia! Draw near to the Lord and take the light. Alleluia! Taste and see that the Lord is good. Alleluia!</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Օրհնեալ է Աստուած: Քրիստոս պատարագեալ բաշխի ի միջի մերում. ալէլուիա: Զմարմին իւր տայ մեզ կերակուր եւ սուրբ զարիւն իւր ցօղէ ի մեզ. ալէլուիա: Մատիք առ Տէր եւ առէք ըզլոյս. ալէլուիա: Ճաշակեցէք եւ տեսէք զի քաղցր է Տէր. ալէլուիա: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35B7B51-17E2-2FF2-CBD2-C62117E28EF0}"/>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26</a:t>
            </a:r>
          </a:p>
        </p:txBody>
      </p:sp>
    </p:spTree>
    <p:extLst>
      <p:ext uri="{BB962C8B-B14F-4D97-AF65-F5344CB8AC3E}">
        <p14:creationId xmlns:p14="http://schemas.microsoft.com/office/powerpoint/2010/main" val="242427575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solidFill>
                  <a:schemeClr val="accent1">
                    <a:lumMod val="75000"/>
                  </a:schemeClr>
                </a:solidFill>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hérgins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 </a:t>
            </a:r>
          </a:p>
          <a:p>
            <a:r>
              <a:rPr lang="en-US" sz="4000" dirty="0" err="1">
                <a:latin typeface="Times New Roman" panose="02020603050405020304" pitchFamily="18" charset="0"/>
                <a:ea typeface="Calibri" panose="020F0502020204030204" pitchFamily="34" charset="0"/>
              </a:rPr>
              <a:t>Orhnétsék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ûzna</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partsoons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 </a:t>
            </a:r>
          </a:p>
          <a:p>
            <a:r>
              <a:rPr lang="en-US" sz="4000" dirty="0" err="1">
                <a:latin typeface="Times New Roman" panose="02020603050405020304" pitchFamily="18" charset="0"/>
                <a:ea typeface="Calibri" panose="020F0502020204030204" pitchFamily="34" charset="0"/>
              </a:rPr>
              <a:t>Orhnétsék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ûzna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hréshdagk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 </a:t>
            </a:r>
          </a:p>
          <a:p>
            <a:r>
              <a:rPr lang="en-US" sz="4000" dirty="0" err="1">
                <a:latin typeface="Times New Roman" panose="02020603050405020304" pitchFamily="18" charset="0"/>
                <a:ea typeface="Calibri" panose="020F0502020204030204" pitchFamily="34" charset="0"/>
              </a:rPr>
              <a:t>Orhnétsék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ûzna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zorootyoonk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Praise the Lord in the heavens. Alleluia! </a:t>
            </a:r>
          </a:p>
          <a:p>
            <a:r>
              <a:rPr lang="en-US" sz="4000" dirty="0">
                <a:latin typeface="Times New Roman" panose="02020603050405020304" pitchFamily="18" charset="0"/>
                <a:ea typeface="Calibri" panose="020F0502020204030204" pitchFamily="34" charset="0"/>
              </a:rPr>
              <a:t>Praise him in the highest. Alleluia! </a:t>
            </a:r>
          </a:p>
          <a:p>
            <a:r>
              <a:rPr lang="en-US" sz="4000" dirty="0">
                <a:latin typeface="Times New Roman" panose="02020603050405020304" pitchFamily="18" charset="0"/>
                <a:ea typeface="Calibri" panose="020F0502020204030204" pitchFamily="34" charset="0"/>
              </a:rPr>
              <a:t>Praise him, all his angels. Alleluia! </a:t>
            </a:r>
          </a:p>
          <a:p>
            <a:r>
              <a:rPr lang="en-US" sz="4000" dirty="0">
                <a:latin typeface="Times New Roman" panose="02020603050405020304" pitchFamily="18" charset="0"/>
                <a:ea typeface="Calibri" panose="020F0502020204030204" pitchFamily="34" charset="0"/>
              </a:rPr>
              <a:t>Praise him, all his hosts. Alleluia!</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Օրհնեցէք ըզՏէր ի յերկինս. ալէլուիա: </a:t>
            </a:r>
          </a:p>
          <a:p>
            <a:r>
              <a:rPr lang="hy-AM" sz="4000" dirty="0">
                <a:latin typeface="Arm HelvU" pitchFamily="2" charset="0"/>
                <a:ea typeface="Calibri" panose="020F0502020204030204" pitchFamily="34" charset="0"/>
              </a:rPr>
              <a:t>Օրհնեցէք ըզնա ի բարձունս. ալէլուիա: </a:t>
            </a:r>
          </a:p>
          <a:p>
            <a:r>
              <a:rPr lang="hy-AM" sz="4000" dirty="0">
                <a:latin typeface="Arm HelvU" pitchFamily="2" charset="0"/>
                <a:ea typeface="Calibri" panose="020F0502020204030204" pitchFamily="34" charset="0"/>
              </a:rPr>
              <a:t>Օրհնեցէք ըզնա ամենայն հրեշտակք նորա. ալէլուիա: </a:t>
            </a:r>
          </a:p>
          <a:p>
            <a:r>
              <a:rPr lang="hy-AM" sz="4000" dirty="0">
                <a:latin typeface="Arm HelvU" pitchFamily="2" charset="0"/>
                <a:ea typeface="Calibri" panose="020F0502020204030204" pitchFamily="34" charset="0"/>
              </a:rPr>
              <a:t>Օրհնեցէք ըզնա ամենայն զօրութիւնք նորա. ալէլուիա: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E76FCF7-2932-CFA2-5290-7752B2F59790}"/>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26</a:t>
            </a:r>
          </a:p>
        </p:txBody>
      </p:sp>
    </p:spTree>
    <p:extLst>
      <p:ext uri="{BB962C8B-B14F-4D97-AF65-F5344CB8AC3E}">
        <p14:creationId xmlns:p14="http://schemas.microsoft.com/office/powerpoint/2010/main" val="372681866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b="0" i="0" u="none" strike="noStrike" baseline="0" dirty="0">
                <a:latin typeface="TimesNewRomanPSMT"/>
              </a:rPr>
              <a:t>KHOSDOVANOOTYOON</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CONFESSION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ԽՈՍՏՈՎԱՆՈՒԹԻՒՆ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4EC996E-0103-18D1-88CE-AC57C675F964}"/>
              </a:ext>
            </a:extLst>
          </p:cNvPr>
          <p:cNvSpPr txBox="1"/>
          <p:nvPr/>
        </p:nvSpPr>
        <p:spPr>
          <a:xfrm>
            <a:off x="-11575" y="3376"/>
            <a:ext cx="16276320" cy="769441"/>
          </a:xfrm>
          <a:prstGeom prst="rect">
            <a:avLst/>
          </a:prstGeom>
          <a:noFill/>
          <a:ln>
            <a:noFill/>
          </a:ln>
        </p:spPr>
        <p:txBody>
          <a:bodyPr wrap="square" rtlCol="0">
            <a:spAutoFit/>
          </a:bodyPr>
          <a:lstStyle/>
          <a:p>
            <a:pPr algn="ctr"/>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151055133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03C8A4-BAFA-4C25-AE19-DE42EC8F17D6}"/>
              </a:ext>
            </a:extLst>
          </p:cNvPr>
          <p:cNvSpPr txBox="1"/>
          <p:nvPr/>
        </p:nvSpPr>
        <p:spPr>
          <a:xfrm>
            <a:off x="-2" y="5303516"/>
            <a:ext cx="16256001" cy="378565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TOGETHER. </a:t>
            </a:r>
            <a:r>
              <a:rPr lang="en-US" sz="4000" dirty="0">
                <a:latin typeface="Times New Roman" panose="02020603050405020304" pitchFamily="18" charset="0"/>
                <a:ea typeface="Calibri" panose="020F0502020204030204" pitchFamily="34" charset="0"/>
              </a:rPr>
              <a:t>I have sinned against the all-Holy Trinity, the Father and the Son and the Holy Spirit. I have sinned against God. I confess before God, and before the holy Mother of God, and before you, holy father, all the sins that I have committed; for I have sinned in thought, in word, and in deed, willingly and unwillingly, knowingly and unknowingly. I have sinned against God.</a:t>
            </a:r>
          </a:p>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May God grant you forgiveness.</a:t>
            </a:r>
          </a:p>
        </p:txBody>
      </p:sp>
      <p:cxnSp>
        <p:nvCxnSpPr>
          <p:cNvPr id="10" name="Straight Connector 9"/>
          <p:cNvCxnSpPr/>
          <p:nvPr/>
        </p:nvCxnSpPr>
        <p:spPr>
          <a:xfrm>
            <a:off x="0" y="5291943"/>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CCD45E-8A8E-3742-8A4A-9B8E73DEE46F}"/>
              </a:ext>
            </a:extLst>
          </p:cNvPr>
          <p:cNvSpPr txBox="1"/>
          <p:nvPr/>
        </p:nvSpPr>
        <p:spPr>
          <a:xfrm>
            <a:off x="0" y="914398"/>
            <a:ext cx="16255999" cy="4401205"/>
          </a:xfrm>
          <a:prstGeom prst="rect">
            <a:avLst/>
          </a:prstGeom>
          <a:noFill/>
        </p:spPr>
        <p:txBody>
          <a:bodyPr wrap="square">
            <a:spAutoFit/>
          </a:bodyPr>
          <a:lstStyle/>
          <a:p>
            <a:r>
              <a:rPr lang="hy-AM" sz="4000" dirty="0">
                <a:solidFill>
                  <a:srgbClr val="00B050"/>
                </a:solidFill>
                <a:latin typeface="Arm HelvU" pitchFamily="2" charset="0"/>
                <a:ea typeface="Calibri" panose="020F0502020204030204" pitchFamily="34" charset="0"/>
              </a:rPr>
              <a:t>ՄԻԱՍԻՆ. </a:t>
            </a:r>
            <a:r>
              <a:rPr lang="hy-AM" sz="4000" dirty="0">
                <a:latin typeface="Arm HelvU" pitchFamily="2" charset="0"/>
                <a:ea typeface="Calibri" panose="020F0502020204030204" pitchFamily="34" charset="0"/>
              </a:rPr>
              <a:t>Մեղանչեցի ամենասուրբ Երրորդութեան` Հօրը եւ Որդիին եւ Սուրբ Հոգիին դէմ։ Մեղաւոր եմ Աստուծոյ առջեւ։ Բոլոր մեղքերս կը խոստովանիմ Աստուծոյ առջեւ, սուրբ Աստուածածինին եւ բոլոր սուրբերուն առջեւ, ինչպէս նաեւ քու առջեւդ, հայր սուրբ։ Մեղանչեցի՝ մտածումով, խօսքով ու գործով, կամայ թէ ակամայ, գիտակցաբար թէ անգիտակցաբար՝ մեղայ Աստուծոյ։</a:t>
            </a:r>
          </a:p>
          <a:p>
            <a:r>
              <a:rPr lang="hy-AM" sz="4000" dirty="0">
                <a:solidFill>
                  <a:srgbClr val="FF0000"/>
                </a:solidFill>
                <a:latin typeface="Arm HelvU" pitchFamily="2" charset="0"/>
                <a:ea typeface="Calibri" panose="020F0502020204030204" pitchFamily="34" charset="0"/>
              </a:rPr>
              <a:t>ՔՀՆ.</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Աստուած թողութիւն թող շնորհէ։</a:t>
            </a:r>
            <a:endParaRPr lang="en-US" sz="4000" dirty="0">
              <a:latin typeface="Arm HelvU" pitchFamily="2" charset="0"/>
              <a:ea typeface="Calibri" panose="020F0502020204030204" pitchFamily="34" charset="0"/>
            </a:endParaRPr>
          </a:p>
        </p:txBody>
      </p:sp>
      <p:sp>
        <p:nvSpPr>
          <p:cNvPr id="5" name="TextBox 4">
            <a:extLst>
              <a:ext uri="{FF2B5EF4-FFF2-40B4-BE49-F238E27FC236}">
                <a16:creationId xmlns:a16="http://schemas.microsoft.com/office/drawing/2014/main" id="{A03E6BFD-CE64-98B7-855A-908E5A9E6649}"/>
              </a:ext>
            </a:extLst>
          </p:cNvPr>
          <p:cNvSpPr txBox="1"/>
          <p:nvPr/>
        </p:nvSpPr>
        <p:spPr>
          <a:xfrm>
            <a:off x="-11575" y="3376"/>
            <a:ext cx="16276320" cy="769441"/>
          </a:xfrm>
          <a:prstGeom prst="rect">
            <a:avLst/>
          </a:prstGeom>
          <a:noFill/>
          <a:ln>
            <a:noFill/>
          </a:ln>
        </p:spPr>
        <p:txBody>
          <a:bodyPr wrap="square" rtlCol="0">
            <a:spAutoFit/>
          </a:bodyPr>
          <a:lstStyle/>
          <a:p>
            <a:pPr algn="ctr"/>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418288288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03C8A4-BAFA-4C25-AE19-DE42EC8F17D6}"/>
              </a:ext>
            </a:extLst>
          </p:cNvPr>
          <p:cNvSpPr txBox="1"/>
          <p:nvPr/>
        </p:nvSpPr>
        <p:spPr>
          <a:xfrm>
            <a:off x="-2" y="5303516"/>
            <a:ext cx="16256001" cy="2554545"/>
          </a:xfrm>
          <a:prstGeom prst="rect">
            <a:avLst/>
          </a:prstGeom>
          <a:noFill/>
          <a:ln>
            <a:noFill/>
          </a:ln>
        </p:spPr>
        <p:txBody>
          <a:bodyPr wrap="square" rtlCol="0">
            <a:spAutoFit/>
          </a:bodyPr>
          <a:lstStyle/>
          <a:p>
            <a:pPr algn="ctr"/>
            <a:r>
              <a:rPr lang="en-US" sz="4000" dirty="0">
                <a:solidFill>
                  <a:srgbClr val="00B050"/>
                </a:solidFill>
                <a:latin typeface="Times New Roman" panose="02020603050405020304" pitchFamily="18" charset="0"/>
                <a:ea typeface="Calibri" panose="020F0502020204030204" pitchFamily="34" charset="0"/>
              </a:rPr>
              <a:t>TOGETHER. </a:t>
            </a:r>
            <a:r>
              <a:rPr lang="en-US" sz="4000" dirty="0">
                <a:latin typeface="Times New Roman" panose="02020603050405020304" pitchFamily="18" charset="0"/>
                <a:ea typeface="Calibri" panose="020F0502020204030204" pitchFamily="34" charset="0"/>
              </a:rPr>
              <a:t>I have sinned by the sevenfold transgressions of the deadly sins; namely, by pride, by envy, by anger, by sloth, by covetousness, by gluttony, by lust, and all their forms. I have sinned against God.</a:t>
            </a:r>
          </a:p>
          <a:p>
            <a:pPr algn="ctr"/>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May God grant you forgiveness.</a:t>
            </a:r>
          </a:p>
        </p:txBody>
      </p:sp>
      <p:cxnSp>
        <p:nvCxnSpPr>
          <p:cNvPr id="10" name="Straight Connector 9"/>
          <p:cNvCxnSpPr/>
          <p:nvPr/>
        </p:nvCxnSpPr>
        <p:spPr>
          <a:xfrm>
            <a:off x="0" y="5291943"/>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CCD45E-8A8E-3742-8A4A-9B8E73DEE46F}"/>
              </a:ext>
            </a:extLst>
          </p:cNvPr>
          <p:cNvSpPr txBox="1"/>
          <p:nvPr/>
        </p:nvSpPr>
        <p:spPr>
          <a:xfrm>
            <a:off x="0" y="914398"/>
            <a:ext cx="16255999" cy="3170099"/>
          </a:xfrm>
          <a:prstGeom prst="rect">
            <a:avLst/>
          </a:prstGeom>
          <a:noFill/>
        </p:spPr>
        <p:txBody>
          <a:bodyPr wrap="square">
            <a:spAutoFit/>
          </a:bodyPr>
          <a:lstStyle/>
          <a:p>
            <a:r>
              <a:rPr lang="hy-AM" sz="4000" dirty="0">
                <a:solidFill>
                  <a:srgbClr val="00B050"/>
                </a:solidFill>
                <a:latin typeface="Arm HelvU" pitchFamily="2" charset="0"/>
                <a:ea typeface="Calibri" panose="020F0502020204030204" pitchFamily="34" charset="0"/>
              </a:rPr>
              <a:t>ՄԻԱՍԻՆ. </a:t>
            </a:r>
            <a:r>
              <a:rPr lang="hy-AM" sz="4000" dirty="0">
                <a:latin typeface="Arm HelvU" pitchFamily="2" charset="0"/>
                <a:ea typeface="Calibri" panose="020F0502020204030204" pitchFamily="34" charset="0"/>
              </a:rPr>
              <a:t>Մեղանչեցի այն եօթը յանցանքներով, որոնք մահացու մեղքերն են.- հպարտութեամբ, նախանձով, բարկութեամբ, ծուլութեամբ, ագահութեամբ, որկրամոլութեամբ, ցանկամոլութեամբ, եւ ասոնց բոլոր տեսակներովը՝ մեղայ Աստուծոյ։</a:t>
            </a:r>
          </a:p>
          <a:p>
            <a:r>
              <a:rPr lang="hy-AM" sz="4000" dirty="0">
                <a:solidFill>
                  <a:srgbClr val="FF0000"/>
                </a:solidFill>
                <a:latin typeface="Arm HelvU" pitchFamily="2" charset="0"/>
                <a:ea typeface="Calibri" panose="020F0502020204030204" pitchFamily="34" charset="0"/>
              </a:rPr>
              <a:t>ՔՀՆ. </a:t>
            </a:r>
            <a:r>
              <a:rPr lang="hy-AM" sz="4000" dirty="0">
                <a:latin typeface="Arm HelvU" pitchFamily="2" charset="0"/>
                <a:ea typeface="Calibri" panose="020F0502020204030204" pitchFamily="34" charset="0"/>
              </a:rPr>
              <a:t>Աստուած թողութիւն թող շնորհէ։</a:t>
            </a:r>
            <a:endParaRPr lang="en-US" sz="4000" dirty="0">
              <a:latin typeface="Arm HelvU" pitchFamily="2" charset="0"/>
              <a:ea typeface="Calibri" panose="020F0502020204030204" pitchFamily="34" charset="0"/>
            </a:endParaRPr>
          </a:p>
        </p:txBody>
      </p:sp>
      <p:sp>
        <p:nvSpPr>
          <p:cNvPr id="2" name="TextBox 1">
            <a:extLst>
              <a:ext uri="{FF2B5EF4-FFF2-40B4-BE49-F238E27FC236}">
                <a16:creationId xmlns:a16="http://schemas.microsoft.com/office/drawing/2014/main" id="{0B101F17-7039-2587-D860-CB6C95A39B4D}"/>
              </a:ext>
            </a:extLst>
          </p:cNvPr>
          <p:cNvSpPr txBox="1"/>
          <p:nvPr/>
        </p:nvSpPr>
        <p:spPr>
          <a:xfrm>
            <a:off x="-11575" y="3376"/>
            <a:ext cx="16276320" cy="769441"/>
          </a:xfrm>
          <a:prstGeom prst="rect">
            <a:avLst/>
          </a:prstGeom>
          <a:noFill/>
          <a:ln>
            <a:noFill/>
          </a:ln>
        </p:spPr>
        <p:txBody>
          <a:bodyPr wrap="square" rtlCol="0">
            <a:spAutoFit/>
          </a:bodyPr>
          <a:lstStyle/>
          <a:p>
            <a:pPr algn="ctr"/>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152678908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03C8A4-BAFA-4C25-AE19-DE42EC8F17D6}"/>
              </a:ext>
            </a:extLst>
          </p:cNvPr>
          <p:cNvSpPr txBox="1"/>
          <p:nvPr/>
        </p:nvSpPr>
        <p:spPr>
          <a:xfrm>
            <a:off x="-2" y="5303516"/>
            <a:ext cx="16256001" cy="378565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TOGETHER. </a:t>
            </a:r>
            <a:r>
              <a:rPr lang="en-US" sz="4000" dirty="0">
                <a:latin typeface="Times New Roman" panose="02020603050405020304" pitchFamily="18" charset="0"/>
                <a:ea typeface="Calibri" panose="020F0502020204030204" pitchFamily="34" charset="0"/>
              </a:rPr>
              <a:t>I have also sinned against all the commandments of God, both positive and prohibitive, for I have neither performed the positive commands, nor abstained from those things that are prohibited. I accepted the Law but was slothful in keeping it. I was called to the profession of Christianity but was found unworthy of it by my deeds. While knowing the evil, I willingly gave way to it and from good works I purposely kept away. </a:t>
            </a:r>
          </a:p>
        </p:txBody>
      </p:sp>
      <p:cxnSp>
        <p:nvCxnSpPr>
          <p:cNvPr id="10" name="Straight Connector 9"/>
          <p:cNvCxnSpPr/>
          <p:nvPr/>
        </p:nvCxnSpPr>
        <p:spPr>
          <a:xfrm>
            <a:off x="0" y="5291943"/>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CCD45E-8A8E-3742-8A4A-9B8E73DEE46F}"/>
              </a:ext>
            </a:extLst>
          </p:cNvPr>
          <p:cNvSpPr txBox="1"/>
          <p:nvPr/>
        </p:nvSpPr>
        <p:spPr>
          <a:xfrm>
            <a:off x="0" y="914398"/>
            <a:ext cx="16255999" cy="4401205"/>
          </a:xfrm>
          <a:prstGeom prst="rect">
            <a:avLst/>
          </a:prstGeom>
          <a:noFill/>
        </p:spPr>
        <p:txBody>
          <a:bodyPr wrap="square">
            <a:spAutoFit/>
          </a:bodyPr>
          <a:lstStyle/>
          <a:p>
            <a:r>
              <a:rPr lang="hy-AM" sz="4000" dirty="0">
                <a:solidFill>
                  <a:srgbClr val="00B050"/>
                </a:solidFill>
                <a:latin typeface="Arm HelvU" pitchFamily="2" charset="0"/>
                <a:ea typeface="Calibri" panose="020F0502020204030204" pitchFamily="34" charset="0"/>
              </a:rPr>
              <a:t>ՄԻԱՍԻՆ.</a:t>
            </a:r>
            <a:r>
              <a:rPr lang="hy-AM" sz="4000" dirty="0">
                <a:latin typeface="Arm HelvU" pitchFamily="2" charset="0"/>
                <a:ea typeface="Calibri" panose="020F0502020204030204" pitchFamily="34" charset="0"/>
              </a:rPr>
              <a:t> Եւ դեռ մեղանչեցի Աստուծոյ բոլոր պատուիրաններուն դէմ, թէ՝ յանձնառութիւններուս եւ թէ՝ հրաժարելիքներուս մէջ, որովհետեւ ո]չ յանձն առածներս կատարեցի եւ ո՝չ ալ հրաժարածներէս հեռացայ։ Օրէնքը սորվեցայ, սակայն Օրէնքի գործադրութեան մէջ ծուլացայ։ Քրիստոնէութեան շարքերուն մէջ անցայ, բայց գործերովս անարժան գտնուեցայ։ Չարիքը գիտնալով հանդերձ՝ կամովին նուաստացայ, եւ ես իմ կամքովս բարի գործերէն հեռացայ։</a:t>
            </a:r>
            <a:endParaRPr lang="en-US" sz="4000" dirty="0">
              <a:latin typeface="Arm HelvU" pitchFamily="2" charset="0"/>
              <a:ea typeface="Calibri" panose="020F0502020204030204" pitchFamily="34" charset="0"/>
            </a:endParaRPr>
          </a:p>
        </p:txBody>
      </p:sp>
      <p:sp>
        <p:nvSpPr>
          <p:cNvPr id="2" name="TextBox 1">
            <a:extLst>
              <a:ext uri="{FF2B5EF4-FFF2-40B4-BE49-F238E27FC236}">
                <a16:creationId xmlns:a16="http://schemas.microsoft.com/office/drawing/2014/main" id="{BADCC328-C72D-C880-3A10-16D16D403779}"/>
              </a:ext>
            </a:extLst>
          </p:cNvPr>
          <p:cNvSpPr txBox="1"/>
          <p:nvPr/>
        </p:nvSpPr>
        <p:spPr>
          <a:xfrm>
            <a:off x="-11575" y="3376"/>
            <a:ext cx="16276320" cy="769441"/>
          </a:xfrm>
          <a:prstGeom prst="rect">
            <a:avLst/>
          </a:prstGeom>
          <a:noFill/>
          <a:ln>
            <a:noFill/>
          </a:ln>
        </p:spPr>
        <p:txBody>
          <a:bodyPr wrap="square" rtlCol="0">
            <a:spAutoFit/>
          </a:bodyPr>
          <a:lstStyle/>
          <a:p>
            <a:pPr algn="ctr"/>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42211486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03C8A4-BAFA-4C25-AE19-DE42EC8F17D6}"/>
              </a:ext>
            </a:extLst>
          </p:cNvPr>
          <p:cNvSpPr txBox="1"/>
          <p:nvPr/>
        </p:nvSpPr>
        <p:spPr>
          <a:xfrm>
            <a:off x="-2" y="5303516"/>
            <a:ext cx="16256001" cy="317009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TOGETHER. </a:t>
            </a:r>
            <a:r>
              <a:rPr lang="en-US" sz="4000" dirty="0">
                <a:latin typeface="Times New Roman" panose="02020603050405020304" pitchFamily="18" charset="0"/>
                <a:ea typeface="Calibri" panose="020F0502020204030204" pitchFamily="34" charset="0"/>
              </a:rPr>
              <a:t>Woe to me, woe to me, woe to me; which of my misdeeds shall I recount? Which shall I confess?</a:t>
            </a:r>
            <a:r>
              <a:rPr lang="en-US" sz="4000" dirty="0">
                <a:latin typeface="Cambria Math" panose="02040503050406030204" pitchFamily="18" charset="0"/>
                <a:ea typeface="Calibri" panose="020F0502020204030204" pitchFamily="34" charset="0"/>
                <a:cs typeface="Cambria Math" panose="02040503050406030204" pitchFamily="18" charset="0"/>
              </a:rPr>
              <a:t> </a:t>
            </a:r>
            <a:r>
              <a:rPr lang="en-US" sz="4000" dirty="0">
                <a:latin typeface="Times New Roman" panose="02020603050405020304" pitchFamily="18" charset="0"/>
                <a:ea typeface="Calibri" panose="020F0502020204030204" pitchFamily="34" charset="0"/>
              </a:rPr>
              <a:t>For my sins are innumerable, my iniquities are unspeakable, my afflictions are intolerable, and my wounds are incurable. I have sinned against God.</a:t>
            </a:r>
          </a:p>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May God grant you forgiveness.</a:t>
            </a:r>
          </a:p>
        </p:txBody>
      </p:sp>
      <p:cxnSp>
        <p:nvCxnSpPr>
          <p:cNvPr id="10" name="Straight Connector 9"/>
          <p:cNvCxnSpPr/>
          <p:nvPr/>
        </p:nvCxnSpPr>
        <p:spPr>
          <a:xfrm>
            <a:off x="0" y="5291943"/>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CCD45E-8A8E-3742-8A4A-9B8E73DEE46F}"/>
              </a:ext>
            </a:extLst>
          </p:cNvPr>
          <p:cNvSpPr txBox="1"/>
          <p:nvPr/>
        </p:nvSpPr>
        <p:spPr>
          <a:xfrm>
            <a:off x="0" y="914398"/>
            <a:ext cx="16255999" cy="3170099"/>
          </a:xfrm>
          <a:prstGeom prst="rect">
            <a:avLst/>
          </a:prstGeom>
          <a:noFill/>
        </p:spPr>
        <p:txBody>
          <a:bodyPr wrap="square">
            <a:spAutoFit/>
          </a:bodyPr>
          <a:lstStyle/>
          <a:p>
            <a:r>
              <a:rPr lang="hy-AM" sz="4000" dirty="0">
                <a:solidFill>
                  <a:srgbClr val="00B050"/>
                </a:solidFill>
                <a:latin typeface="Arm HelvU" pitchFamily="2" charset="0"/>
                <a:ea typeface="Calibri" panose="020F0502020204030204" pitchFamily="34" charset="0"/>
              </a:rPr>
              <a:t>ՄԻԱՍԻՆ. </a:t>
            </a:r>
            <a:r>
              <a:rPr lang="hy-AM" sz="4000" dirty="0">
                <a:latin typeface="Arm HelvU" pitchFamily="2" charset="0"/>
                <a:ea typeface="Calibri" panose="020F0502020204030204" pitchFamily="34" charset="0"/>
              </a:rPr>
              <a:t>Վա՜յ ինծի, վա՜յ ինծի, վա՜յ ինծի. որ մէկը ըսեմ, որ մէկը խոստովանիմ, ա՜յնքան շատ են յանցանքներս, չըսուելիք են անօրէնութիւններս, աններելի են ցաւերս եւ անբժշկելի են վէրքերս, մեղայ Աստուծոյ։</a:t>
            </a:r>
          </a:p>
          <a:p>
            <a:r>
              <a:rPr lang="hy-AM" sz="4000" dirty="0">
                <a:solidFill>
                  <a:srgbClr val="FF0000"/>
                </a:solidFill>
                <a:latin typeface="Arm HelvU" pitchFamily="2" charset="0"/>
                <a:ea typeface="Calibri" panose="020F0502020204030204" pitchFamily="34" charset="0"/>
              </a:rPr>
              <a:t>ՔՀՆ. </a:t>
            </a:r>
            <a:r>
              <a:rPr lang="hy-AM" sz="4000" dirty="0">
                <a:latin typeface="Arm HelvU" pitchFamily="2" charset="0"/>
                <a:ea typeface="Calibri" panose="020F0502020204030204" pitchFamily="34" charset="0"/>
              </a:rPr>
              <a:t>Աստուած թողութիւն թող շնորհէ։</a:t>
            </a:r>
            <a:endParaRPr lang="en-US" sz="4000" dirty="0">
              <a:latin typeface="Arm HelvU" pitchFamily="2" charset="0"/>
              <a:ea typeface="Calibri" panose="020F0502020204030204" pitchFamily="34" charset="0"/>
            </a:endParaRPr>
          </a:p>
        </p:txBody>
      </p:sp>
      <p:sp>
        <p:nvSpPr>
          <p:cNvPr id="2" name="TextBox 1">
            <a:extLst>
              <a:ext uri="{FF2B5EF4-FFF2-40B4-BE49-F238E27FC236}">
                <a16:creationId xmlns:a16="http://schemas.microsoft.com/office/drawing/2014/main" id="{122D02EB-6184-064B-E5F6-76E79DA12411}"/>
              </a:ext>
            </a:extLst>
          </p:cNvPr>
          <p:cNvSpPr txBox="1"/>
          <p:nvPr/>
        </p:nvSpPr>
        <p:spPr>
          <a:xfrm>
            <a:off x="-11575"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17537763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03C8A4-BAFA-4C25-AE19-DE42EC8F17D6}"/>
              </a:ext>
            </a:extLst>
          </p:cNvPr>
          <p:cNvSpPr txBox="1"/>
          <p:nvPr/>
        </p:nvSpPr>
        <p:spPr>
          <a:xfrm>
            <a:off x="-2" y="5303516"/>
            <a:ext cx="16256001"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TOGETHER. </a:t>
            </a:r>
            <a:r>
              <a:rPr lang="en-US" sz="4000" dirty="0">
                <a:latin typeface="Times New Roman" panose="02020603050405020304" pitchFamily="18" charset="0"/>
                <a:ea typeface="Calibri" panose="020F0502020204030204" pitchFamily="34" charset="0"/>
              </a:rPr>
              <a:t>Holy father, I hold you as my reconciler and intercessor before the only-begotten Son of God, that by the authority vested in you, you may release me of the bonds of my sins, I</a:t>
            </a:r>
            <a:r>
              <a:rPr lang="en-US" sz="4000" dirty="0">
                <a:latin typeface="Cambria Math" panose="02040503050406030204" pitchFamily="18" charset="0"/>
                <a:ea typeface="Calibri" panose="020F0502020204030204" pitchFamily="34" charset="0"/>
                <a:cs typeface="Cambria Math" panose="02040503050406030204" pitchFamily="18" charset="0"/>
              </a:rPr>
              <a:t> </a:t>
            </a:r>
            <a:r>
              <a:rPr lang="en-US" sz="4000" dirty="0">
                <a:latin typeface="Times New Roman" panose="02020603050405020304" pitchFamily="18" charset="0"/>
                <a:ea typeface="Calibri" panose="020F0502020204030204" pitchFamily="34" charset="0"/>
              </a:rPr>
              <a:t>beseech you.</a:t>
            </a:r>
          </a:p>
        </p:txBody>
      </p:sp>
      <p:cxnSp>
        <p:nvCxnSpPr>
          <p:cNvPr id="10" name="Straight Connector 9"/>
          <p:cNvCxnSpPr/>
          <p:nvPr/>
        </p:nvCxnSpPr>
        <p:spPr>
          <a:xfrm>
            <a:off x="0" y="5291943"/>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CCD45E-8A8E-3742-8A4A-9B8E73DEE46F}"/>
              </a:ext>
            </a:extLst>
          </p:cNvPr>
          <p:cNvSpPr txBox="1"/>
          <p:nvPr/>
        </p:nvSpPr>
        <p:spPr>
          <a:xfrm>
            <a:off x="0" y="914398"/>
            <a:ext cx="16255999" cy="2554545"/>
          </a:xfrm>
          <a:prstGeom prst="rect">
            <a:avLst/>
          </a:prstGeom>
          <a:noFill/>
        </p:spPr>
        <p:txBody>
          <a:bodyPr wrap="square">
            <a:spAutoFit/>
          </a:bodyPr>
          <a:lstStyle/>
          <a:p>
            <a:r>
              <a:rPr lang="hy-AM" sz="4000" dirty="0">
                <a:solidFill>
                  <a:srgbClr val="00B050"/>
                </a:solidFill>
                <a:latin typeface="Arm HelvU" pitchFamily="2" charset="0"/>
                <a:ea typeface="Calibri" panose="020F0502020204030204" pitchFamily="34" charset="0"/>
              </a:rPr>
              <a:t>ՄԻԱՍԻՆ. </a:t>
            </a:r>
            <a:r>
              <a:rPr lang="hy-AM" sz="4000" dirty="0">
                <a:latin typeface="Arm HelvU" pitchFamily="2" charset="0"/>
                <a:ea typeface="Calibri" panose="020F0502020204030204" pitchFamily="34" charset="0"/>
              </a:rPr>
              <a:t>Հայր սուրբ, ինծի համար հաշտութեան միջնորդ եւ բարեխօս եղիր Աստուծոյ Միածին Որդիին քով, եւ քեզի տրուած իշխանութեամբ՝ զիս իմ մեղքերուս կապանքներէն արձակէ, կ</a:t>
            </a:r>
            <a:r>
              <a:rPr lang="en-US" sz="4000" dirty="0">
                <a:latin typeface="Arm HelvU" pitchFamily="2" charset="0"/>
                <a:ea typeface="Calibri" panose="020F0502020204030204" pitchFamily="34" charset="0"/>
              </a:rPr>
              <a:t>þ</a:t>
            </a:r>
            <a:r>
              <a:rPr lang="hy-AM" sz="4000" dirty="0">
                <a:latin typeface="Arm HelvU" pitchFamily="2" charset="0"/>
                <a:ea typeface="Calibri" panose="020F0502020204030204" pitchFamily="34" charset="0"/>
              </a:rPr>
              <a:t>աղաչեմ քեզի։</a:t>
            </a:r>
          </a:p>
          <a:p>
            <a:endParaRPr lang="hy-AM" sz="4000" dirty="0">
              <a:latin typeface="Arm HelvU" pitchFamily="2" charset="0"/>
              <a:ea typeface="Calibri" panose="020F0502020204030204" pitchFamily="34" charset="0"/>
            </a:endParaRPr>
          </a:p>
        </p:txBody>
      </p:sp>
      <p:sp>
        <p:nvSpPr>
          <p:cNvPr id="2" name="TextBox 1">
            <a:extLst>
              <a:ext uri="{FF2B5EF4-FFF2-40B4-BE49-F238E27FC236}">
                <a16:creationId xmlns:a16="http://schemas.microsoft.com/office/drawing/2014/main" id="{1E109474-B413-0BF5-4B1E-1CD4A88A99E5}"/>
              </a:ext>
            </a:extLst>
          </p:cNvPr>
          <p:cNvSpPr txBox="1"/>
          <p:nvPr/>
        </p:nvSpPr>
        <p:spPr>
          <a:xfrm>
            <a:off x="-11575"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269963875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03C8A4-BAFA-4C25-AE19-DE42EC8F17D6}"/>
              </a:ext>
            </a:extLst>
          </p:cNvPr>
          <p:cNvSpPr txBox="1"/>
          <p:nvPr/>
        </p:nvSpPr>
        <p:spPr>
          <a:xfrm>
            <a:off x="-2" y="5303516"/>
            <a:ext cx="16256001" cy="317009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Lord, have mercy, Lord, have mercy, Lord, have mercy. </a:t>
            </a:r>
          </a:p>
          <a:p>
            <a:pPr indent="457177"/>
            <a:r>
              <a:rPr lang="en-US" sz="4000" dirty="0">
                <a:latin typeface="Times New Roman" panose="02020603050405020304" pitchFamily="18" charset="0"/>
                <a:ea typeface="Calibri" panose="020F0502020204030204" pitchFamily="34" charset="0"/>
              </a:rPr>
              <a:t>May God the lover of mankind have mercy upon you, and grant you forgiveness of all your sins, both those confessed and those forgotten. Therefore, with the priestly authority vested in me and by the divine command that “Whatever you loose on earth shall be loosed in heaven,”</a:t>
            </a:r>
          </a:p>
        </p:txBody>
      </p:sp>
      <p:cxnSp>
        <p:nvCxnSpPr>
          <p:cNvPr id="10" name="Straight Connector 9"/>
          <p:cNvCxnSpPr/>
          <p:nvPr/>
        </p:nvCxnSpPr>
        <p:spPr>
          <a:xfrm>
            <a:off x="0" y="5291943"/>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CCD45E-8A8E-3742-8A4A-9B8E73DEE46F}"/>
              </a:ext>
            </a:extLst>
          </p:cNvPr>
          <p:cNvSpPr txBox="1"/>
          <p:nvPr/>
        </p:nvSpPr>
        <p:spPr>
          <a:xfrm>
            <a:off x="0" y="914398"/>
            <a:ext cx="16255999" cy="3170099"/>
          </a:xfrm>
          <a:prstGeom prst="rect">
            <a:avLst/>
          </a:prstGeom>
          <a:noFill/>
        </p:spPr>
        <p:txBody>
          <a:bodyPr wrap="square">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 Տէր ողորմեա, Տէր ողորմեա։</a:t>
            </a:r>
          </a:p>
          <a:p>
            <a:r>
              <a:rPr lang="hy-AM" sz="4000" dirty="0">
                <a:latin typeface="Arm HelvU" pitchFamily="2" charset="0"/>
                <a:ea typeface="Calibri" panose="020F0502020204030204" pitchFamily="34" charset="0"/>
              </a:rPr>
              <a:t>Թող մարդասէրն Աստուած ի]նք ողորմի քեզի եւ թողութիւն շնորհէ քու բոլոր յանցանքներուն՝ խոստովանածներուն եւ մոռցածներուն։ Իսկ ես քահանայական իշխանութեան կարգովս, եւ աստուածային հրամանով՝ թէ «Ինչ որ կ</a:t>
            </a:r>
            <a:r>
              <a:rPr lang="en-US" sz="4000" dirty="0">
                <a:latin typeface="Arm HelvU" pitchFamily="2" charset="0"/>
                <a:ea typeface="Calibri" panose="020F0502020204030204" pitchFamily="34" charset="0"/>
              </a:rPr>
              <a:t>þ</a:t>
            </a:r>
            <a:r>
              <a:rPr lang="hy-AM" sz="4000" dirty="0">
                <a:latin typeface="Arm HelvU" pitchFamily="2" charset="0"/>
                <a:ea typeface="Calibri" panose="020F0502020204030204" pitchFamily="34" charset="0"/>
              </a:rPr>
              <a:t>արձակէք երկրի վրայ, թող արձակուի երկինքի մէջ», </a:t>
            </a:r>
          </a:p>
        </p:txBody>
      </p:sp>
      <p:sp>
        <p:nvSpPr>
          <p:cNvPr id="2" name="TextBox 1">
            <a:extLst>
              <a:ext uri="{FF2B5EF4-FFF2-40B4-BE49-F238E27FC236}">
                <a16:creationId xmlns:a16="http://schemas.microsoft.com/office/drawing/2014/main" id="{A9E476D8-EF34-FBA5-E17D-0CE085034438}"/>
              </a:ext>
            </a:extLst>
          </p:cNvPr>
          <p:cNvSpPr txBox="1"/>
          <p:nvPr/>
        </p:nvSpPr>
        <p:spPr>
          <a:xfrm>
            <a:off x="0" y="0"/>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403340374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03C8A4-BAFA-4C25-AE19-DE42EC8F17D6}"/>
              </a:ext>
            </a:extLst>
          </p:cNvPr>
          <p:cNvSpPr txBox="1"/>
          <p:nvPr/>
        </p:nvSpPr>
        <p:spPr>
          <a:xfrm>
            <a:off x="-2" y="5303516"/>
            <a:ext cx="16256001" cy="317009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PRS. </a:t>
            </a:r>
            <a:r>
              <a:rPr lang="en-US" sz="4000" dirty="0">
                <a:latin typeface="Times New Roman" panose="02020603050405020304" pitchFamily="18" charset="0"/>
                <a:ea typeface="Calibri" panose="020F0502020204030204" pitchFamily="34" charset="0"/>
              </a:rPr>
              <a:t>by his very word, I absolve you of all your sins committed by thought, by word, and by deed, in the name of the Father and of the Son and of the Holy Spirit; and I reinstate you in the sacraments of the holy Church, that whatever good you may do, may be accounted to you for good deeds and for the glory of the life to come. Amen.</a:t>
            </a:r>
          </a:p>
        </p:txBody>
      </p:sp>
      <p:cxnSp>
        <p:nvCxnSpPr>
          <p:cNvPr id="10" name="Straight Connector 9"/>
          <p:cNvCxnSpPr/>
          <p:nvPr/>
        </p:nvCxnSpPr>
        <p:spPr>
          <a:xfrm>
            <a:off x="0" y="5291943"/>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CCD45E-8A8E-3742-8A4A-9B8E73DEE46F}"/>
              </a:ext>
            </a:extLst>
          </p:cNvPr>
          <p:cNvSpPr txBox="1"/>
          <p:nvPr/>
        </p:nvSpPr>
        <p:spPr>
          <a:xfrm>
            <a:off x="0" y="914398"/>
            <a:ext cx="16255999" cy="3785652"/>
          </a:xfrm>
          <a:prstGeom prst="rect">
            <a:avLst/>
          </a:prstGeom>
          <a:noFill/>
        </p:spPr>
        <p:txBody>
          <a:bodyPr wrap="square">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նոյն խօսքով կ</a:t>
            </a:r>
            <a:r>
              <a:rPr lang="en-US" sz="4000" dirty="0">
                <a:latin typeface="Arm HelvU" pitchFamily="2" charset="0"/>
                <a:ea typeface="Calibri" panose="020F0502020204030204" pitchFamily="34" charset="0"/>
              </a:rPr>
              <a:t>þ</a:t>
            </a:r>
            <a:r>
              <a:rPr lang="hy-AM" sz="4000" dirty="0">
                <a:latin typeface="Arm HelvU" pitchFamily="2" charset="0"/>
                <a:ea typeface="Calibri" panose="020F0502020204030204" pitchFamily="34" charset="0"/>
              </a:rPr>
              <a:t>արձակեմ քեզ մտածումներով, խօսքերով եւ գործերով կատարած բոլոր մեղքերէդ, Հօրը եւ Որդիին եւ Սուրբ Հոգիին անունով։ Եւ դարձեալ կը  հաստատեմ քեզ սուրբ Եկեղեցւոյ խորհուրդներուն մէջ, որպէսզի ինչ լաւ բաներ որ ընես՝ անոնք ըլլան քեզի համար բարի գործեր եւ հանդերձեալ կեանքի համար՝ փառք։ Ամէն։</a:t>
            </a:r>
          </a:p>
          <a:p>
            <a:endParaRPr lang="en-US" sz="4000" dirty="0">
              <a:latin typeface="Arm HelvU" pitchFamily="2" charset="0"/>
              <a:ea typeface="Calibri" panose="020F0502020204030204" pitchFamily="34" charset="0"/>
            </a:endParaRPr>
          </a:p>
        </p:txBody>
      </p:sp>
      <p:sp>
        <p:nvSpPr>
          <p:cNvPr id="2" name="TextBox 1">
            <a:extLst>
              <a:ext uri="{FF2B5EF4-FFF2-40B4-BE49-F238E27FC236}">
                <a16:creationId xmlns:a16="http://schemas.microsoft.com/office/drawing/2014/main" id="{027DC784-F5E5-63A8-DD0D-F173ABFA9E5E}"/>
              </a:ext>
            </a:extLst>
          </p:cNvPr>
          <p:cNvSpPr txBox="1"/>
          <p:nvPr/>
        </p:nvSpPr>
        <p:spPr>
          <a:xfrm>
            <a:off x="-11575"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371435349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62179" y="3375"/>
            <a:ext cx="13716000" cy="707886"/>
          </a:xfrm>
          <a:prstGeom prst="rect">
            <a:avLst/>
          </a:prstGeom>
          <a:solidFill>
            <a:schemeClr val="bg1"/>
          </a:solidFill>
          <a:ln>
            <a:noFill/>
          </a:ln>
        </p:spPr>
        <p:txBody>
          <a:bodyPr wrap="square" rtlCol="0">
            <a:spAutoFit/>
          </a:bodyPr>
          <a:lstStyle/>
          <a:p>
            <a:r>
              <a:rPr lang="en-US" sz="4000" b="1" dirty="0" err="1">
                <a:solidFill>
                  <a:srgbClr val="548DD4"/>
                </a:solidFill>
                <a:latin typeface="Arm HelvU" pitchFamily="2" charset="0"/>
                <a:ea typeface="Calibri" panose="020F0502020204030204" pitchFamily="34" charset="0"/>
              </a:rPr>
              <a:t>ÌàôÜÎÆ</a:t>
            </a:r>
            <a:r>
              <a:rPr lang="en-US" sz="4000" b="1" dirty="0">
                <a:solidFill>
                  <a:srgbClr val="548DD4"/>
                </a:solidFill>
                <a:latin typeface="Arm HelvU" pitchFamily="2" charset="0"/>
                <a:ea typeface="Calibri" panose="020F0502020204030204" pitchFamily="34" charset="0"/>
              </a:rPr>
              <a:t> ¶²È Î²Ø </a:t>
            </a:r>
            <a:r>
              <a:rPr lang="en-US" sz="4000" b="1" dirty="0" err="1">
                <a:solidFill>
                  <a:srgbClr val="548DD4"/>
                </a:solidFill>
                <a:latin typeface="Arm HelvU" pitchFamily="2" charset="0"/>
                <a:ea typeface="Calibri" panose="020F0502020204030204" pitchFamily="34" charset="0"/>
              </a:rPr>
              <a:t>ÜêîÆÈ</a:t>
            </a:r>
            <a:r>
              <a:rPr lang="en-US" sz="4000" b="1" dirty="0">
                <a:solidFill>
                  <a:srgbClr val="548DD4"/>
                </a:solidFill>
                <a:latin typeface="Arm HelvU" pitchFamily="2" charset="0"/>
                <a:ea typeface="Calibri" panose="020F0502020204030204" pitchFamily="34" charset="0"/>
              </a:rPr>
              <a:t> </a:t>
            </a:r>
            <a:r>
              <a:rPr lang="en-US" sz="4000" b="1"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MK Times Armenian" pitchFamily="2" charset="0"/>
                <a:ea typeface="Calibri" panose="020F0502020204030204" pitchFamily="34" charset="0"/>
              </a:rPr>
              <a:t>Էջ</a:t>
            </a:r>
            <a:r>
              <a:rPr lang="en-US" sz="3800" dirty="0">
                <a:solidFill>
                  <a:srgbClr val="548DD4"/>
                </a:solidFill>
                <a:latin typeface="MK Times Armenian" pitchFamily="2" charset="0"/>
                <a:ea typeface="Calibri" panose="020F0502020204030204" pitchFamily="34" charset="0"/>
              </a:rPr>
              <a:t>/page</a:t>
            </a:r>
            <a:r>
              <a:rPr lang="hy-AM"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27       </a:t>
            </a:r>
          </a:p>
        </p:txBody>
      </p:sp>
      <p:sp>
        <p:nvSpPr>
          <p:cNvPr id="5" name="TextBox 4">
            <a:extLst>
              <a:ext uri="{FF2B5EF4-FFF2-40B4-BE49-F238E27FC236}">
                <a16:creationId xmlns:a16="http://schemas.microsoft.com/office/drawing/2014/main" id="{B075F7C7-B2DB-4AF2-A0CA-031339EC1718}"/>
              </a:ext>
            </a:extLst>
          </p:cNvPr>
          <p:cNvSpPr txBox="1"/>
          <p:nvPr/>
        </p:nvSpPr>
        <p:spPr>
          <a:xfrm>
            <a:off x="1272812" y="3828099"/>
            <a:ext cx="13716000" cy="2246769"/>
          </a:xfrm>
          <a:prstGeom prst="rect">
            <a:avLst/>
          </a:prstGeom>
          <a:noFill/>
          <a:ln>
            <a:noFill/>
          </a:ln>
        </p:spPr>
        <p:txBody>
          <a:bodyPr wrap="square" rtlCol="0">
            <a:spAutoFit/>
          </a:bodyPr>
          <a:lstStyle/>
          <a:p>
            <a:pPr algn="ctr"/>
            <a:r>
              <a:rPr lang="en-US" sz="2800" strike="sngStrike" dirty="0">
                <a:latin typeface="TimesNewRomanPSMT"/>
              </a:rPr>
              <a:t>MIYASIN. </a:t>
            </a:r>
            <a:r>
              <a:rPr lang="en-US" sz="2800" i="1" strike="sngStrike" dirty="0" err="1">
                <a:latin typeface="TimesNewRomanPS-ItalicMT"/>
              </a:rPr>
              <a:t>Mégha</a:t>
            </a:r>
            <a:r>
              <a:rPr lang="en-US" sz="2800" i="1" strike="sngStrike" dirty="0">
                <a:latin typeface="TimesNewRomanPS-ItalicMT"/>
              </a:rPr>
              <a:t> </a:t>
            </a:r>
            <a:r>
              <a:rPr lang="en-US" sz="2800" i="1" strike="sngStrike" dirty="0" err="1">
                <a:latin typeface="TimesNewRomanPS-ItalicMT"/>
              </a:rPr>
              <a:t>aménasoorp</a:t>
            </a:r>
            <a:r>
              <a:rPr lang="en-US" sz="2800" i="1" strike="sngStrike" dirty="0">
                <a:latin typeface="TimesNewRomanPS-ItalicMT"/>
              </a:rPr>
              <a:t> </a:t>
            </a:r>
            <a:r>
              <a:rPr lang="en-US" sz="2800" i="1" strike="sngStrike" dirty="0" err="1">
                <a:latin typeface="TimesNewRomanPS-ItalicMT"/>
              </a:rPr>
              <a:t>Yérrortootyanûn</a:t>
            </a:r>
            <a:r>
              <a:rPr lang="en-US" sz="2800" i="1" strike="sngStrike" dirty="0">
                <a:latin typeface="TimesNewRomanPS-ItalicMT"/>
              </a:rPr>
              <a:t> </a:t>
            </a:r>
            <a:r>
              <a:rPr lang="en-US" sz="2800" i="1" strike="sngStrike" dirty="0" err="1">
                <a:latin typeface="TimesNewRomanPS-ItalicMT"/>
              </a:rPr>
              <a:t>Hor</a:t>
            </a:r>
            <a:r>
              <a:rPr lang="en-US" sz="2800" i="1" strike="sngStrike" dirty="0">
                <a:latin typeface="TimesNewRomanPS-ItalicMT"/>
              </a:rPr>
              <a:t> </a:t>
            </a:r>
            <a:r>
              <a:rPr lang="en-US" sz="2800" i="1" strike="sngStrike" dirty="0" err="1">
                <a:latin typeface="TimesNewRomanPS-ItalicMT"/>
              </a:rPr>
              <a:t>yév</a:t>
            </a:r>
            <a:r>
              <a:rPr lang="en-US" sz="2800" i="1" strike="sngStrike" dirty="0">
                <a:latin typeface="TimesNewRomanPS-ItalicMT"/>
              </a:rPr>
              <a:t> </a:t>
            </a:r>
            <a:r>
              <a:rPr lang="en-US" sz="2800" i="1" strike="sngStrike" dirty="0" err="1">
                <a:latin typeface="TimesNewRomanPS-ItalicMT"/>
              </a:rPr>
              <a:t>Vortvo</a:t>
            </a:r>
            <a:r>
              <a:rPr lang="en-US" sz="2800" i="1" strike="sngStrike" dirty="0">
                <a:latin typeface="TimesNewRomanPS-ItalicMT"/>
              </a:rPr>
              <a:t> </a:t>
            </a:r>
            <a:r>
              <a:rPr lang="en-US" sz="2800" i="1" strike="sngStrike" dirty="0" err="1">
                <a:latin typeface="TimesNewRomanPS-ItalicMT"/>
              </a:rPr>
              <a:t>yév</a:t>
            </a:r>
            <a:r>
              <a:rPr lang="en-US" sz="2800" i="1" strike="sngStrike" dirty="0">
                <a:latin typeface="TimesNewRomanPS-ItalicMT"/>
              </a:rPr>
              <a:t> </a:t>
            </a:r>
            <a:r>
              <a:rPr lang="en-US" sz="2800" i="1" strike="sngStrike" dirty="0" err="1">
                <a:latin typeface="TimesNewRomanPS-ItalicMT"/>
              </a:rPr>
              <a:t>Hokvooyn</a:t>
            </a:r>
            <a:r>
              <a:rPr lang="en-US" sz="2800" i="1" strike="sngStrike" dirty="0">
                <a:latin typeface="TimesNewRomanPS-ItalicMT"/>
              </a:rPr>
              <a:t> </a:t>
            </a:r>
            <a:r>
              <a:rPr lang="en-US" sz="2800" i="1" strike="sngStrike" dirty="0" err="1">
                <a:latin typeface="TimesNewRomanPS-ItalicMT"/>
              </a:rPr>
              <a:t>Sûrpo</a:t>
            </a:r>
            <a:r>
              <a:rPr lang="en-US" sz="2800" i="1" strike="sngStrike" dirty="0">
                <a:latin typeface="TimesNewRomanPS-ItalicMT"/>
              </a:rPr>
              <a:t>. </a:t>
            </a:r>
            <a:r>
              <a:rPr lang="en-US" sz="2800" i="1" strike="sngStrike" dirty="0" err="1">
                <a:latin typeface="TimesNewRomanPS-ItalicMT"/>
              </a:rPr>
              <a:t>Méghootsyal</a:t>
            </a:r>
            <a:r>
              <a:rPr lang="en-US" sz="2800" i="1" strike="sngStrike" dirty="0">
                <a:latin typeface="TimesNewRomanPS-ItalicMT"/>
              </a:rPr>
              <a:t> </a:t>
            </a:r>
            <a:r>
              <a:rPr lang="en-US" sz="2800" i="1" strike="sngStrike" dirty="0" err="1">
                <a:latin typeface="TimesNewRomanPS-ItalicMT"/>
              </a:rPr>
              <a:t>ém</a:t>
            </a:r>
            <a:r>
              <a:rPr lang="en-US" sz="2800" i="1" strike="sngStrike" dirty="0">
                <a:latin typeface="TimesNewRomanPS-ItalicMT"/>
              </a:rPr>
              <a:t> </a:t>
            </a:r>
            <a:r>
              <a:rPr lang="en-US" sz="2800" i="1" strike="sngStrike" dirty="0" err="1">
                <a:latin typeface="TimesNewRomanPS-ItalicMT"/>
              </a:rPr>
              <a:t>Asdoodzo</a:t>
            </a:r>
            <a:r>
              <a:rPr lang="en-US" sz="2800" i="1" strike="sngStrike" dirty="0">
                <a:latin typeface="TimesNewRomanPS-ItalicMT"/>
              </a:rPr>
              <a:t>. </a:t>
            </a:r>
            <a:r>
              <a:rPr lang="en-US" sz="2800" i="1" strike="sngStrike" dirty="0" err="1">
                <a:latin typeface="TimesNewRomanPS-ItalicMT"/>
              </a:rPr>
              <a:t>Khosdovanim</a:t>
            </a:r>
            <a:r>
              <a:rPr lang="en-US" sz="2800" i="1" strike="sngStrike" dirty="0">
                <a:latin typeface="TimesNewRomanPS-ItalicMT"/>
              </a:rPr>
              <a:t> </a:t>
            </a:r>
            <a:r>
              <a:rPr lang="en-US" sz="2800" i="1" strike="sngStrike" dirty="0" err="1">
                <a:latin typeface="TimesNewRomanPS-ItalicMT"/>
              </a:rPr>
              <a:t>arachi</a:t>
            </a:r>
            <a:r>
              <a:rPr lang="en-US" sz="2800" i="1" strike="sngStrike" dirty="0">
                <a:latin typeface="TimesNewRomanPS-ItalicMT"/>
              </a:rPr>
              <a:t> </a:t>
            </a:r>
            <a:r>
              <a:rPr lang="en-US" sz="2800" i="1" strike="sngStrike" dirty="0" err="1">
                <a:latin typeface="TimesNewRomanPS-ItalicMT"/>
              </a:rPr>
              <a:t>Asdoodzo</a:t>
            </a:r>
            <a:r>
              <a:rPr lang="en-US" sz="2800" i="1" strike="sngStrike" dirty="0">
                <a:latin typeface="TimesNewRomanPS-ItalicMT"/>
              </a:rPr>
              <a:t> </a:t>
            </a:r>
            <a:r>
              <a:rPr lang="en-US" sz="2800" i="1" strike="sngStrike" dirty="0" err="1">
                <a:latin typeface="TimesNewRomanPS-ItalicMT"/>
              </a:rPr>
              <a:t>yév</a:t>
            </a:r>
            <a:r>
              <a:rPr lang="en-US" sz="2800" i="1" strike="sngStrike" dirty="0">
                <a:latin typeface="TimesNewRomanPS-ItalicMT"/>
              </a:rPr>
              <a:t> </a:t>
            </a:r>
            <a:r>
              <a:rPr lang="en-US" sz="2800" i="1" strike="sngStrike" dirty="0" err="1">
                <a:latin typeface="TimesNewRomanPS-ItalicMT"/>
              </a:rPr>
              <a:t>sûrpoohvo</a:t>
            </a:r>
            <a:r>
              <a:rPr lang="en-US" sz="2800" i="1" strike="sngStrike" dirty="0">
                <a:latin typeface="TimesNewRomanPS-ItalicMT"/>
              </a:rPr>
              <a:t> </a:t>
            </a:r>
            <a:r>
              <a:rPr lang="en-US" sz="2800" i="1" strike="sngStrike" dirty="0" err="1">
                <a:latin typeface="TimesNewRomanPS-ItalicMT"/>
              </a:rPr>
              <a:t>Asdvadzadznin</a:t>
            </a:r>
            <a:r>
              <a:rPr lang="en-US" sz="2800" i="1" strike="sngStrike" dirty="0">
                <a:latin typeface="TimesNewRomanPS-ItalicMT"/>
              </a:rPr>
              <a:t>, </a:t>
            </a:r>
            <a:r>
              <a:rPr lang="en-US" sz="2800" i="1" strike="sngStrike" dirty="0" err="1">
                <a:latin typeface="TimesNewRomanPS-ItalicMT"/>
              </a:rPr>
              <a:t>yév</a:t>
            </a:r>
            <a:endParaRPr lang="en-US" sz="2800" i="1" strike="sngStrike" dirty="0">
              <a:latin typeface="TimesNewRomanPS-ItalicMT"/>
            </a:endParaRPr>
          </a:p>
          <a:p>
            <a:pPr algn="ctr"/>
            <a:r>
              <a:rPr lang="en-US" sz="2800" i="1" strike="sngStrike" dirty="0" err="1">
                <a:latin typeface="TimesNewRomanPS-ItalicMT"/>
              </a:rPr>
              <a:t>arachi</a:t>
            </a:r>
            <a:r>
              <a:rPr lang="en-US" sz="2800" i="1" strike="sngStrike" dirty="0">
                <a:latin typeface="TimesNewRomanPS-ItalicMT"/>
              </a:rPr>
              <a:t> ko, </a:t>
            </a:r>
            <a:r>
              <a:rPr lang="en-US" sz="2800" i="1" strike="sngStrike" dirty="0" err="1">
                <a:latin typeface="TimesNewRomanPS-ItalicMT"/>
              </a:rPr>
              <a:t>hayr</a:t>
            </a:r>
            <a:r>
              <a:rPr lang="en-US" sz="2800" i="1" strike="sngStrike" dirty="0">
                <a:latin typeface="TimesNewRomanPS-ItalicMT"/>
              </a:rPr>
              <a:t> </a:t>
            </a:r>
            <a:r>
              <a:rPr lang="en-US" sz="2800" i="1" strike="sngStrike" dirty="0" err="1">
                <a:latin typeface="TimesNewRomanPS-ItalicMT"/>
              </a:rPr>
              <a:t>soorp</a:t>
            </a:r>
            <a:r>
              <a:rPr lang="en-US" sz="2800" i="1" strike="sngStrike" dirty="0">
                <a:latin typeface="TimesNewRomanPS-ItalicMT"/>
              </a:rPr>
              <a:t>, </a:t>
            </a:r>
            <a:r>
              <a:rPr lang="en-US" sz="2800" i="1" strike="sngStrike" dirty="0" err="1">
                <a:latin typeface="TimesNewRomanPS-ItalicMT"/>
              </a:rPr>
              <a:t>zaménayn</a:t>
            </a:r>
            <a:r>
              <a:rPr lang="en-US" sz="2800" i="1" strike="sngStrike" dirty="0">
                <a:latin typeface="TimesNewRomanPS-ItalicMT"/>
              </a:rPr>
              <a:t> </a:t>
            </a:r>
            <a:r>
              <a:rPr lang="en-US" sz="2800" i="1" strike="sngStrike" dirty="0" err="1">
                <a:latin typeface="TimesNewRomanPS-ItalicMT"/>
              </a:rPr>
              <a:t>méghûs</a:t>
            </a:r>
            <a:r>
              <a:rPr lang="en-US" sz="2800" i="1" strike="sngStrike" dirty="0">
                <a:latin typeface="TimesNewRomanPS-ItalicMT"/>
              </a:rPr>
              <a:t> </a:t>
            </a:r>
            <a:r>
              <a:rPr lang="de-DE" sz="2800" i="1" strike="sngStrike" dirty="0">
                <a:latin typeface="TimesNewRomanPS-ItalicMT"/>
              </a:rPr>
              <a:t>zors kordzyal ém. Kanzi mégha</a:t>
            </a:r>
          </a:p>
          <a:p>
            <a:pPr algn="ctr"/>
            <a:r>
              <a:rPr lang="en-US" sz="2800" i="1" strike="sngStrike" dirty="0" err="1">
                <a:latin typeface="TimesNewRomanPS-ItalicMT"/>
              </a:rPr>
              <a:t>khorhûrtov</a:t>
            </a:r>
            <a:r>
              <a:rPr lang="en-US" sz="2800" i="1" strike="sngStrike" dirty="0">
                <a:latin typeface="TimesNewRomanPS-ItalicMT"/>
              </a:rPr>
              <a:t>, </a:t>
            </a:r>
            <a:r>
              <a:rPr lang="en-US" sz="2800" i="1" strike="sngStrike" dirty="0" err="1">
                <a:latin typeface="TimesNewRomanPS-ItalicMT"/>
              </a:rPr>
              <a:t>paniv</a:t>
            </a:r>
            <a:r>
              <a:rPr lang="en-US" sz="2800" i="1" strike="sngStrike" dirty="0">
                <a:latin typeface="TimesNewRomanPS-ItalicMT"/>
              </a:rPr>
              <a:t> </a:t>
            </a:r>
            <a:r>
              <a:rPr lang="en-US" sz="2800" i="1" strike="sngStrike" dirty="0" err="1">
                <a:latin typeface="TimesNewRomanPS-ItalicMT"/>
              </a:rPr>
              <a:t>yév</a:t>
            </a:r>
            <a:r>
              <a:rPr lang="en-US" sz="2800" i="1" strike="sngStrike" dirty="0">
                <a:latin typeface="TimesNewRomanPS-ItalicMT"/>
              </a:rPr>
              <a:t> </a:t>
            </a:r>
            <a:r>
              <a:rPr lang="en-US" sz="2800" i="1" strike="sngStrike" dirty="0" err="1">
                <a:latin typeface="TimesNewRomanPS-ItalicMT"/>
              </a:rPr>
              <a:t>kordzov</a:t>
            </a:r>
            <a:r>
              <a:rPr lang="en-US" sz="2800" i="1" strike="sngStrike" dirty="0">
                <a:latin typeface="TimesNewRomanPS-ItalicMT"/>
              </a:rPr>
              <a:t>, </a:t>
            </a:r>
            <a:r>
              <a:rPr lang="en-US" sz="2800" i="1" strike="sngStrike" dirty="0" err="1">
                <a:latin typeface="TimesNewRomanPS-ItalicMT"/>
              </a:rPr>
              <a:t>gama</a:t>
            </a:r>
            <a:r>
              <a:rPr lang="en-US" sz="2800" i="1" strike="sngStrike" dirty="0">
                <a:latin typeface="TimesNewRomanPS-ItalicMT"/>
              </a:rPr>
              <a:t> </a:t>
            </a:r>
            <a:r>
              <a:rPr lang="en-US" sz="2800" i="1" strike="sngStrike" dirty="0" err="1">
                <a:latin typeface="TimesNewRomanPS-ItalicMT"/>
              </a:rPr>
              <a:t>yév</a:t>
            </a:r>
            <a:r>
              <a:rPr lang="en-US" sz="2800" i="1" strike="sngStrike" dirty="0">
                <a:latin typeface="TimesNewRomanPS-ItalicMT"/>
              </a:rPr>
              <a:t> agama, </a:t>
            </a:r>
            <a:r>
              <a:rPr lang="en-US" sz="2800" i="1" strike="sngStrike" dirty="0" err="1">
                <a:latin typeface="TimesNewRomanPS-ItalicMT"/>
              </a:rPr>
              <a:t>kidootyamp</a:t>
            </a:r>
            <a:r>
              <a:rPr lang="en-US" sz="2800" i="1" strike="sngStrike" dirty="0">
                <a:latin typeface="TimesNewRomanPS-ItalicMT"/>
              </a:rPr>
              <a:t> </a:t>
            </a:r>
            <a:r>
              <a:rPr lang="en-US" sz="2800" i="1" strike="sngStrike" dirty="0" err="1">
                <a:latin typeface="TimesNewRomanPS-ItalicMT"/>
              </a:rPr>
              <a:t>yév</a:t>
            </a:r>
            <a:r>
              <a:rPr lang="en-US" sz="2800" i="1" strike="sngStrike" dirty="0">
                <a:latin typeface="TimesNewRomanPS-ItalicMT"/>
              </a:rPr>
              <a:t> </a:t>
            </a:r>
            <a:r>
              <a:rPr lang="en-US" sz="2800" i="1" strike="sngStrike" dirty="0" err="1">
                <a:latin typeface="TimesNewRomanPS-ItalicMT"/>
              </a:rPr>
              <a:t>ankidootyamp</a:t>
            </a:r>
            <a:r>
              <a:rPr lang="en-US" sz="2800" i="1" strike="sngStrike" dirty="0">
                <a:latin typeface="TimesNewRomanPS-ItalicMT"/>
              </a:rPr>
              <a:t>,</a:t>
            </a:r>
          </a:p>
          <a:p>
            <a:pPr algn="ctr"/>
            <a:r>
              <a:rPr lang="en-US" sz="2800" i="1" strike="sngStrike" dirty="0" err="1">
                <a:latin typeface="TimesNewRomanPS-ItalicMT"/>
              </a:rPr>
              <a:t>mégha</a:t>
            </a:r>
            <a:r>
              <a:rPr lang="en-US" sz="2800" i="1" strike="sngStrike" dirty="0">
                <a:latin typeface="TimesNewRomanPS-ItalicMT"/>
              </a:rPr>
              <a:t> </a:t>
            </a:r>
            <a:r>
              <a:rPr lang="en-US" sz="2800" i="1" strike="sngStrike" dirty="0" err="1">
                <a:latin typeface="TimesNewRomanPS-ItalicMT"/>
              </a:rPr>
              <a:t>Asdoodzo</a:t>
            </a:r>
            <a:r>
              <a:rPr lang="en-US" sz="2800" i="1" strike="sngStrike" dirty="0">
                <a:latin typeface="TimesNewRomanPS-ItalicMT"/>
              </a:rPr>
              <a:t>.</a:t>
            </a:r>
            <a:endParaRPr lang="en-US" sz="2800" strike="sngStrike"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234712" y="6450455"/>
            <a:ext cx="13713189" cy="2677656"/>
          </a:xfrm>
          <a:prstGeom prst="rect">
            <a:avLst/>
          </a:prstGeom>
          <a:noFill/>
          <a:ln>
            <a:noFill/>
          </a:ln>
        </p:spPr>
        <p:txBody>
          <a:bodyPr wrap="square" rtlCol="0">
            <a:spAutoFit/>
          </a:bodyPr>
          <a:lstStyle/>
          <a:p>
            <a:pPr algn="ctr"/>
            <a:r>
              <a:rPr lang="en-US" sz="2800" dirty="0">
                <a:solidFill>
                  <a:srgbClr val="00B050"/>
                </a:solidFill>
                <a:latin typeface="Times New Roman" panose="02020603050405020304" pitchFamily="18" charset="0"/>
                <a:ea typeface="Calibri" panose="020F0502020204030204" pitchFamily="34" charset="0"/>
              </a:rPr>
              <a:t>TOGETHER. </a:t>
            </a:r>
            <a:r>
              <a:rPr lang="en-US" sz="2800" dirty="0">
                <a:latin typeface="Times New Roman" panose="02020603050405020304" pitchFamily="18" charset="0"/>
                <a:ea typeface="Calibri" panose="020F0502020204030204" pitchFamily="34" charset="0"/>
              </a:rPr>
              <a:t>I have sinned against the all-Holy Trinity, the Father and the Son and the Holy Spirit. I have sinned against God. I confess before God, and before the holy Mother of God, and before you, holy father, all the sins that I have committed; for I have sinned in thought, in word, and in deed, willingly and unwillingly, knowingly and unknowingly. I have sinned against God.</a:t>
            </a:r>
          </a:p>
          <a:p>
            <a:pPr algn="ctr"/>
            <a:r>
              <a:rPr lang="en-US" sz="2800" dirty="0">
                <a:solidFill>
                  <a:srgbClr val="FF0000"/>
                </a:solidFill>
                <a:latin typeface="Times New Roman" panose="02020603050405020304" pitchFamily="18" charset="0"/>
                <a:ea typeface="Calibri" panose="020F0502020204030204" pitchFamily="34" charset="0"/>
              </a:rPr>
              <a:t>PRS.</a:t>
            </a:r>
            <a:r>
              <a:rPr lang="en-US" sz="2800" dirty="0">
                <a:latin typeface="Times New Roman" panose="02020603050405020304" pitchFamily="18" charset="0"/>
                <a:ea typeface="Calibri" panose="020F0502020204030204" pitchFamily="34" charset="0"/>
              </a:rPr>
              <a:t>	May God grant you forgiveness.</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30601"/>
            <a:ext cx="13713188" cy="2677656"/>
          </a:xfrm>
          <a:prstGeom prst="rect">
            <a:avLst/>
          </a:prstGeom>
          <a:noFill/>
          <a:ln w="12700">
            <a:noFill/>
          </a:ln>
        </p:spPr>
        <p:txBody>
          <a:bodyPr wrap="square" rtlCol="0">
            <a:spAutoFit/>
          </a:bodyPr>
          <a:lstStyle/>
          <a:p>
            <a:pPr algn="ctr"/>
            <a:r>
              <a:rPr lang="en-US" sz="2800" dirty="0">
                <a:solidFill>
                  <a:srgbClr val="00B050"/>
                </a:solidFill>
                <a:latin typeface="Arm HelvU" pitchFamily="2" charset="0"/>
                <a:ea typeface="Calibri" panose="020F0502020204030204" pitchFamily="34" charset="0"/>
              </a:rPr>
              <a:t>ØÆ²êÆÜ. </a:t>
            </a:r>
            <a:r>
              <a:rPr lang="en-US" sz="2800" dirty="0">
                <a:latin typeface="Arm HelvU" pitchFamily="2" charset="0"/>
                <a:ea typeface="Calibri" panose="020F0502020204030204" pitchFamily="34" charset="0"/>
              </a:rPr>
              <a:t>Ø»Õ³Ýã»óÇ ³Ù»Ý³ëáõñµ ºññáñ¹áõÃ»³Ýª </a:t>
            </a:r>
            <a:r>
              <a:rPr lang="en-US" sz="2800" dirty="0" err="1">
                <a:latin typeface="Arm HelvU" pitchFamily="2" charset="0"/>
                <a:ea typeface="Calibri" panose="020F0502020204030204" pitchFamily="34" charset="0"/>
              </a:rPr>
              <a:t>ÐûñÁ</a:t>
            </a:r>
            <a:r>
              <a:rPr lang="en-US" sz="2800" dirty="0">
                <a:latin typeface="Arm HelvU" pitchFamily="2" charset="0"/>
                <a:ea typeface="Calibri" panose="020F0502020204030204" pitchFamily="34" charset="0"/>
              </a:rPr>
              <a:t> »õ àñ¹ÇÇÝ »õ </a:t>
            </a:r>
            <a:r>
              <a:rPr lang="en-US" sz="2800" dirty="0" err="1">
                <a:latin typeface="Arm HelvU" pitchFamily="2" charset="0"/>
                <a:ea typeface="Calibri" panose="020F0502020204030204" pitchFamily="34" charset="0"/>
              </a:rPr>
              <a:t>êáõñ</a:t>
            </a:r>
            <a:r>
              <a:rPr lang="en-US" sz="2800" dirty="0">
                <a:latin typeface="Arm HelvU" pitchFamily="2" charset="0"/>
                <a:ea typeface="Calibri" panose="020F0502020204030204" pitchFamily="34" charset="0"/>
              </a:rPr>
              <a:t>µ </a:t>
            </a:r>
            <a:r>
              <a:rPr lang="en-US" sz="2800" dirty="0" err="1">
                <a:latin typeface="Arm HelvU" pitchFamily="2" charset="0"/>
                <a:ea typeface="Calibri" panose="020F0502020204030204" pitchFamily="34" charset="0"/>
              </a:rPr>
              <a:t>Ðá·ÇÇÝ</a:t>
            </a:r>
            <a:r>
              <a:rPr lang="en-US" sz="2800" dirty="0">
                <a:latin typeface="Arm HelvU" pitchFamily="2" charset="0"/>
                <a:ea typeface="Calibri" panose="020F0502020204030204" pitchFamily="34" charset="0"/>
              </a:rPr>
              <a:t> ¹¿Ù£ Ø»Õ³õáñ »Ù ²ëïáõÍáÛ ³éç»õ£ </a:t>
            </a:r>
            <a:r>
              <a:rPr lang="en-US" sz="2800" dirty="0" err="1">
                <a:solidFill>
                  <a:prstClr val="black"/>
                </a:solidFill>
                <a:latin typeface="Arm HelvU" pitchFamily="2" charset="0"/>
              </a:rPr>
              <a:t>E</a:t>
            </a:r>
            <a:r>
              <a:rPr lang="en-US" sz="2800" dirty="0" err="1">
                <a:latin typeface="Arm HelvU" pitchFamily="2" charset="0"/>
                <a:ea typeface="Calibri" panose="020F0502020204030204" pitchFamily="34" charset="0"/>
              </a:rPr>
              <a:t>áÉáñ</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Ù»Õù»ñë</a:t>
            </a:r>
            <a:r>
              <a:rPr lang="en-US" sz="2800" dirty="0">
                <a:latin typeface="Arm HelvU" pitchFamily="2" charset="0"/>
                <a:ea typeface="Calibri" panose="020F0502020204030204" pitchFamily="34" charset="0"/>
              </a:rPr>
              <a:t> ÏÁ Ëáëïáí³ÝÇÙ ²ëïáõÍáÛ ³éç»õ, </a:t>
            </a:r>
            <a:r>
              <a:rPr lang="en-US" sz="2800" dirty="0" err="1">
                <a:latin typeface="Arm HelvU" pitchFamily="2" charset="0"/>
                <a:ea typeface="Calibri" panose="020F0502020204030204" pitchFamily="34" charset="0"/>
              </a:rPr>
              <a:t>ëáõñ</a:t>
            </a:r>
            <a:r>
              <a:rPr lang="en-US" sz="2800" dirty="0">
                <a:latin typeface="Arm HelvU" pitchFamily="2" charset="0"/>
                <a:ea typeface="Calibri" panose="020F0502020204030204" pitchFamily="34" charset="0"/>
              </a:rPr>
              <a:t>µ ²ëïáõ³Í³ÍÇÝÇÝ »õ µ</a:t>
            </a:r>
            <a:r>
              <a:rPr lang="en-US" sz="2800" dirty="0" err="1">
                <a:latin typeface="Arm HelvU" pitchFamily="2" charset="0"/>
                <a:ea typeface="Calibri" panose="020F0502020204030204" pitchFamily="34" charset="0"/>
              </a:rPr>
              <a:t>áÉáñ</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ëáõñ</a:t>
            </a:r>
            <a:r>
              <a:rPr lang="en-US" sz="2800" dirty="0">
                <a:latin typeface="Arm HelvU" pitchFamily="2" charset="0"/>
                <a:ea typeface="Calibri" panose="020F0502020204030204" pitchFamily="34" charset="0"/>
              </a:rPr>
              <a:t>µ»</a:t>
            </a:r>
            <a:r>
              <a:rPr lang="en-US" sz="2800" dirty="0" err="1">
                <a:latin typeface="Arm HelvU" pitchFamily="2" charset="0"/>
                <a:ea typeface="Calibri" panose="020F0502020204030204" pitchFamily="34" charset="0"/>
              </a:rPr>
              <a:t>ñáõÝ</a:t>
            </a:r>
            <a:r>
              <a:rPr lang="en-US" sz="2800" dirty="0">
                <a:latin typeface="Arm HelvU" pitchFamily="2" charset="0"/>
                <a:ea typeface="Calibri" panose="020F0502020204030204" pitchFamily="34" charset="0"/>
              </a:rPr>
              <a:t> ³éç»õ, </a:t>
            </a:r>
            <a:r>
              <a:rPr lang="en-US" sz="2800" dirty="0" err="1">
                <a:latin typeface="Arm HelvU" pitchFamily="2" charset="0"/>
                <a:ea typeface="Calibri" panose="020F0502020204030204" pitchFamily="34" charset="0"/>
              </a:rPr>
              <a:t>ÇÝãå¿ë</a:t>
            </a:r>
            <a:r>
              <a:rPr lang="en-US" sz="2800" dirty="0">
                <a:latin typeface="Arm HelvU" pitchFamily="2" charset="0"/>
                <a:ea typeface="Calibri" panose="020F0502020204030204" pitchFamily="34" charset="0"/>
              </a:rPr>
              <a:t> Ý³»õ </a:t>
            </a:r>
            <a:r>
              <a:rPr lang="en-US" sz="2800" dirty="0" err="1">
                <a:latin typeface="Arm HelvU" pitchFamily="2" charset="0"/>
                <a:ea typeface="Calibri" panose="020F0502020204030204" pitchFamily="34" charset="0"/>
              </a:rPr>
              <a:t>ùáõ</a:t>
            </a:r>
            <a:r>
              <a:rPr lang="en-US" sz="2800" dirty="0">
                <a:latin typeface="Arm HelvU" pitchFamily="2" charset="0"/>
                <a:ea typeface="Calibri" panose="020F0502020204030204" pitchFamily="34" charset="0"/>
              </a:rPr>
              <a:t> ³éç»õ¹, Ñ³Ûñ </a:t>
            </a:r>
            <a:r>
              <a:rPr lang="en-US" sz="2800" dirty="0" err="1">
                <a:latin typeface="Arm HelvU" pitchFamily="2" charset="0"/>
                <a:ea typeface="Calibri" panose="020F0502020204030204" pitchFamily="34" charset="0"/>
              </a:rPr>
              <a:t>ëáõñ</a:t>
            </a:r>
            <a:r>
              <a:rPr lang="en-US" sz="2800" dirty="0">
                <a:latin typeface="Arm HelvU" pitchFamily="2" charset="0"/>
                <a:ea typeface="Calibri" panose="020F0502020204030204" pitchFamily="34" charset="0"/>
              </a:rPr>
              <a:t>µ£ Ø»Õ³Ýã»óÇª Ùï³ÍáõÙáí, </a:t>
            </a:r>
            <a:r>
              <a:rPr lang="en-US" sz="2800" dirty="0" err="1">
                <a:latin typeface="Arm HelvU" pitchFamily="2" charset="0"/>
                <a:ea typeface="Calibri" panose="020F0502020204030204" pitchFamily="34" charset="0"/>
              </a:rPr>
              <a:t>Ëûëùáí</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áõ</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áñÍáí</a:t>
            </a:r>
            <a:r>
              <a:rPr lang="en-US" sz="2800" dirty="0">
                <a:latin typeface="Arm HelvU" pitchFamily="2" charset="0"/>
                <a:ea typeface="Calibri" panose="020F0502020204030204" pitchFamily="34" charset="0"/>
              </a:rPr>
              <a:t>, Ï³Ù³Û Ã¿ ³Ï³Ù³Û, ·Çï³Ïó³µ³ñ Ã¿ ³Ý·Çï³Ïó³µ³ñª Ù»Õ³Û ²ëïáõÍáÛ£</a:t>
            </a:r>
          </a:p>
          <a:p>
            <a:pPr algn="ctr"/>
            <a:r>
              <a:rPr lang="en-US" sz="2800" dirty="0" err="1">
                <a:solidFill>
                  <a:srgbClr val="FF0000"/>
                </a:solidFill>
                <a:latin typeface="Arm HelvU" pitchFamily="2" charset="0"/>
                <a:ea typeface="Calibri" panose="020F0502020204030204" pitchFamily="34" charset="0"/>
              </a:rPr>
              <a:t>øÐÜ</a:t>
            </a:r>
            <a:r>
              <a:rPr lang="en-US" sz="2800" dirty="0">
                <a:solidFill>
                  <a:srgbClr val="FF0000"/>
                </a:solidFill>
                <a:latin typeface="Arm HelvU" pitchFamily="2" charset="0"/>
                <a:ea typeface="Calibri" panose="020F0502020204030204" pitchFamily="34" charset="0"/>
              </a:rPr>
              <a:t>. </a:t>
            </a:r>
            <a:r>
              <a:rPr lang="en-US" sz="2800" dirty="0">
                <a:latin typeface="Arm HelvU" pitchFamily="2" charset="0"/>
                <a:ea typeface="Calibri" panose="020F0502020204030204" pitchFamily="34" charset="0"/>
              </a:rPr>
              <a:t>²ëïáõ³Í </a:t>
            </a:r>
            <a:r>
              <a:rPr lang="en-US" sz="2800" dirty="0" err="1">
                <a:latin typeface="Arm HelvU" pitchFamily="2" charset="0"/>
                <a:ea typeface="Calibri" panose="020F0502020204030204" pitchFamily="34" charset="0"/>
              </a:rPr>
              <a:t>ÃáÕáõÃÇõÝ</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ÃáÕ</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ßÝáñÑ</a:t>
            </a:r>
            <a:r>
              <a:rPr lang="en-US" sz="2800" dirty="0">
                <a:latin typeface="Arm HelvU" pitchFamily="2" charset="0"/>
                <a:ea typeface="Calibri" panose="020F0502020204030204" pitchFamily="34" charset="0"/>
              </a:rPr>
              <a:t>¿£</a:t>
            </a:r>
          </a:p>
        </p:txBody>
      </p:sp>
      <p:cxnSp>
        <p:nvCxnSpPr>
          <p:cNvPr id="9" name="Straight Connector 8"/>
          <p:cNvCxnSpPr/>
          <p:nvPr/>
        </p:nvCxnSpPr>
        <p:spPr>
          <a:xfrm>
            <a:off x="1270000" y="3819124"/>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223880" y="6431985"/>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0734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62179" y="3375"/>
            <a:ext cx="13716000" cy="707886"/>
          </a:xfrm>
          <a:prstGeom prst="rect">
            <a:avLst/>
          </a:prstGeom>
          <a:solidFill>
            <a:schemeClr val="bg1"/>
          </a:solidFill>
          <a:ln>
            <a:noFill/>
          </a:ln>
        </p:spPr>
        <p:txBody>
          <a:bodyPr wrap="square" rtlCol="0">
            <a:spAutoFit/>
          </a:bodyPr>
          <a:lstStyle/>
          <a:p>
            <a:r>
              <a:rPr lang="en-US" sz="4000" b="1" dirty="0" err="1">
                <a:solidFill>
                  <a:srgbClr val="548DD4"/>
                </a:solidFill>
                <a:latin typeface="Arm HelvU" pitchFamily="2" charset="0"/>
                <a:ea typeface="Calibri" panose="020F0502020204030204" pitchFamily="34" charset="0"/>
              </a:rPr>
              <a:t>ÌàôÜÎÆ</a:t>
            </a:r>
            <a:r>
              <a:rPr lang="en-US" sz="4000" b="1" dirty="0">
                <a:solidFill>
                  <a:srgbClr val="548DD4"/>
                </a:solidFill>
                <a:latin typeface="Arm HelvU" pitchFamily="2" charset="0"/>
                <a:ea typeface="Calibri" panose="020F0502020204030204" pitchFamily="34" charset="0"/>
              </a:rPr>
              <a:t> ¶²È Î²Ø </a:t>
            </a:r>
            <a:r>
              <a:rPr lang="en-US" sz="4000" b="1" dirty="0" err="1">
                <a:solidFill>
                  <a:srgbClr val="548DD4"/>
                </a:solidFill>
                <a:latin typeface="Arm HelvU" pitchFamily="2" charset="0"/>
                <a:ea typeface="Calibri" panose="020F0502020204030204" pitchFamily="34" charset="0"/>
              </a:rPr>
              <a:t>ÜêîÆÈ</a:t>
            </a:r>
            <a:r>
              <a:rPr lang="en-US" sz="4000" b="1" dirty="0">
                <a:solidFill>
                  <a:srgbClr val="548DD4"/>
                </a:solidFill>
                <a:latin typeface="Arm HelvU" pitchFamily="2" charset="0"/>
                <a:ea typeface="Calibri" panose="020F0502020204030204" pitchFamily="34" charset="0"/>
              </a:rPr>
              <a:t> </a:t>
            </a:r>
            <a:r>
              <a:rPr lang="en-US" sz="4000" b="1"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MK Times Armenian" pitchFamily="2" charset="0"/>
                <a:ea typeface="Calibri" panose="020F0502020204030204" pitchFamily="34" charset="0"/>
              </a:rPr>
              <a:t>Էջ</a:t>
            </a:r>
            <a:r>
              <a:rPr lang="en-US" sz="3800" dirty="0">
                <a:solidFill>
                  <a:srgbClr val="548DD4"/>
                </a:solidFill>
                <a:latin typeface="MK Times Armenian" pitchFamily="2" charset="0"/>
                <a:ea typeface="Calibri" panose="020F0502020204030204" pitchFamily="34" charset="0"/>
              </a:rPr>
              <a:t>/page</a:t>
            </a:r>
            <a:r>
              <a:rPr lang="hy-AM"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27       </a:t>
            </a:r>
          </a:p>
        </p:txBody>
      </p:sp>
      <p:sp>
        <p:nvSpPr>
          <p:cNvPr id="6" name="TextBox 5">
            <a:extLst>
              <a:ext uri="{FF2B5EF4-FFF2-40B4-BE49-F238E27FC236}">
                <a16:creationId xmlns:a16="http://schemas.microsoft.com/office/drawing/2014/main" id="{7903C8A4-BAFA-4C25-AE19-DE42EC8F17D6}"/>
              </a:ext>
            </a:extLst>
          </p:cNvPr>
          <p:cNvSpPr txBox="1"/>
          <p:nvPr/>
        </p:nvSpPr>
        <p:spPr>
          <a:xfrm>
            <a:off x="1246001" y="5321566"/>
            <a:ext cx="13713189" cy="1815882"/>
          </a:xfrm>
          <a:prstGeom prst="rect">
            <a:avLst/>
          </a:prstGeom>
          <a:noFill/>
          <a:ln>
            <a:noFill/>
          </a:ln>
        </p:spPr>
        <p:txBody>
          <a:bodyPr wrap="square" rtlCol="0">
            <a:spAutoFit/>
          </a:bodyPr>
          <a:lstStyle/>
          <a:p>
            <a:pPr algn="ctr"/>
            <a:r>
              <a:rPr lang="en-US" sz="2800" dirty="0">
                <a:solidFill>
                  <a:srgbClr val="00B050"/>
                </a:solidFill>
                <a:latin typeface="Times New Roman" panose="02020603050405020304" pitchFamily="18" charset="0"/>
                <a:ea typeface="Calibri" panose="020F0502020204030204" pitchFamily="34" charset="0"/>
              </a:rPr>
              <a:t>TOGETHER. </a:t>
            </a:r>
            <a:r>
              <a:rPr lang="en-US" sz="2800" dirty="0">
                <a:latin typeface="Times New Roman" panose="02020603050405020304" pitchFamily="18" charset="0"/>
                <a:ea typeface="Calibri" panose="020F0502020204030204" pitchFamily="34" charset="0"/>
              </a:rPr>
              <a:t>I have sinned by the sevenfold transgressions of the deadly sins; namely, by pride, by envy, by anger, by sloth, by covetousness, by gluttony, by lust, and all their forms. I have sinned against God.</a:t>
            </a:r>
          </a:p>
          <a:p>
            <a:pPr algn="ctr"/>
            <a:r>
              <a:rPr lang="en-US" sz="2800" dirty="0">
                <a:solidFill>
                  <a:srgbClr val="FF0000"/>
                </a:solidFill>
                <a:latin typeface="Times New Roman" panose="02020603050405020304" pitchFamily="18" charset="0"/>
                <a:ea typeface="Calibri" panose="020F0502020204030204" pitchFamily="34" charset="0"/>
              </a:rPr>
              <a:t>PRS.</a:t>
            </a:r>
            <a:r>
              <a:rPr lang="en-US" sz="2800" dirty="0">
                <a:latin typeface="Times New Roman" panose="02020603050405020304" pitchFamily="18" charset="0"/>
                <a:ea typeface="Calibri" panose="020F0502020204030204" pitchFamily="34" charset="0"/>
              </a:rPr>
              <a:t>	May God grant you forgiveness.</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683761"/>
            <a:ext cx="13713188" cy="1815882"/>
          </a:xfrm>
          <a:prstGeom prst="rect">
            <a:avLst/>
          </a:prstGeom>
          <a:noFill/>
          <a:ln w="12700">
            <a:noFill/>
          </a:ln>
        </p:spPr>
        <p:txBody>
          <a:bodyPr wrap="square" rtlCol="0">
            <a:spAutoFit/>
          </a:bodyPr>
          <a:lstStyle/>
          <a:p>
            <a:pPr algn="ctr"/>
            <a:r>
              <a:rPr lang="en-US" sz="2800" dirty="0">
                <a:solidFill>
                  <a:srgbClr val="00B050"/>
                </a:solidFill>
                <a:latin typeface="Arm HelvU" pitchFamily="2" charset="0"/>
                <a:ea typeface="Calibri" panose="020F0502020204030204" pitchFamily="34" charset="0"/>
              </a:rPr>
              <a:t>ØÆ²êÆÜ. </a:t>
            </a:r>
            <a:r>
              <a:rPr lang="en-US" sz="2800" dirty="0">
                <a:latin typeface="Arm HelvU" pitchFamily="2" charset="0"/>
                <a:ea typeface="Calibri" panose="020F0502020204030204" pitchFamily="34" charset="0"/>
              </a:rPr>
              <a:t>Ø»Õ³Ýã»óÇ ³ÛÝ »</a:t>
            </a:r>
            <a:r>
              <a:rPr lang="en-US" sz="2800" dirty="0" err="1">
                <a:latin typeface="Arm HelvU" pitchFamily="2" charset="0"/>
                <a:ea typeface="Calibri" panose="020F0502020204030204" pitchFamily="34" charset="0"/>
              </a:rPr>
              <a:t>ûÃÁ</a:t>
            </a:r>
            <a:r>
              <a:rPr lang="en-US" sz="2800" dirty="0">
                <a:latin typeface="Arm HelvU" pitchFamily="2" charset="0"/>
                <a:ea typeface="Calibri" panose="020F0502020204030204" pitchFamily="34" charset="0"/>
              </a:rPr>
              <a:t> Û³Ýó³ÝùÝ»ñáí, </a:t>
            </a:r>
            <a:r>
              <a:rPr lang="en-US" sz="2800" dirty="0" err="1">
                <a:latin typeface="Arm HelvU" pitchFamily="2" charset="0"/>
                <a:ea typeface="Calibri" panose="020F0502020204030204" pitchFamily="34" charset="0"/>
              </a:rPr>
              <a:t>áñáÝù</a:t>
            </a:r>
            <a:r>
              <a:rPr lang="en-US" sz="2800" dirty="0">
                <a:latin typeface="Arm HelvU" pitchFamily="2" charset="0"/>
                <a:ea typeface="Calibri" panose="020F0502020204030204" pitchFamily="34" charset="0"/>
              </a:rPr>
              <a:t> Ù³Ñ³óáõ </a:t>
            </a:r>
            <a:r>
              <a:rPr lang="en-US" sz="2800" dirty="0" err="1">
                <a:latin typeface="Arm HelvU" pitchFamily="2" charset="0"/>
                <a:ea typeface="Calibri" panose="020F0502020204030204" pitchFamily="34" charset="0"/>
              </a:rPr>
              <a:t>Ù»Õù»ñÝ</a:t>
            </a:r>
            <a:r>
              <a:rPr lang="en-US" sz="2800" dirty="0">
                <a:latin typeface="Arm HelvU" pitchFamily="2" charset="0"/>
                <a:ea typeface="Calibri" panose="020F0502020204030204" pitchFamily="34" charset="0"/>
              </a:rPr>
              <a:t> »Ý.- Ñå³ñïáõÃ»³Ùµ, Ý³Ë³ÝÓáí, µ³ñÏáõÃ»³Ùµ, ÍáõÉáõÃ»³Ùµ, ³·³ÑáõÃ»³Ùµ, áñÏñ³ÙáÉáõÃ»³Ùµ, ó³ÝÏ³ÙáÉáõÃ»³Ùµ, »õ ³ëáÝó µ</a:t>
            </a:r>
            <a:r>
              <a:rPr lang="en-US" sz="2800" dirty="0" err="1">
                <a:latin typeface="Arm HelvU" pitchFamily="2" charset="0"/>
                <a:ea typeface="Calibri" panose="020F0502020204030204" pitchFamily="34" charset="0"/>
              </a:rPr>
              <a:t>áÉáñ</a:t>
            </a:r>
            <a:r>
              <a:rPr lang="en-US" sz="2800" dirty="0">
                <a:latin typeface="Arm HelvU" pitchFamily="2" charset="0"/>
                <a:ea typeface="Calibri" panose="020F0502020204030204" pitchFamily="34" charset="0"/>
              </a:rPr>
              <a:t> ï»ë³ÏÝ»ñáíÁª Ù»Õ³Û ²ëïáõÍáÛ£</a:t>
            </a:r>
          </a:p>
          <a:p>
            <a:pPr algn="ctr"/>
            <a:r>
              <a:rPr lang="en-US" sz="2800" dirty="0" err="1">
                <a:solidFill>
                  <a:srgbClr val="FF0000"/>
                </a:solidFill>
                <a:latin typeface="Arm HelvU" pitchFamily="2" charset="0"/>
                <a:ea typeface="Calibri" panose="020F0502020204030204" pitchFamily="34" charset="0"/>
              </a:rPr>
              <a:t>øÐÜ</a:t>
            </a:r>
            <a:r>
              <a:rPr lang="en-US" sz="2800" dirty="0">
                <a:solidFill>
                  <a:srgbClr val="FF0000"/>
                </a:solidFill>
                <a:latin typeface="Arm HelvU" pitchFamily="2" charset="0"/>
                <a:ea typeface="Calibri" panose="020F0502020204030204" pitchFamily="34" charset="0"/>
              </a:rPr>
              <a:t>. </a:t>
            </a:r>
            <a:r>
              <a:rPr lang="en-US" sz="2800" dirty="0">
                <a:latin typeface="Arm HelvU" pitchFamily="2" charset="0"/>
                <a:ea typeface="Calibri" panose="020F0502020204030204" pitchFamily="34" charset="0"/>
              </a:rPr>
              <a:t>²ëïáõ³Í </a:t>
            </a:r>
            <a:r>
              <a:rPr lang="en-US" sz="2800" dirty="0" err="1">
                <a:latin typeface="Arm HelvU" pitchFamily="2" charset="0"/>
                <a:ea typeface="Calibri" panose="020F0502020204030204" pitchFamily="34" charset="0"/>
              </a:rPr>
              <a:t>ÃáÕáõÃÇõÝ</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ÃáÕ</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ßÝáñÑ</a:t>
            </a:r>
            <a:r>
              <a:rPr lang="en-US" sz="2800" dirty="0">
                <a:latin typeface="Arm HelvU" pitchFamily="2" charset="0"/>
                <a:ea typeface="Calibri" panose="020F0502020204030204" pitchFamily="34" charset="0"/>
              </a:rPr>
              <a:t>¿£</a:t>
            </a:r>
          </a:p>
        </p:txBody>
      </p:sp>
      <p:cxnSp>
        <p:nvCxnSpPr>
          <p:cNvPr id="9" name="Straight Connector 8"/>
          <p:cNvCxnSpPr/>
          <p:nvPr/>
        </p:nvCxnSpPr>
        <p:spPr>
          <a:xfrm>
            <a:off x="1270000" y="4699658"/>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30761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62179" y="3375"/>
            <a:ext cx="13716000" cy="707886"/>
          </a:xfrm>
          <a:prstGeom prst="rect">
            <a:avLst/>
          </a:prstGeom>
          <a:solidFill>
            <a:schemeClr val="bg1"/>
          </a:solidFill>
          <a:ln>
            <a:noFill/>
          </a:ln>
        </p:spPr>
        <p:txBody>
          <a:bodyPr wrap="square" rtlCol="0">
            <a:spAutoFit/>
          </a:bodyPr>
          <a:lstStyle/>
          <a:p>
            <a:r>
              <a:rPr lang="en-US" sz="4000" b="1" dirty="0" err="1">
                <a:solidFill>
                  <a:srgbClr val="548DD4"/>
                </a:solidFill>
                <a:latin typeface="Arm HelvU" pitchFamily="2" charset="0"/>
                <a:ea typeface="Calibri" panose="020F0502020204030204" pitchFamily="34" charset="0"/>
              </a:rPr>
              <a:t>ÌàôÜÎÆ</a:t>
            </a:r>
            <a:r>
              <a:rPr lang="en-US" sz="4000" b="1" dirty="0">
                <a:solidFill>
                  <a:srgbClr val="548DD4"/>
                </a:solidFill>
                <a:latin typeface="Arm HelvU" pitchFamily="2" charset="0"/>
                <a:ea typeface="Calibri" panose="020F0502020204030204" pitchFamily="34" charset="0"/>
              </a:rPr>
              <a:t> ¶²È Î²Ø </a:t>
            </a:r>
            <a:r>
              <a:rPr lang="en-US" sz="4000" b="1" dirty="0" err="1">
                <a:solidFill>
                  <a:srgbClr val="548DD4"/>
                </a:solidFill>
                <a:latin typeface="Arm HelvU" pitchFamily="2" charset="0"/>
                <a:ea typeface="Calibri" panose="020F0502020204030204" pitchFamily="34" charset="0"/>
              </a:rPr>
              <a:t>ÜêîÆÈ</a:t>
            </a:r>
            <a:r>
              <a:rPr lang="en-US" sz="4000" b="1" dirty="0">
                <a:solidFill>
                  <a:srgbClr val="548DD4"/>
                </a:solidFill>
                <a:latin typeface="Arm HelvU" pitchFamily="2" charset="0"/>
                <a:ea typeface="Calibri" panose="020F0502020204030204" pitchFamily="34" charset="0"/>
              </a:rPr>
              <a:t> </a:t>
            </a:r>
            <a:r>
              <a:rPr lang="en-US" sz="4000" b="1"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MK Times Armenian" pitchFamily="2" charset="0"/>
                <a:ea typeface="Calibri" panose="020F0502020204030204" pitchFamily="34" charset="0"/>
              </a:rPr>
              <a:t>Էջ</a:t>
            </a:r>
            <a:r>
              <a:rPr lang="en-US" sz="3800" dirty="0">
                <a:solidFill>
                  <a:srgbClr val="548DD4"/>
                </a:solidFill>
                <a:latin typeface="MK Times Armenian" pitchFamily="2" charset="0"/>
                <a:ea typeface="Calibri" panose="020F0502020204030204" pitchFamily="34" charset="0"/>
              </a:rPr>
              <a:t>/page</a:t>
            </a:r>
            <a:r>
              <a:rPr lang="hy-AM"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27       </a:t>
            </a:r>
          </a:p>
        </p:txBody>
      </p:sp>
      <p:sp>
        <p:nvSpPr>
          <p:cNvPr id="6" name="TextBox 5">
            <a:extLst>
              <a:ext uri="{FF2B5EF4-FFF2-40B4-BE49-F238E27FC236}">
                <a16:creationId xmlns:a16="http://schemas.microsoft.com/office/drawing/2014/main" id="{7903C8A4-BAFA-4C25-AE19-DE42EC8F17D6}"/>
              </a:ext>
            </a:extLst>
          </p:cNvPr>
          <p:cNvSpPr txBox="1"/>
          <p:nvPr/>
        </p:nvSpPr>
        <p:spPr>
          <a:xfrm>
            <a:off x="1234712" y="5242542"/>
            <a:ext cx="13713189" cy="3970318"/>
          </a:xfrm>
          <a:prstGeom prst="rect">
            <a:avLst/>
          </a:prstGeom>
          <a:noFill/>
          <a:ln>
            <a:noFill/>
          </a:ln>
        </p:spPr>
        <p:txBody>
          <a:bodyPr wrap="square" rtlCol="0">
            <a:spAutoFit/>
          </a:bodyPr>
          <a:lstStyle/>
          <a:p>
            <a:pPr algn="ctr"/>
            <a:r>
              <a:rPr lang="en-US" sz="2800" dirty="0">
                <a:solidFill>
                  <a:srgbClr val="00B050"/>
                </a:solidFill>
                <a:latin typeface="Times New Roman" panose="02020603050405020304" pitchFamily="18" charset="0"/>
                <a:ea typeface="Calibri" panose="020F0502020204030204" pitchFamily="34" charset="0"/>
              </a:rPr>
              <a:t>TOGETHER. </a:t>
            </a:r>
            <a:r>
              <a:rPr lang="en-US" sz="2800" dirty="0">
                <a:latin typeface="Times New Roman" panose="02020603050405020304" pitchFamily="18" charset="0"/>
                <a:ea typeface="Calibri" panose="020F0502020204030204" pitchFamily="34" charset="0"/>
              </a:rPr>
              <a:t>I have also sinned against all the commandments of God, both positive and prohibitive, for I have neither performed the positive commands, nor abstained from those things that are prohibited. I accepted the Law but was slothful in keeping it. I was called to the profession of Christianity but was found unworthy of it by my deeds. While knowing the evil, I willingly gave way to it and from good works I purposely kept away. Woe to me, woe to me, woe to me; which of my misdeeds shall I recount? Which shall I confess?</a:t>
            </a:r>
            <a:r>
              <a:rPr lang="en-US" sz="2800" dirty="0">
                <a:latin typeface="Cambria Math" panose="02040503050406030204" pitchFamily="18" charset="0"/>
                <a:ea typeface="Calibri" panose="020F0502020204030204" pitchFamily="34" charset="0"/>
                <a:cs typeface="Cambria Math" panose="02040503050406030204" pitchFamily="18" charset="0"/>
              </a:rPr>
              <a:t> </a:t>
            </a:r>
            <a:r>
              <a:rPr lang="en-US" sz="2800" dirty="0">
                <a:latin typeface="Times New Roman" panose="02020603050405020304" pitchFamily="18" charset="0"/>
                <a:ea typeface="Calibri" panose="020F0502020204030204" pitchFamily="34" charset="0"/>
              </a:rPr>
              <a:t>For my sins are innumerable, my iniquities are unspeakable, my afflictions are intolerable, and my wounds are incurable. I have sinned against God.</a:t>
            </a:r>
          </a:p>
          <a:p>
            <a:pPr algn="ctr"/>
            <a:r>
              <a:rPr lang="en-US" sz="2800" dirty="0">
                <a:solidFill>
                  <a:srgbClr val="FF0000"/>
                </a:solidFill>
                <a:latin typeface="Times New Roman" panose="02020603050405020304" pitchFamily="18" charset="0"/>
                <a:ea typeface="Calibri" panose="020F0502020204030204" pitchFamily="34" charset="0"/>
              </a:rPr>
              <a:t>PRS.</a:t>
            </a:r>
            <a:r>
              <a:rPr lang="en-US" sz="2800" dirty="0">
                <a:latin typeface="Times New Roman" panose="02020603050405020304" pitchFamily="18" charset="0"/>
                <a:ea typeface="Calibri" panose="020F0502020204030204" pitchFamily="34" charset="0"/>
              </a:rPr>
              <a:t>	May God grant you forgiveness.</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30601"/>
            <a:ext cx="13713188" cy="3970318"/>
          </a:xfrm>
          <a:prstGeom prst="rect">
            <a:avLst/>
          </a:prstGeom>
          <a:noFill/>
          <a:ln w="12700">
            <a:noFill/>
          </a:ln>
        </p:spPr>
        <p:txBody>
          <a:bodyPr wrap="square" rtlCol="0">
            <a:spAutoFit/>
          </a:bodyPr>
          <a:lstStyle/>
          <a:p>
            <a:pPr algn="ctr"/>
            <a:r>
              <a:rPr lang="en-US" sz="2800" dirty="0">
                <a:solidFill>
                  <a:srgbClr val="00B050"/>
                </a:solidFill>
                <a:latin typeface="Arm HelvU" pitchFamily="2" charset="0"/>
                <a:ea typeface="Calibri" panose="020F0502020204030204" pitchFamily="34" charset="0"/>
              </a:rPr>
              <a:t>ØÆ²êÆÜ. </a:t>
            </a:r>
            <a:r>
              <a:rPr lang="en-US" sz="2800" dirty="0">
                <a:latin typeface="Arm HelvU" pitchFamily="2" charset="0"/>
                <a:ea typeface="Calibri" panose="020F0502020204030204" pitchFamily="34" charset="0"/>
              </a:rPr>
              <a:t>ºõ ¹»é Ù»Õ³Ýã»óÇ ²ëïáõÍáÛ µ</a:t>
            </a:r>
            <a:r>
              <a:rPr lang="en-US" sz="2800" dirty="0" err="1">
                <a:latin typeface="Arm HelvU" pitchFamily="2" charset="0"/>
                <a:ea typeface="Calibri" panose="020F0502020204030204" pitchFamily="34" charset="0"/>
              </a:rPr>
              <a:t>áÉáñ</a:t>
            </a:r>
            <a:r>
              <a:rPr lang="en-US" sz="2800" dirty="0">
                <a:latin typeface="Arm HelvU" pitchFamily="2" charset="0"/>
                <a:ea typeface="Calibri" panose="020F0502020204030204" pitchFamily="34" charset="0"/>
              </a:rPr>
              <a:t> å³ïáõÇñ³ÝÝ»ñáõÝ ¹¿Ù, Ã¿</a:t>
            </a:r>
            <a:r>
              <a:rPr lang="en-US" sz="2800" dirty="0">
                <a:solidFill>
                  <a:prstClr val="black"/>
                </a:solidFill>
                <a:latin typeface="Arm HelvU" pitchFamily="2" charset="0"/>
              </a:rPr>
              <a:t>]</a:t>
            </a:r>
            <a:r>
              <a:rPr lang="en-US" sz="2800" dirty="0">
                <a:latin typeface="Arm HelvU" pitchFamily="2" charset="0"/>
                <a:ea typeface="Calibri" panose="020F0502020204030204" pitchFamily="34" charset="0"/>
              </a:rPr>
              <a:t> Û³ÝÓÝ³éáõÃÇõÝÝ»ñáõë »õ Ã¿</a:t>
            </a:r>
            <a:r>
              <a:rPr lang="en-US" sz="2800" dirty="0">
                <a:solidFill>
                  <a:prstClr val="black"/>
                </a:solidFill>
                <a:latin typeface="Arm HelvU" pitchFamily="2" charset="0"/>
              </a:rPr>
              <a:t>]</a:t>
            </a:r>
            <a:r>
              <a:rPr lang="en-US" sz="2800" dirty="0">
                <a:latin typeface="Arm HelvU" pitchFamily="2" charset="0"/>
                <a:ea typeface="Calibri" panose="020F0502020204030204" pitchFamily="34" charset="0"/>
              </a:rPr>
              <a:t> Ññ³Å³ñ»ÉÇùÝ»ñáõë </a:t>
            </a:r>
            <a:r>
              <a:rPr lang="en-US" sz="2800" dirty="0" err="1">
                <a:latin typeface="Arm HelvU" pitchFamily="2" charset="0"/>
                <a:ea typeface="Calibri" panose="020F0502020204030204" pitchFamily="34" charset="0"/>
              </a:rPr>
              <a:t>Ù¿ç</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áñáíÑ»ï»õ</a:t>
            </a:r>
            <a:r>
              <a:rPr lang="en-US" sz="2800" dirty="0">
                <a:latin typeface="Arm HelvU" pitchFamily="2" charset="0"/>
                <a:ea typeface="Calibri" panose="020F0502020204030204" pitchFamily="34" charset="0"/>
              </a:rPr>
              <a:t> á</a:t>
            </a:r>
            <a:r>
              <a:rPr lang="en-US" sz="2800" dirty="0">
                <a:solidFill>
                  <a:prstClr val="black"/>
                </a:solidFill>
                <a:latin typeface="Arm HelvU" pitchFamily="2" charset="0"/>
              </a:rPr>
              <a:t>]</a:t>
            </a:r>
            <a:r>
              <a:rPr lang="en-US" sz="2800" dirty="0">
                <a:latin typeface="Arm HelvU" pitchFamily="2" charset="0"/>
                <a:ea typeface="Calibri" panose="020F0502020204030204" pitchFamily="34" charset="0"/>
              </a:rPr>
              <a:t>ã Û³ÝÓÝ ³é³ÍÝ»ñë Ï³ï³ñ»óÇ »õ á</a:t>
            </a:r>
            <a:r>
              <a:rPr lang="en-US" sz="2800" dirty="0">
                <a:solidFill>
                  <a:prstClr val="black"/>
                </a:solidFill>
                <a:latin typeface="Arm HelvU" pitchFamily="2" charset="0"/>
              </a:rPr>
              <a:t>]</a:t>
            </a:r>
            <a:r>
              <a:rPr lang="en-US" sz="2800" dirty="0">
                <a:latin typeface="Arm HelvU" pitchFamily="2" charset="0"/>
                <a:ea typeface="Calibri" panose="020F0502020204030204" pitchFamily="34" charset="0"/>
              </a:rPr>
              <a:t>ã ³É Ññ³Å³ñ³ÍÝ»ñ¿ë Ñ»é³ó³Û£ </a:t>
            </a:r>
            <a:r>
              <a:rPr lang="en-US" sz="2800" dirty="0" err="1">
                <a:latin typeface="Arm HelvU" pitchFamily="2" charset="0"/>
                <a:ea typeface="Calibri" panose="020F0502020204030204" pitchFamily="34" charset="0"/>
              </a:rPr>
              <a:t>úñ¿ÝùÁ</a:t>
            </a:r>
            <a:r>
              <a:rPr lang="en-US" sz="2800" dirty="0">
                <a:latin typeface="Arm HelvU" pitchFamily="2" charset="0"/>
                <a:ea typeface="Calibri" panose="020F0502020204030204" pitchFamily="34" charset="0"/>
              </a:rPr>
              <a:t> ëáñí»ó³Û, ë³Ï³ÛÝ </a:t>
            </a:r>
            <a:r>
              <a:rPr lang="en-US" sz="2800" dirty="0" err="1">
                <a:latin typeface="Arm HelvU" pitchFamily="2" charset="0"/>
                <a:ea typeface="Calibri" panose="020F0502020204030204" pitchFamily="34" charset="0"/>
              </a:rPr>
              <a:t>úñ¿ÝùÇ</a:t>
            </a:r>
            <a:r>
              <a:rPr lang="en-US" sz="2800" dirty="0">
                <a:latin typeface="Arm HelvU" pitchFamily="2" charset="0"/>
                <a:ea typeface="Calibri" panose="020F0502020204030204" pitchFamily="34" charset="0"/>
              </a:rPr>
              <a:t> ·áñÍ³¹ñáõÃ»³Ý </a:t>
            </a:r>
            <a:r>
              <a:rPr lang="en-US" sz="2800" dirty="0" err="1">
                <a:latin typeface="Arm HelvU" pitchFamily="2" charset="0"/>
                <a:ea typeface="Calibri" panose="020F0502020204030204" pitchFamily="34" charset="0"/>
              </a:rPr>
              <a:t>Ù¿ç</a:t>
            </a:r>
            <a:r>
              <a:rPr lang="en-US" sz="2800" dirty="0">
                <a:latin typeface="Arm HelvU" pitchFamily="2" charset="0"/>
                <a:ea typeface="Calibri" panose="020F0502020204030204" pitchFamily="34" charset="0"/>
              </a:rPr>
              <a:t> ÍáõÉ³ó³Û£ øñÇëïáÝ¿áõÃ»³Ý ß³ñù»ñáõÝ </a:t>
            </a:r>
            <a:r>
              <a:rPr lang="en-US" sz="2800" dirty="0" err="1">
                <a:latin typeface="Arm HelvU" pitchFamily="2" charset="0"/>
                <a:ea typeface="Calibri" panose="020F0502020204030204" pitchFamily="34" charset="0"/>
              </a:rPr>
              <a:t>Ù¿ç</a:t>
            </a:r>
            <a:r>
              <a:rPr lang="en-US" sz="2800" dirty="0">
                <a:latin typeface="Arm HelvU" pitchFamily="2" charset="0"/>
                <a:ea typeface="Calibri" panose="020F0502020204030204" pitchFamily="34" charset="0"/>
              </a:rPr>
              <a:t> ³Ýó³Û, µ³Ûó ·</a:t>
            </a:r>
            <a:r>
              <a:rPr lang="en-US" sz="2800" dirty="0" err="1">
                <a:latin typeface="Arm HelvU" pitchFamily="2" charset="0"/>
                <a:ea typeface="Calibri" panose="020F0502020204030204" pitchFamily="34" charset="0"/>
              </a:rPr>
              <a:t>áñÍ»ñáíë</a:t>
            </a:r>
            <a:r>
              <a:rPr lang="en-US" sz="2800" dirty="0">
                <a:latin typeface="Arm HelvU" pitchFamily="2" charset="0"/>
                <a:ea typeface="Calibri" panose="020F0502020204030204" pitchFamily="34" charset="0"/>
              </a:rPr>
              <a:t> ³Ý³ñÅ³Ý ·ïÝáõ»ó³Û£ â³ñÇùÁ ·ÇïÝ³Éáí Ñ³Ý¹»ñÓª Ï³ÙáíÇÝ Ýáõ³ëï³ó³Û, »õ »ë ÇÙ Ï³Ùùáíë µ³ñÇ ·</a:t>
            </a:r>
            <a:r>
              <a:rPr lang="en-US" sz="2800" dirty="0" err="1">
                <a:latin typeface="Arm HelvU" pitchFamily="2" charset="0"/>
                <a:ea typeface="Calibri" panose="020F0502020204030204" pitchFamily="34" charset="0"/>
              </a:rPr>
              <a:t>áñÍ»ñ¿Ý</a:t>
            </a:r>
            <a:r>
              <a:rPr lang="en-US" sz="2800" dirty="0">
                <a:latin typeface="Arm HelvU" pitchFamily="2" charset="0"/>
                <a:ea typeface="Calibri" panose="020F0502020204030204" pitchFamily="34" charset="0"/>
              </a:rPr>
              <a:t> Ñ»é³ó³Û£ ì³¯Û ÇÝÍÇ, í³¯Û ÇÝÍÇ, í³¯Û ÇÝÍÇ. </a:t>
            </a:r>
            <a:r>
              <a:rPr lang="en-US" sz="2800" dirty="0" err="1">
                <a:latin typeface="Arm HelvU" pitchFamily="2" charset="0"/>
                <a:ea typeface="Calibri" panose="020F0502020204030204" pitchFamily="34" charset="0"/>
              </a:rPr>
              <a:t>á</a:t>
            </a:r>
            <a:r>
              <a:rPr lang="en-US" sz="2800" dirty="0" err="1">
                <a:solidFill>
                  <a:prstClr val="black"/>
                </a:solidFill>
                <a:latin typeface="Arm HelvU" pitchFamily="2" charset="0"/>
              </a:rPr>
              <a:t>.</a:t>
            </a:r>
            <a:r>
              <a:rPr lang="en-US" sz="2800" dirty="0" err="1">
                <a:latin typeface="Arm HelvU" pitchFamily="2" charset="0"/>
                <a:ea typeface="Calibri" panose="020F0502020204030204" pitchFamily="34" charset="0"/>
              </a:rPr>
              <a:t>ñ</a:t>
            </a:r>
            <a:r>
              <a:rPr lang="en-US" sz="2800" dirty="0">
                <a:latin typeface="Arm HelvU" pitchFamily="2" charset="0"/>
                <a:ea typeface="Calibri" panose="020F0502020204030204" pitchFamily="34" charset="0"/>
              </a:rPr>
              <a:t> Ù¿ÏÁ </a:t>
            </a:r>
            <a:r>
              <a:rPr lang="en-US" sz="2800" dirty="0" err="1">
                <a:latin typeface="Arm HelvU" pitchFamily="2" charset="0"/>
                <a:ea typeface="Calibri" panose="020F0502020204030204" pitchFamily="34" charset="0"/>
              </a:rPr>
              <a:t>Áë»Ù</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a:t>
            </a:r>
            <a:r>
              <a:rPr lang="en-US" sz="2800" dirty="0" err="1">
                <a:solidFill>
                  <a:prstClr val="black"/>
                </a:solidFill>
                <a:latin typeface="Arm HelvU" pitchFamily="2" charset="0"/>
              </a:rPr>
              <a:t>.</a:t>
            </a:r>
            <a:r>
              <a:rPr lang="en-US" sz="2800" dirty="0" err="1">
                <a:latin typeface="Arm HelvU" pitchFamily="2" charset="0"/>
                <a:ea typeface="Calibri" panose="020F0502020204030204" pitchFamily="34" charset="0"/>
              </a:rPr>
              <a:t>ñ</a:t>
            </a:r>
            <a:r>
              <a:rPr lang="en-US" sz="2800" dirty="0">
                <a:latin typeface="Arm HelvU" pitchFamily="2" charset="0"/>
                <a:ea typeface="Calibri" panose="020F0502020204030204" pitchFamily="34" charset="0"/>
              </a:rPr>
              <a:t> Ù¿ÏÁ Ëáëïáí³ÝÇÙ, ³¯ÛÝù³Ý ß³ï »Ý Û³Ýó³ÝùÝ»ñë, </a:t>
            </a:r>
            <a:r>
              <a:rPr lang="en-US" sz="2800" dirty="0" err="1">
                <a:latin typeface="Arm HelvU" pitchFamily="2" charset="0"/>
                <a:ea typeface="Calibri" panose="020F0502020204030204" pitchFamily="34" charset="0"/>
              </a:rPr>
              <a:t>ãÁëáõ»ÉÇù</a:t>
            </a:r>
            <a:r>
              <a:rPr lang="en-US" sz="2800" dirty="0">
                <a:latin typeface="Arm HelvU" pitchFamily="2" charset="0"/>
                <a:ea typeface="Calibri" panose="020F0502020204030204" pitchFamily="34" charset="0"/>
              </a:rPr>
              <a:t> »Ý ³Ýûñ¿ÝáõÃÇõÝÝ»ñë, ³ÝÝ»ñ»ÉÇ »Ý ó³õ»ñë »õ ³ÝµÅßÏ»ÉÇ »Ý </a:t>
            </a:r>
            <a:r>
              <a:rPr lang="en-US" sz="2800" dirty="0" err="1">
                <a:latin typeface="Arm HelvU" pitchFamily="2" charset="0"/>
                <a:ea typeface="Calibri" panose="020F0502020204030204" pitchFamily="34" charset="0"/>
              </a:rPr>
              <a:t>í¿ñù»ñë</a:t>
            </a:r>
            <a:r>
              <a:rPr lang="en-US" sz="2800" dirty="0">
                <a:latin typeface="Arm HelvU" pitchFamily="2" charset="0"/>
                <a:ea typeface="Calibri" panose="020F0502020204030204" pitchFamily="34" charset="0"/>
              </a:rPr>
              <a:t>, Ù»Õ³Û ²ëïáõÍáÛ£</a:t>
            </a:r>
          </a:p>
          <a:p>
            <a:pPr algn="ctr"/>
            <a:r>
              <a:rPr lang="en-US" sz="2800" dirty="0" err="1">
                <a:solidFill>
                  <a:srgbClr val="FF0000"/>
                </a:solidFill>
                <a:latin typeface="Arm HelvU" pitchFamily="2" charset="0"/>
                <a:ea typeface="Calibri" panose="020F0502020204030204" pitchFamily="34" charset="0"/>
              </a:rPr>
              <a:t>øÐÜ</a:t>
            </a:r>
            <a:r>
              <a:rPr lang="en-US" sz="2800" dirty="0">
                <a:solidFill>
                  <a:srgbClr val="FF0000"/>
                </a:solidFill>
                <a:latin typeface="Arm HelvU" pitchFamily="2" charset="0"/>
                <a:ea typeface="Calibri" panose="020F0502020204030204" pitchFamily="34" charset="0"/>
              </a:rPr>
              <a:t>. </a:t>
            </a:r>
            <a:r>
              <a:rPr lang="en-US" sz="2800" dirty="0">
                <a:latin typeface="Arm HelvU" pitchFamily="2" charset="0"/>
                <a:ea typeface="Calibri" panose="020F0502020204030204" pitchFamily="34" charset="0"/>
              </a:rPr>
              <a:t>²ëïáõ³Í </a:t>
            </a:r>
            <a:r>
              <a:rPr lang="en-US" sz="2800" dirty="0" err="1">
                <a:latin typeface="Arm HelvU" pitchFamily="2" charset="0"/>
                <a:ea typeface="Calibri" panose="020F0502020204030204" pitchFamily="34" charset="0"/>
              </a:rPr>
              <a:t>ÃáÕáõÃÇõÝ</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ÃáÕ</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ßÝáñÑ</a:t>
            </a:r>
            <a:r>
              <a:rPr lang="en-US" sz="2800" dirty="0">
                <a:latin typeface="Arm HelvU" pitchFamily="2" charset="0"/>
                <a:ea typeface="Calibri" panose="020F0502020204030204" pitchFamily="34" charset="0"/>
              </a:rPr>
              <a:t>¿£</a:t>
            </a:r>
          </a:p>
        </p:txBody>
      </p:sp>
      <p:cxnSp>
        <p:nvCxnSpPr>
          <p:cNvPr id="10" name="Straight Connector 9"/>
          <p:cNvCxnSpPr/>
          <p:nvPr/>
        </p:nvCxnSpPr>
        <p:spPr>
          <a:xfrm>
            <a:off x="1267551" y="5100919"/>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836587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62179" y="3375"/>
            <a:ext cx="13716000" cy="707886"/>
          </a:xfrm>
          <a:prstGeom prst="rect">
            <a:avLst/>
          </a:prstGeom>
          <a:solidFill>
            <a:schemeClr val="bg1"/>
          </a:solidFill>
          <a:ln>
            <a:noFill/>
          </a:ln>
        </p:spPr>
        <p:txBody>
          <a:bodyPr wrap="square" rtlCol="0">
            <a:spAutoFit/>
          </a:bodyPr>
          <a:lstStyle/>
          <a:p>
            <a:r>
              <a:rPr lang="en-US" sz="4000" b="1" dirty="0" err="1">
                <a:solidFill>
                  <a:srgbClr val="548DD4"/>
                </a:solidFill>
                <a:latin typeface="Arm HelvU" pitchFamily="2" charset="0"/>
                <a:ea typeface="Calibri" panose="020F0502020204030204" pitchFamily="34" charset="0"/>
              </a:rPr>
              <a:t>ÌàôÜÎÆ</a:t>
            </a:r>
            <a:r>
              <a:rPr lang="en-US" sz="4000" b="1" dirty="0">
                <a:solidFill>
                  <a:srgbClr val="548DD4"/>
                </a:solidFill>
                <a:latin typeface="Arm HelvU" pitchFamily="2" charset="0"/>
                <a:ea typeface="Calibri" panose="020F0502020204030204" pitchFamily="34" charset="0"/>
              </a:rPr>
              <a:t> ¶²È Î²Ø </a:t>
            </a:r>
            <a:r>
              <a:rPr lang="en-US" sz="4000" b="1" dirty="0" err="1">
                <a:solidFill>
                  <a:srgbClr val="548DD4"/>
                </a:solidFill>
                <a:latin typeface="Arm HelvU" pitchFamily="2" charset="0"/>
                <a:ea typeface="Calibri" panose="020F0502020204030204" pitchFamily="34" charset="0"/>
              </a:rPr>
              <a:t>ÜêîÆÈ</a:t>
            </a:r>
            <a:r>
              <a:rPr lang="en-US" sz="4000" b="1" dirty="0">
                <a:solidFill>
                  <a:srgbClr val="548DD4"/>
                </a:solidFill>
                <a:latin typeface="Arm HelvU" pitchFamily="2" charset="0"/>
                <a:ea typeface="Calibri" panose="020F0502020204030204" pitchFamily="34" charset="0"/>
              </a:rPr>
              <a:t> </a:t>
            </a:r>
            <a:r>
              <a:rPr lang="en-US" sz="4000" b="1"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MK Times Armenian" pitchFamily="2" charset="0"/>
                <a:ea typeface="Calibri" panose="020F0502020204030204" pitchFamily="34" charset="0"/>
              </a:rPr>
              <a:t>Էջ</a:t>
            </a:r>
            <a:r>
              <a:rPr lang="en-US" sz="3800" dirty="0">
                <a:solidFill>
                  <a:srgbClr val="548DD4"/>
                </a:solidFill>
                <a:latin typeface="MK Times Armenian" pitchFamily="2" charset="0"/>
                <a:ea typeface="Calibri" panose="020F0502020204030204" pitchFamily="34" charset="0"/>
              </a:rPr>
              <a:t>/page</a:t>
            </a:r>
            <a:r>
              <a:rPr lang="hy-AM"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28       </a:t>
            </a:r>
          </a:p>
        </p:txBody>
      </p:sp>
      <p:sp>
        <p:nvSpPr>
          <p:cNvPr id="6" name="TextBox 5">
            <a:extLst>
              <a:ext uri="{FF2B5EF4-FFF2-40B4-BE49-F238E27FC236}">
                <a16:creationId xmlns:a16="http://schemas.microsoft.com/office/drawing/2014/main" id="{7903C8A4-BAFA-4C25-AE19-DE42EC8F17D6}"/>
              </a:ext>
            </a:extLst>
          </p:cNvPr>
          <p:cNvSpPr txBox="1"/>
          <p:nvPr/>
        </p:nvSpPr>
        <p:spPr>
          <a:xfrm>
            <a:off x="1268579" y="6179518"/>
            <a:ext cx="13713189" cy="1384995"/>
          </a:xfrm>
          <a:prstGeom prst="rect">
            <a:avLst/>
          </a:prstGeom>
          <a:noFill/>
          <a:ln>
            <a:noFill/>
          </a:ln>
        </p:spPr>
        <p:txBody>
          <a:bodyPr wrap="square" rtlCol="0">
            <a:spAutoFit/>
          </a:bodyPr>
          <a:lstStyle/>
          <a:p>
            <a:pPr algn="ctr"/>
            <a:r>
              <a:rPr lang="en-US" sz="2800" dirty="0">
                <a:solidFill>
                  <a:srgbClr val="00B050"/>
                </a:solidFill>
                <a:latin typeface="Times New Roman" panose="02020603050405020304" pitchFamily="18" charset="0"/>
                <a:ea typeface="Calibri" panose="020F0502020204030204" pitchFamily="34" charset="0"/>
              </a:rPr>
              <a:t>TOGETHER. </a:t>
            </a:r>
            <a:r>
              <a:rPr lang="en-US" sz="2800" dirty="0">
                <a:latin typeface="Times New Roman" panose="02020603050405020304" pitchFamily="18" charset="0"/>
                <a:ea typeface="Calibri" panose="020F0502020204030204" pitchFamily="34" charset="0"/>
              </a:rPr>
              <a:t>Holy father, I hold you as my reconciler and intercessor before the only-begotten Son of God, that by the authority vested in you, you may release me of the bonds of my sins, I</a:t>
            </a:r>
            <a:r>
              <a:rPr lang="en-US" sz="2800" dirty="0">
                <a:latin typeface="Cambria Math" panose="02040503050406030204" pitchFamily="18" charset="0"/>
                <a:ea typeface="Calibri" panose="020F0502020204030204" pitchFamily="34" charset="0"/>
                <a:cs typeface="Cambria Math" panose="02040503050406030204" pitchFamily="18" charset="0"/>
              </a:rPr>
              <a:t> </a:t>
            </a:r>
            <a:r>
              <a:rPr lang="en-US" sz="2800" dirty="0">
                <a:latin typeface="Times New Roman" panose="02020603050405020304" pitchFamily="18" charset="0"/>
                <a:ea typeface="Calibri" panose="020F0502020204030204" pitchFamily="34" charset="0"/>
              </a:rPr>
              <a:t>beseech you.</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30602"/>
            <a:ext cx="13713188" cy="1384995"/>
          </a:xfrm>
          <a:prstGeom prst="rect">
            <a:avLst/>
          </a:prstGeom>
          <a:noFill/>
          <a:ln w="12700">
            <a:noFill/>
          </a:ln>
        </p:spPr>
        <p:txBody>
          <a:bodyPr wrap="square" rtlCol="0">
            <a:spAutoFit/>
          </a:bodyPr>
          <a:lstStyle/>
          <a:p>
            <a:pPr algn="ctr"/>
            <a:r>
              <a:rPr lang="en-US" sz="2800" dirty="0">
                <a:solidFill>
                  <a:srgbClr val="00B050"/>
                </a:solidFill>
                <a:latin typeface="Arm HelvU" pitchFamily="2" charset="0"/>
                <a:ea typeface="Calibri" panose="020F0502020204030204" pitchFamily="34" charset="0"/>
              </a:rPr>
              <a:t>ØÆ²êÆÜ. </a:t>
            </a:r>
            <a:r>
              <a:rPr lang="en-US" sz="2800" dirty="0">
                <a:latin typeface="Arm HelvU" pitchFamily="2" charset="0"/>
                <a:ea typeface="Calibri" panose="020F0502020204030204" pitchFamily="34" charset="0"/>
              </a:rPr>
              <a:t>Ð³Ûñ </a:t>
            </a:r>
            <a:r>
              <a:rPr lang="en-US" sz="2800" dirty="0" err="1">
                <a:latin typeface="Arm HelvU" pitchFamily="2" charset="0"/>
                <a:ea typeface="Calibri" panose="020F0502020204030204" pitchFamily="34" charset="0"/>
              </a:rPr>
              <a:t>ëáõñ</a:t>
            </a:r>
            <a:r>
              <a:rPr lang="en-US" sz="2800" dirty="0">
                <a:latin typeface="Arm HelvU" pitchFamily="2" charset="0"/>
                <a:ea typeface="Calibri" panose="020F0502020204030204" pitchFamily="34" charset="0"/>
              </a:rPr>
              <a:t>µ, ÇÝÍÇ Ñ³Ù³ñ Ñ³ßïáõÃ»³Ý ÙÇçÝáñ¹ »õ µ³ñ»Ëûë »</a:t>
            </a:r>
            <a:r>
              <a:rPr lang="en-US" sz="2800" dirty="0" err="1">
                <a:latin typeface="Arm HelvU" pitchFamily="2" charset="0"/>
                <a:ea typeface="Calibri" panose="020F0502020204030204" pitchFamily="34" charset="0"/>
              </a:rPr>
              <a:t>ÕÇñ</a:t>
            </a:r>
            <a:r>
              <a:rPr lang="en-US" sz="2800" dirty="0">
                <a:latin typeface="Arm HelvU" pitchFamily="2" charset="0"/>
                <a:ea typeface="Calibri" panose="020F0502020204030204" pitchFamily="34" charset="0"/>
              </a:rPr>
              <a:t> ²ëïáõÍáÛ ØÇ³ÍÇÝ àñ¹ÇÇÝ </a:t>
            </a:r>
            <a:r>
              <a:rPr lang="en-US" sz="2800" dirty="0" err="1">
                <a:latin typeface="Arm HelvU" pitchFamily="2" charset="0"/>
                <a:ea typeface="Calibri" panose="020F0502020204030204" pitchFamily="34" charset="0"/>
              </a:rPr>
              <a:t>ùáí</a:t>
            </a:r>
            <a:r>
              <a:rPr lang="en-US" sz="2800" dirty="0">
                <a:latin typeface="Arm HelvU" pitchFamily="2" charset="0"/>
                <a:ea typeface="Calibri" panose="020F0502020204030204" pitchFamily="34" charset="0"/>
              </a:rPr>
              <a:t>, »õ ù»½Ç ïñáõ³Í ÇßË³ÝáõÃ»³Ùµª ½Çë ÇÙ </a:t>
            </a:r>
            <a:r>
              <a:rPr lang="en-US" sz="2800" dirty="0" err="1">
                <a:latin typeface="Arm HelvU" pitchFamily="2" charset="0"/>
                <a:ea typeface="Calibri" panose="020F0502020204030204" pitchFamily="34" charset="0"/>
              </a:rPr>
              <a:t>Ù»Õù»ñáõë</a:t>
            </a:r>
            <a:r>
              <a:rPr lang="en-US" sz="2800" dirty="0">
                <a:latin typeface="Arm HelvU" pitchFamily="2" charset="0"/>
                <a:ea typeface="Calibri" panose="020F0502020204030204" pitchFamily="34" charset="0"/>
              </a:rPr>
              <a:t> Ï³å³ÝùÝ»ñ¿Ý ³ñÓ³Ï¿, Ïþ³Õ³ã»Ù ù»½Ç£</a:t>
            </a:r>
            <a:endParaRPr lang="hy-AM" sz="2800" dirty="0">
              <a:latin typeface="Arm HelvU" pitchFamily="2" charset="0"/>
              <a:ea typeface="Calibri" panose="020F0502020204030204" pitchFamily="34" charset="0"/>
            </a:endParaRPr>
          </a:p>
        </p:txBody>
      </p:sp>
      <p:cxnSp>
        <p:nvCxnSpPr>
          <p:cNvPr id="10" name="Straight Connector 9"/>
          <p:cNvCxnSpPr/>
          <p:nvPr/>
        </p:nvCxnSpPr>
        <p:spPr>
          <a:xfrm>
            <a:off x="1267551" y="5100919"/>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7354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261F10-0764-4486-A72F-9C38C8E5FC28}"/>
              </a:ext>
            </a:extLst>
          </p:cNvPr>
          <p:cNvSpPr txBox="1"/>
          <p:nvPr/>
        </p:nvSpPr>
        <p:spPr>
          <a:xfrm>
            <a:off x="1262179" y="3375"/>
            <a:ext cx="13716000" cy="707886"/>
          </a:xfrm>
          <a:prstGeom prst="rect">
            <a:avLst/>
          </a:prstGeom>
          <a:solidFill>
            <a:schemeClr val="bg1"/>
          </a:solidFill>
          <a:ln>
            <a:noFill/>
          </a:ln>
        </p:spPr>
        <p:txBody>
          <a:bodyPr wrap="square" rtlCol="0">
            <a:spAutoFit/>
          </a:bodyPr>
          <a:lstStyle/>
          <a:p>
            <a:r>
              <a:rPr lang="en-US" sz="4000" b="1" dirty="0" err="1">
                <a:solidFill>
                  <a:srgbClr val="548DD4"/>
                </a:solidFill>
                <a:latin typeface="Arm HelvU" pitchFamily="2" charset="0"/>
                <a:ea typeface="Calibri" panose="020F0502020204030204" pitchFamily="34" charset="0"/>
              </a:rPr>
              <a:t>ÌàôÜÎÆ</a:t>
            </a:r>
            <a:r>
              <a:rPr lang="en-US" sz="4000" b="1" dirty="0">
                <a:solidFill>
                  <a:srgbClr val="548DD4"/>
                </a:solidFill>
                <a:latin typeface="Arm HelvU" pitchFamily="2" charset="0"/>
                <a:ea typeface="Calibri" panose="020F0502020204030204" pitchFamily="34" charset="0"/>
              </a:rPr>
              <a:t> ¶²È Î²Ø </a:t>
            </a:r>
            <a:r>
              <a:rPr lang="en-US" sz="4000" b="1" dirty="0" err="1">
                <a:solidFill>
                  <a:srgbClr val="548DD4"/>
                </a:solidFill>
                <a:latin typeface="Arm HelvU" pitchFamily="2" charset="0"/>
                <a:ea typeface="Calibri" panose="020F0502020204030204" pitchFamily="34" charset="0"/>
              </a:rPr>
              <a:t>ÜêîÆÈ</a:t>
            </a:r>
            <a:r>
              <a:rPr lang="en-US" sz="4000" b="1" dirty="0">
                <a:solidFill>
                  <a:srgbClr val="548DD4"/>
                </a:solidFill>
                <a:latin typeface="Arm HelvU" pitchFamily="2" charset="0"/>
                <a:ea typeface="Calibri" panose="020F0502020204030204" pitchFamily="34" charset="0"/>
              </a:rPr>
              <a:t> </a:t>
            </a:r>
            <a:r>
              <a:rPr lang="en-US" sz="4000" b="1"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Times New Roman" panose="02020603050405020304" pitchFamily="18" charset="0"/>
                <a:ea typeface="Calibri" panose="020F0502020204030204" pitchFamily="34" charset="0"/>
              </a:rPr>
              <a:t> </a:t>
            </a:r>
            <a:r>
              <a:rPr lang="en-US" sz="3800" dirty="0">
                <a:solidFill>
                  <a:srgbClr val="548DD4"/>
                </a:solidFill>
                <a:latin typeface="Times New Roman" panose="02020603050405020304" pitchFamily="18" charset="0"/>
                <a:ea typeface="Calibri" panose="020F0502020204030204" pitchFamily="34" charset="0"/>
              </a:rPr>
              <a:t>   </a:t>
            </a:r>
            <a:r>
              <a:rPr lang="hy-AM" sz="3800" dirty="0">
                <a:solidFill>
                  <a:srgbClr val="548DD4"/>
                </a:solidFill>
                <a:latin typeface="MK Times Armenian" pitchFamily="2" charset="0"/>
                <a:ea typeface="Calibri" panose="020F0502020204030204" pitchFamily="34" charset="0"/>
              </a:rPr>
              <a:t>Էջ</a:t>
            </a:r>
            <a:r>
              <a:rPr lang="en-US" sz="3800" dirty="0">
                <a:solidFill>
                  <a:srgbClr val="548DD4"/>
                </a:solidFill>
                <a:latin typeface="MK Times Armenian" pitchFamily="2" charset="0"/>
                <a:ea typeface="Calibri" panose="020F0502020204030204" pitchFamily="34" charset="0"/>
              </a:rPr>
              <a:t>/page</a:t>
            </a:r>
            <a:r>
              <a:rPr lang="hy-AM" sz="3800" dirty="0">
                <a:solidFill>
                  <a:srgbClr val="548DD4"/>
                </a:solidFill>
                <a:latin typeface="MK Times Armenian" pitchFamily="2" charset="0"/>
                <a:ea typeface="Calibri" panose="020F0502020204030204" pitchFamily="34" charset="0"/>
              </a:rPr>
              <a:t> </a:t>
            </a:r>
            <a:r>
              <a:rPr lang="en-US" sz="3800" dirty="0">
                <a:solidFill>
                  <a:srgbClr val="548DD4"/>
                </a:solidFill>
                <a:latin typeface="MK Times Armenian" pitchFamily="2" charset="0"/>
                <a:ea typeface="Calibri" panose="020F0502020204030204" pitchFamily="34" charset="0"/>
              </a:rPr>
              <a:t>28       </a:t>
            </a:r>
          </a:p>
        </p:txBody>
      </p:sp>
      <p:sp>
        <p:nvSpPr>
          <p:cNvPr id="6" name="TextBox 5">
            <a:extLst>
              <a:ext uri="{FF2B5EF4-FFF2-40B4-BE49-F238E27FC236}">
                <a16:creationId xmlns:a16="http://schemas.microsoft.com/office/drawing/2014/main" id="{7903C8A4-BAFA-4C25-AE19-DE42EC8F17D6}"/>
              </a:ext>
            </a:extLst>
          </p:cNvPr>
          <p:cNvSpPr txBox="1"/>
          <p:nvPr/>
        </p:nvSpPr>
        <p:spPr>
          <a:xfrm>
            <a:off x="1268579" y="5276405"/>
            <a:ext cx="13713189" cy="3539430"/>
          </a:xfrm>
          <a:prstGeom prst="rect">
            <a:avLst/>
          </a:prstGeom>
          <a:noFill/>
          <a:ln>
            <a:noFill/>
          </a:ln>
        </p:spPr>
        <p:txBody>
          <a:bodyPr wrap="square" rtlCol="0">
            <a:spAutoFit/>
          </a:bodyPr>
          <a:lstStyle/>
          <a:p>
            <a:r>
              <a:rPr lang="en-US" sz="2800" dirty="0">
                <a:solidFill>
                  <a:srgbClr val="FF0000"/>
                </a:solidFill>
                <a:latin typeface="Times New Roman" panose="02020603050405020304" pitchFamily="18" charset="0"/>
                <a:ea typeface="Calibri" panose="020F0502020204030204" pitchFamily="34" charset="0"/>
              </a:rPr>
              <a:t>PRS.</a:t>
            </a:r>
            <a:r>
              <a:rPr lang="en-US" sz="2800" dirty="0">
                <a:latin typeface="Times New Roman" panose="02020603050405020304" pitchFamily="18" charset="0"/>
                <a:ea typeface="Calibri" panose="020F0502020204030204" pitchFamily="34" charset="0"/>
              </a:rPr>
              <a:t>	Lord, have mercy, Lord, have mercy, Lord, have mercy. </a:t>
            </a:r>
          </a:p>
          <a:p>
            <a:pPr indent="457177"/>
            <a:r>
              <a:rPr lang="en-US" sz="2800" dirty="0">
                <a:latin typeface="Times New Roman" panose="02020603050405020304" pitchFamily="18" charset="0"/>
                <a:ea typeface="Calibri" panose="020F0502020204030204" pitchFamily="34" charset="0"/>
              </a:rPr>
              <a:t>May God the lover of mankind have mercy upon you, and grant you forgiveness of all your sins, both those confessed and those forgotten. Therefore, with the priestly authority vested in me and by the divine command that “Whatever you loose on earth shall be loosed in heaven,” by his very word, I absolve you of all your sins committed by thought, by word, and by deed, in the name of the Father and of the Son and of the Holy Spirit; and I reinstate you in the sacraments of the holy Church, that whatever good you may do, may be accounted to you for good deeds and for the glory of the life to come.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1272812" y="1130601"/>
            <a:ext cx="13713188" cy="3970318"/>
          </a:xfrm>
          <a:prstGeom prst="rect">
            <a:avLst/>
          </a:prstGeom>
          <a:noFill/>
          <a:ln w="12700">
            <a:noFill/>
          </a:ln>
        </p:spPr>
        <p:txBody>
          <a:bodyPr wrap="square" rtlCol="0">
            <a:spAutoFit/>
          </a:bodyPr>
          <a:lstStyle/>
          <a:p>
            <a:r>
              <a:rPr lang="en-US" sz="2800" dirty="0" err="1">
                <a:solidFill>
                  <a:srgbClr val="FF0000"/>
                </a:solidFill>
                <a:latin typeface="Arm HelvU" pitchFamily="2" charset="0"/>
                <a:ea typeface="Calibri" panose="020F0502020204030204" pitchFamily="34" charset="0"/>
              </a:rPr>
              <a:t>øÐÜ</a:t>
            </a:r>
            <a:r>
              <a:rPr lang="en-US" sz="2800" dirty="0">
                <a:solidFill>
                  <a:srgbClr val="FF0000"/>
                </a:solidFill>
                <a:latin typeface="Arm HelvU" pitchFamily="2" charset="0"/>
                <a:ea typeface="Calibri" panose="020F0502020204030204" pitchFamily="34" charset="0"/>
              </a:rPr>
              <a:t>.</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î¿ñ</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áÕáñÙ</a:t>
            </a:r>
            <a:r>
              <a:rPr lang="hy-AM" sz="2800" dirty="0">
                <a:latin typeface="Arm HelvU" pitchFamily="2" charset="0"/>
                <a:ea typeface="Calibri" panose="020F0502020204030204" pitchFamily="34" charset="0"/>
              </a:rPr>
              <a:t>եա</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î¿ñ</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áÕáñÙ</a:t>
            </a:r>
            <a:r>
              <a:rPr lang="hy-AM" sz="2800" dirty="0">
                <a:latin typeface="Arm HelvU" pitchFamily="2" charset="0"/>
                <a:ea typeface="Calibri" panose="020F0502020204030204" pitchFamily="34" charset="0"/>
              </a:rPr>
              <a:t>եա</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î¿ñ</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áÕáñÙ</a:t>
            </a:r>
            <a:r>
              <a:rPr lang="hy-AM" sz="2800" dirty="0">
                <a:latin typeface="Arm HelvU" pitchFamily="2" charset="0"/>
                <a:ea typeface="Calibri" panose="020F0502020204030204" pitchFamily="34" charset="0"/>
              </a:rPr>
              <a:t>եա</a:t>
            </a:r>
            <a:r>
              <a:rPr lang="en-US" sz="2800" dirty="0">
                <a:latin typeface="Arm HelvU" pitchFamily="2" charset="0"/>
                <a:ea typeface="Calibri" panose="020F0502020204030204" pitchFamily="34" charset="0"/>
              </a:rPr>
              <a:t>£</a:t>
            </a:r>
          </a:p>
          <a:p>
            <a:r>
              <a:rPr lang="en-US" sz="2800" dirty="0" err="1">
                <a:latin typeface="Arm HelvU" pitchFamily="2" charset="0"/>
                <a:ea typeface="Calibri" panose="020F0502020204030204" pitchFamily="34" charset="0"/>
              </a:rPr>
              <a:t>ÂáÕ</a:t>
            </a:r>
            <a:r>
              <a:rPr lang="en-US" sz="2800" dirty="0">
                <a:latin typeface="Arm HelvU" pitchFamily="2" charset="0"/>
                <a:ea typeface="Calibri" panose="020F0502020204030204" pitchFamily="34" charset="0"/>
              </a:rPr>
              <a:t> Ù³ñ¹³ë¿ñÝ ²ëïáõ³Í Ç</a:t>
            </a:r>
            <a:r>
              <a:rPr lang="en-US" sz="2800" dirty="0">
                <a:solidFill>
                  <a:prstClr val="black"/>
                </a:solidFill>
                <a:latin typeface="Arm HelvU" pitchFamily="2" charset="0"/>
              </a:rPr>
              <a:t>]</a:t>
            </a:r>
            <a:r>
              <a:rPr lang="en-US" sz="2800" dirty="0" err="1">
                <a:latin typeface="Arm HelvU" pitchFamily="2" charset="0"/>
                <a:ea typeface="Calibri" panose="020F0502020204030204" pitchFamily="34" charset="0"/>
              </a:rPr>
              <a:t>Ýù</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áÕáñÙÇ</a:t>
            </a:r>
            <a:r>
              <a:rPr lang="en-US" sz="2800" dirty="0">
                <a:latin typeface="Arm HelvU" pitchFamily="2" charset="0"/>
                <a:ea typeface="Calibri" panose="020F0502020204030204" pitchFamily="34" charset="0"/>
              </a:rPr>
              <a:t> ù»½Ç »õ </a:t>
            </a:r>
            <a:r>
              <a:rPr lang="en-US" sz="2800" dirty="0" err="1">
                <a:latin typeface="Arm HelvU" pitchFamily="2" charset="0"/>
                <a:ea typeface="Calibri" panose="020F0502020204030204" pitchFamily="34" charset="0"/>
              </a:rPr>
              <a:t>ÃáÕáõÃÇõÝ</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ßÝáñÑ</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ùáõ</a:t>
            </a:r>
            <a:r>
              <a:rPr lang="en-US" sz="2800" dirty="0">
                <a:latin typeface="Arm HelvU" pitchFamily="2" charset="0"/>
                <a:ea typeface="Calibri" panose="020F0502020204030204" pitchFamily="34" charset="0"/>
              </a:rPr>
              <a:t> µ</a:t>
            </a:r>
            <a:r>
              <a:rPr lang="en-US" sz="2800" dirty="0" err="1">
                <a:latin typeface="Arm HelvU" pitchFamily="2" charset="0"/>
                <a:ea typeface="Calibri" panose="020F0502020204030204" pitchFamily="34" charset="0"/>
              </a:rPr>
              <a:t>áÉáñ</a:t>
            </a:r>
            <a:r>
              <a:rPr lang="hy-AM" sz="2800" dirty="0">
                <a:latin typeface="Arm HelvU" pitchFamily="2" charset="0"/>
                <a:ea typeface="Calibri" panose="020F0502020204030204" pitchFamily="34" charset="0"/>
              </a:rPr>
              <a:t> </a:t>
            </a:r>
            <a:r>
              <a:rPr lang="en-US" sz="2800" dirty="0">
                <a:latin typeface="Arm HelvU" pitchFamily="2" charset="0"/>
                <a:ea typeface="Calibri" panose="020F0502020204030204" pitchFamily="34" charset="0"/>
              </a:rPr>
              <a:t>Û³Ýó³ÝùÝ»ñáõÝª Ëáëïáí³Ý³ÍÝ»ñáõÝ »õ Ùáéó³ÍÝ»ñáõÝ£ </a:t>
            </a:r>
            <a:r>
              <a:rPr lang="en-US" sz="2800" dirty="0" err="1">
                <a:latin typeface="Arm HelvU" pitchFamily="2" charset="0"/>
                <a:ea typeface="Calibri" panose="020F0502020204030204" pitchFamily="34" charset="0"/>
              </a:rPr>
              <a:t>ÆëÏ</a:t>
            </a:r>
            <a:r>
              <a:rPr lang="en-US" sz="2800" dirty="0">
                <a:latin typeface="Arm HelvU" pitchFamily="2" charset="0"/>
                <a:ea typeface="Calibri" panose="020F0502020204030204" pitchFamily="34" charset="0"/>
              </a:rPr>
              <a:t> »ë ù³Ñ³Ý³Û³Ï³Ý ÇßË³ÝáõÃ»³Ý Ï³ñ·áíë, »õ ³ëïáõ³Í³ÛÇÝ Ññ³Ù³Ýáíª Ã¿ §</a:t>
            </a:r>
            <a:r>
              <a:rPr lang="en-US" sz="2800" dirty="0" err="1">
                <a:latin typeface="Arm HelvU" pitchFamily="2" charset="0"/>
                <a:ea typeface="Calibri" panose="020F0502020204030204" pitchFamily="34" charset="0"/>
              </a:rPr>
              <a:t>ÆÝã</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áñ</a:t>
            </a:r>
            <a:r>
              <a:rPr lang="en-US" sz="2800" dirty="0">
                <a:latin typeface="Arm HelvU" pitchFamily="2" charset="0"/>
                <a:ea typeface="Calibri" panose="020F0502020204030204" pitchFamily="34" charset="0"/>
              </a:rPr>
              <a:t> Ïþ³ñÓ³Ï¿ù »</a:t>
            </a:r>
            <a:r>
              <a:rPr lang="en-US" sz="2800" dirty="0" err="1">
                <a:latin typeface="Arm HelvU" pitchFamily="2" charset="0"/>
                <a:ea typeface="Calibri" panose="020F0502020204030204" pitchFamily="34" charset="0"/>
              </a:rPr>
              <a:t>ñÏñÇ</a:t>
            </a:r>
            <a:r>
              <a:rPr lang="en-US" sz="2800" dirty="0">
                <a:latin typeface="Arm HelvU" pitchFamily="2" charset="0"/>
                <a:ea typeface="Calibri" panose="020F0502020204030204" pitchFamily="34" charset="0"/>
              </a:rPr>
              <a:t> íñ³Û, </a:t>
            </a:r>
            <a:r>
              <a:rPr lang="en-US" sz="2800" dirty="0" err="1">
                <a:latin typeface="Arm HelvU" pitchFamily="2" charset="0"/>
                <a:ea typeface="Calibri" panose="020F0502020204030204" pitchFamily="34" charset="0"/>
              </a:rPr>
              <a:t>ÃáÕ</a:t>
            </a:r>
            <a:r>
              <a:rPr lang="en-US" sz="2800" dirty="0">
                <a:latin typeface="Arm HelvU" pitchFamily="2" charset="0"/>
                <a:ea typeface="Calibri" panose="020F0502020204030204" pitchFamily="34" charset="0"/>
              </a:rPr>
              <a:t> ³ñÓ³ÏáõÇ »</a:t>
            </a:r>
            <a:r>
              <a:rPr lang="en-US" sz="2800" dirty="0" err="1">
                <a:latin typeface="Arm HelvU" pitchFamily="2" charset="0"/>
                <a:ea typeface="Calibri" panose="020F0502020204030204" pitchFamily="34" charset="0"/>
              </a:rPr>
              <a:t>ñÏÇÝùÇ</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Ù¿ç</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ÝáÛÝ</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Ëûëùáí</a:t>
            </a:r>
            <a:r>
              <a:rPr lang="en-US" sz="2800" dirty="0">
                <a:latin typeface="Arm HelvU" pitchFamily="2" charset="0"/>
                <a:ea typeface="Calibri" panose="020F0502020204030204" pitchFamily="34" charset="0"/>
              </a:rPr>
              <a:t> Ïþ³ñÓ³Ï»Ù ù»½ Ùï³ÍáõÙÝ»ñáí, </a:t>
            </a:r>
            <a:r>
              <a:rPr lang="en-US" sz="2800" dirty="0" err="1">
                <a:latin typeface="Arm HelvU" pitchFamily="2" charset="0"/>
                <a:ea typeface="Calibri" panose="020F0502020204030204" pitchFamily="34" charset="0"/>
              </a:rPr>
              <a:t>Ëûëù»ñáí</a:t>
            </a:r>
            <a:r>
              <a:rPr lang="en-US" sz="2800" dirty="0">
                <a:latin typeface="Arm HelvU" pitchFamily="2" charset="0"/>
                <a:ea typeface="Calibri" panose="020F0502020204030204" pitchFamily="34" charset="0"/>
              </a:rPr>
              <a:t> »õ ·</a:t>
            </a:r>
            <a:r>
              <a:rPr lang="en-US" sz="2800" dirty="0" err="1">
                <a:latin typeface="Arm HelvU" pitchFamily="2" charset="0"/>
                <a:ea typeface="Calibri" panose="020F0502020204030204" pitchFamily="34" charset="0"/>
              </a:rPr>
              <a:t>áñÍ»ñáí</a:t>
            </a:r>
            <a:r>
              <a:rPr lang="en-US" sz="2800" dirty="0">
                <a:latin typeface="Arm HelvU" pitchFamily="2" charset="0"/>
                <a:ea typeface="Calibri" panose="020F0502020204030204" pitchFamily="34" charset="0"/>
              </a:rPr>
              <a:t> Ï³ï³ñ³Í µ</a:t>
            </a:r>
            <a:r>
              <a:rPr lang="en-US" sz="2800" dirty="0" err="1">
                <a:latin typeface="Arm HelvU" pitchFamily="2" charset="0"/>
                <a:ea typeface="Calibri" panose="020F0502020204030204" pitchFamily="34" charset="0"/>
              </a:rPr>
              <a:t>áÉáñ</a:t>
            </a:r>
            <a:r>
              <a:rPr lang="en-US" sz="2800" dirty="0">
                <a:latin typeface="Arm HelvU" pitchFamily="2" charset="0"/>
                <a:ea typeface="Calibri" panose="020F0502020204030204" pitchFamily="34" charset="0"/>
              </a:rPr>
              <a:t> Ù»Õù»ñ¿¹, </a:t>
            </a:r>
            <a:r>
              <a:rPr lang="en-US" sz="2800" dirty="0" err="1">
                <a:latin typeface="Arm HelvU" pitchFamily="2" charset="0"/>
                <a:ea typeface="Calibri" panose="020F0502020204030204" pitchFamily="34" charset="0"/>
              </a:rPr>
              <a:t>ÐûñÁ</a:t>
            </a:r>
            <a:r>
              <a:rPr lang="en-US" sz="2800" dirty="0">
                <a:latin typeface="Arm HelvU" pitchFamily="2" charset="0"/>
                <a:ea typeface="Calibri" panose="020F0502020204030204" pitchFamily="34" charset="0"/>
              </a:rPr>
              <a:t> »õ àñ¹ÇÇÝ »õ </a:t>
            </a:r>
            <a:r>
              <a:rPr lang="en-US" sz="2800" dirty="0" err="1">
                <a:latin typeface="Arm HelvU" pitchFamily="2" charset="0"/>
                <a:ea typeface="Calibri" panose="020F0502020204030204" pitchFamily="34" charset="0"/>
              </a:rPr>
              <a:t>êáõñ</a:t>
            </a:r>
            <a:r>
              <a:rPr lang="en-US" sz="2800" dirty="0">
                <a:latin typeface="Arm HelvU" pitchFamily="2" charset="0"/>
                <a:ea typeface="Calibri" panose="020F0502020204030204" pitchFamily="34" charset="0"/>
              </a:rPr>
              <a:t>µ </a:t>
            </a:r>
            <a:r>
              <a:rPr lang="en-US" sz="2800" dirty="0" err="1">
                <a:latin typeface="Arm HelvU" pitchFamily="2" charset="0"/>
                <a:ea typeface="Calibri" panose="020F0502020204030204" pitchFamily="34" charset="0"/>
              </a:rPr>
              <a:t>Ðá·ÇÇÝ</a:t>
            </a:r>
            <a:r>
              <a:rPr lang="en-US" sz="2800" dirty="0">
                <a:latin typeface="Arm HelvU" pitchFamily="2" charset="0"/>
                <a:ea typeface="Calibri" panose="020F0502020204030204" pitchFamily="34" charset="0"/>
              </a:rPr>
              <a:t> ³ÝáõÝáí£ ºõ ¹³ñÓ»³É ÏÁ  Ñ³ëï³ï»Ù ù»½ </a:t>
            </a:r>
            <a:r>
              <a:rPr lang="en-US" sz="2800" dirty="0" err="1">
                <a:latin typeface="Arm HelvU" pitchFamily="2" charset="0"/>
                <a:ea typeface="Calibri" panose="020F0502020204030204" pitchFamily="34" charset="0"/>
              </a:rPr>
              <a:t>ëáõñ</a:t>
            </a:r>
            <a:r>
              <a:rPr lang="en-US" sz="2800" dirty="0">
                <a:latin typeface="Arm HelvU" pitchFamily="2" charset="0"/>
                <a:ea typeface="Calibri" panose="020F0502020204030204" pitchFamily="34" charset="0"/>
              </a:rPr>
              <a:t>µ º</a:t>
            </a:r>
            <a:r>
              <a:rPr lang="en-US" sz="2800" dirty="0" err="1">
                <a:latin typeface="Arm HelvU" pitchFamily="2" charset="0"/>
                <a:ea typeface="Calibri" panose="020F0502020204030204" pitchFamily="34" charset="0"/>
              </a:rPr>
              <a:t>Ï»Õ»óõáÛ</a:t>
            </a:r>
            <a:r>
              <a:rPr lang="en-US" sz="2800" dirty="0">
                <a:latin typeface="Arm HelvU" pitchFamily="2" charset="0"/>
                <a:ea typeface="Calibri" panose="020F0502020204030204" pitchFamily="34" charset="0"/>
              </a:rPr>
              <a:t> ËáñÑáõñ¹Ý»ñáõÝ </a:t>
            </a:r>
            <a:r>
              <a:rPr lang="en-US" sz="2800" dirty="0" err="1">
                <a:latin typeface="Arm HelvU" pitchFamily="2" charset="0"/>
                <a:ea typeface="Calibri" panose="020F0502020204030204" pitchFamily="34" charset="0"/>
              </a:rPr>
              <a:t>Ù¿ç</a:t>
            </a:r>
            <a:r>
              <a:rPr lang="en-US" sz="2800" dirty="0">
                <a:latin typeface="Arm HelvU" pitchFamily="2" charset="0"/>
                <a:ea typeface="Calibri" panose="020F0502020204030204" pitchFamily="34" charset="0"/>
              </a:rPr>
              <a:t>, áñå¿ë½Ç </a:t>
            </a:r>
            <a:r>
              <a:rPr lang="en-US" sz="2800" dirty="0" err="1">
                <a:latin typeface="Arm HelvU" pitchFamily="2" charset="0"/>
                <a:ea typeface="Calibri" panose="020F0502020204030204" pitchFamily="34" charset="0"/>
              </a:rPr>
              <a:t>ÇÝã</a:t>
            </a:r>
            <a:r>
              <a:rPr lang="en-US" sz="2800" dirty="0">
                <a:latin typeface="Arm HelvU" pitchFamily="2" charset="0"/>
                <a:ea typeface="Calibri" panose="020F0502020204030204" pitchFamily="34" charset="0"/>
              </a:rPr>
              <a:t> É³õ µ³Ý»ñ </a:t>
            </a:r>
            <a:r>
              <a:rPr lang="en-US" sz="2800" dirty="0" err="1">
                <a:latin typeface="Arm HelvU" pitchFamily="2" charset="0"/>
                <a:ea typeface="Calibri" panose="020F0502020204030204" pitchFamily="34" charset="0"/>
              </a:rPr>
              <a:t>áñ</a:t>
            </a:r>
            <a:r>
              <a:rPr lang="en-US" sz="2800" dirty="0">
                <a:latin typeface="Arm HelvU" pitchFamily="2" charset="0"/>
                <a:ea typeface="Calibri" panose="020F0502020204030204" pitchFamily="34" charset="0"/>
              </a:rPr>
              <a:t> </a:t>
            </a:r>
            <a:r>
              <a:rPr lang="en-US" sz="2800" dirty="0" err="1">
                <a:latin typeface="Arm HelvU" pitchFamily="2" charset="0"/>
                <a:ea typeface="Calibri" panose="020F0502020204030204" pitchFamily="34" charset="0"/>
              </a:rPr>
              <a:t>ÁÝ»ë</a:t>
            </a:r>
            <a:r>
              <a:rPr lang="en-US" sz="2800" dirty="0">
                <a:latin typeface="Arm HelvU" pitchFamily="2" charset="0"/>
                <a:ea typeface="Calibri" panose="020F0502020204030204" pitchFamily="34" charset="0"/>
              </a:rPr>
              <a:t>ª ³ÝáÝù ÁÉÉ³Ý ù»½Ç Ñ³Ù³ñ µ³ñÇ ·</a:t>
            </a:r>
            <a:r>
              <a:rPr lang="en-US" sz="2800" dirty="0" err="1">
                <a:latin typeface="Arm HelvU" pitchFamily="2" charset="0"/>
                <a:ea typeface="Calibri" panose="020F0502020204030204" pitchFamily="34" charset="0"/>
              </a:rPr>
              <a:t>áñÍ»ñ</a:t>
            </a:r>
            <a:r>
              <a:rPr lang="en-US" sz="2800" dirty="0">
                <a:latin typeface="Arm HelvU" pitchFamily="2" charset="0"/>
                <a:ea typeface="Calibri" panose="020F0502020204030204" pitchFamily="34" charset="0"/>
              </a:rPr>
              <a:t> »õ Ñ³Ý¹»ñÓ»³É Ï»³ÝùÇ Ñ³Ù³ñª </a:t>
            </a:r>
            <a:r>
              <a:rPr lang="en-US" sz="2800" dirty="0">
                <a:solidFill>
                  <a:prstClr val="black"/>
                </a:solidFill>
                <a:latin typeface="Arm HelvU" pitchFamily="2" charset="0"/>
                <a:ea typeface="Calibri" panose="020F0502020204030204" pitchFamily="34" charset="0"/>
              </a:rPr>
              <a:t>w</a:t>
            </a:r>
            <a:r>
              <a:rPr lang="en-US" sz="2800" dirty="0">
                <a:latin typeface="Arm HelvU" pitchFamily="2" charset="0"/>
                <a:ea typeface="Calibri" panose="020F0502020204030204" pitchFamily="34" charset="0"/>
              </a:rPr>
              <a:t>³éù£ ²Ù¿Ý£</a:t>
            </a:r>
          </a:p>
        </p:txBody>
      </p:sp>
      <p:cxnSp>
        <p:nvCxnSpPr>
          <p:cNvPr id="10" name="Straight Connector 9"/>
          <p:cNvCxnSpPr/>
          <p:nvPr/>
        </p:nvCxnSpPr>
        <p:spPr>
          <a:xfrm>
            <a:off x="1267551" y="5100919"/>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245938" y="1116030"/>
            <a:ext cx="137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99644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Yérgyooghiv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havadov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harach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madik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haghortétsarook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32343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In awe and in faith draw near and partake of this communion in holiness.</a:t>
            </a:r>
            <a:endParaRPr lang="en-US" sz="4000" dirty="0">
              <a:solidFill>
                <a:srgbClr val="00B050"/>
              </a:solidFill>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pPr algn="ctr"/>
            <a:r>
              <a:rPr lang="hy-AM" sz="4000" dirty="0">
                <a:solidFill>
                  <a:schemeClr val="accent1">
                    <a:lumMod val="75000"/>
                  </a:schemeClr>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Երկիւղիւ եւ հաւատով յառաջ մատիք եւ սըրբութեամբ հաղորդեցարուք:</a:t>
            </a:r>
          </a:p>
          <a:p>
            <a:r>
              <a:rPr lang="hy-AM" sz="4000" dirty="0">
                <a:latin typeface="Arm HelvU" pitchFamily="2" charset="0"/>
                <a:ea typeface="Calibri" panose="020F0502020204030204" pitchFamily="34" charset="0"/>
              </a:rPr>
              <a:t>Ասացէք մեղայ Աստուծոյ։ Հաւատամք ի Հայր Սուրբ, Աստուած ճշմարիտ։ Հաւատամք յՈրդին Սուրբ, Աստուած ճշմարիտ։ Հաւատամք եւ ի Հոգին Սուրբ, Աստուած ճշմարիտ։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8FAA206-0BBD-4F71-0B54-B641A0AF4CE7}"/>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28</a:t>
            </a:r>
          </a:p>
        </p:txBody>
      </p:sp>
    </p:spTree>
    <p:extLst>
      <p:ext uri="{BB962C8B-B14F-4D97-AF65-F5344CB8AC3E}">
        <p14:creationId xmlns:p14="http://schemas.microsoft.com/office/powerpoint/2010/main" val="146848521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b="0" i="0" u="none" strike="noStrike" baseline="0" dirty="0">
                <a:latin typeface="TimesNewRomanPSMT"/>
              </a:rPr>
              <a:t>KHOSDOVANOOTYOON</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solidFill>
                  <a:srgbClr val="000000"/>
                </a:solidFill>
                <a:latin typeface="Times New Roman" panose="02020603050405020304" pitchFamily="18" charset="0"/>
                <a:ea typeface="Calibri" panose="020F0502020204030204" pitchFamily="34" charset="0"/>
              </a:rPr>
              <a:t>COMMUNION</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ՀԱՂՈՐԴՈՒԹԻՒՆ</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4EC996E-0103-18D1-88CE-AC57C675F964}"/>
              </a:ext>
            </a:extLst>
          </p:cNvPr>
          <p:cNvSpPr txBox="1"/>
          <p:nvPr/>
        </p:nvSpPr>
        <p:spPr>
          <a:xfrm>
            <a:off x="-11575" y="3376"/>
            <a:ext cx="16276320" cy="769441"/>
          </a:xfrm>
          <a:prstGeom prst="rect">
            <a:avLst/>
          </a:prstGeom>
          <a:noFill/>
          <a:ln>
            <a:noFill/>
          </a:ln>
        </p:spPr>
        <p:txBody>
          <a:bodyPr wrap="square" rtlCol="0">
            <a:spAutoFit/>
          </a:bodyPr>
          <a:lstStyle/>
          <a:p>
            <a:pPr algn="ctr"/>
            <a:r>
              <a:rPr lang="hy-AM" sz="4400" dirty="0">
                <a:solidFill>
                  <a:srgbClr val="00B0F0"/>
                </a:solidFill>
                <a:latin typeface="Times New Roman" panose="02020603050405020304" pitchFamily="18" charset="0"/>
                <a:ea typeface="Calibri" panose="020F0502020204030204" pitchFamily="34" charset="0"/>
              </a:rPr>
              <a:t>ԾՈՒՆԿԻ ԳԱԼ ԿԱՄ ՆՍՏԻԼ</a:t>
            </a:r>
            <a:r>
              <a:rPr lang="hy-AM" sz="4400" b="1" dirty="0">
                <a:solidFill>
                  <a:srgbClr val="00B0F0"/>
                </a:solidFill>
                <a:latin typeface="Times New Roman" panose="02020603050405020304" pitchFamily="18" charset="0"/>
                <a:ea typeface="Calibri" panose="020F0502020204030204" pitchFamily="34" charset="0"/>
              </a:rPr>
              <a:t> </a:t>
            </a:r>
            <a:r>
              <a:rPr lang="hy-AM" sz="4400" dirty="0">
                <a:solidFill>
                  <a:srgbClr val="00B0F0"/>
                </a:solidFill>
                <a:latin typeface="Times New Roman" panose="02020603050405020304" pitchFamily="18" charset="0"/>
                <a:ea typeface="Calibri" panose="020F0502020204030204" pitchFamily="34" charset="0"/>
              </a:rPr>
              <a:t>/</a:t>
            </a:r>
            <a:r>
              <a:rPr lang="en-US" sz="4400" dirty="0">
                <a:solidFill>
                  <a:srgbClr val="00B0F0"/>
                </a:solidFill>
                <a:latin typeface="Times New Roman" panose="02020603050405020304" pitchFamily="18" charset="0"/>
                <a:ea typeface="Calibri" panose="020F0502020204030204" pitchFamily="34" charset="0"/>
              </a:rPr>
              <a:t> CONGREGATION KNEEL OR SIT</a:t>
            </a:r>
          </a:p>
        </p:txBody>
      </p:sp>
    </p:spTree>
    <p:extLst>
      <p:ext uri="{BB962C8B-B14F-4D97-AF65-F5344CB8AC3E}">
        <p14:creationId xmlns:p14="http://schemas.microsoft.com/office/powerpoint/2010/main" val="115717523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yérévétsav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anvamp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ûzzhoghovoortûs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Wingdings" panose="05000000000000000000" pitchFamily="2" charset="2"/>
                <a:ea typeface="Calibri" panose="020F0502020204030204" pitchFamily="34" charset="0"/>
              </a:rPr>
              <a:t>X</a:t>
            </a:r>
            <a:r>
              <a:rPr lang="en-US" sz="4000" dirty="0" err="1">
                <a:latin typeface="Times New Roman" panose="02020603050405020304" pitchFamily="18" charset="0"/>
                <a:ea typeface="Calibri" panose="020F0502020204030204" pitchFamily="34" charset="0"/>
              </a:rPr>
              <a:t>orhnya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ûzzharankootyoonûs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Hovya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partsratso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ûzsosa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haysûmhédé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minchév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pPr algn="l"/>
            <a:r>
              <a:rPr lang="en-US" sz="4000" b="0" i="0" u="none" strike="noStrike" baseline="0" dirty="0">
                <a:solidFill>
                  <a:srgbClr val="00B050"/>
                </a:solidFill>
                <a:latin typeface="Times New Roman" panose="02020603050405020304" pitchFamily="18" charset="0"/>
                <a:cs typeface="Times New Roman" panose="02020603050405020304" pitchFamily="18" charset="0"/>
              </a:rPr>
              <a:t>CHR. </a:t>
            </a:r>
            <a:r>
              <a:rPr lang="en-US" sz="4000" b="0" i="0" u="none" strike="noStrike" baseline="0" dirty="0">
                <a:latin typeface="Times New Roman" panose="02020603050405020304" pitchFamily="18" charset="0"/>
                <a:cs typeface="Times New Roman" panose="02020603050405020304" pitchFamily="18" charset="0"/>
              </a:rPr>
              <a:t>Our God and our Lord has appeared to us. Blessed is he who comes in the name of the Lord.</a:t>
            </a:r>
            <a:endParaRPr lang="en-US" sz="4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Save your people, O Lord, and </a:t>
            </a:r>
            <a:r>
              <a:rPr lang="en-US" sz="4000" dirty="0" err="1">
                <a:solidFill>
                  <a:prstClr val="black"/>
                </a:solidFill>
                <a:latin typeface="Wingdings" panose="05000000000000000000" pitchFamily="2" charset="2"/>
                <a:ea typeface="Calibri" panose="020F0502020204030204" pitchFamily="34" charset="0"/>
              </a:rPr>
              <a:t>X</a:t>
            </a:r>
            <a:r>
              <a:rPr lang="en-US" sz="4000" dirty="0" err="1">
                <a:latin typeface="Times New Roman" panose="02020603050405020304" pitchFamily="18" charset="0"/>
                <a:ea typeface="Calibri" panose="020F0502020204030204" pitchFamily="34" charset="0"/>
              </a:rPr>
              <a:t>bless</a:t>
            </a:r>
            <a:r>
              <a:rPr lang="en-US" sz="4000" dirty="0">
                <a:latin typeface="Times New Roman" panose="02020603050405020304" pitchFamily="18" charset="0"/>
                <a:ea typeface="Calibri" panose="020F0502020204030204" pitchFamily="34" charset="0"/>
              </a:rPr>
              <a:t> your inheritance; shepherd them and lift them up from now to evermore.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Աստուած մեր եւ Տէր մեր երեւեցաւ մեզ, օրհնեալ եկեալ անուամբ Տեառն:</a:t>
            </a:r>
          </a:p>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Կեցո, Տէր, զժողովուրդս քո եւ </a:t>
            </a:r>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 զժառանգութիւնս քո, հովուեա եւ բարձրացո զսոսա յայսմհետէ մինչեւ յաւիտեան: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5F54B6B-66C2-BB07-A120-D2360FD442BB}"/>
              </a:ext>
            </a:extLst>
          </p:cNvPr>
          <p:cNvSpPr txBox="1"/>
          <p:nvPr/>
        </p:nvSpPr>
        <p:spPr>
          <a:xfrm>
            <a:off x="0" y="0"/>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28</a:t>
            </a:r>
          </a:p>
        </p:txBody>
      </p:sp>
    </p:spTree>
    <p:extLst>
      <p:ext uri="{BB962C8B-B14F-4D97-AF65-F5344CB8AC3E}">
        <p14:creationId xmlns:p14="http://schemas.microsoft.com/office/powerpoint/2010/main" val="30785992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Lûtsak</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parootyants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jashagélov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ûzmarmin</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zaryoon</a:t>
            </a:r>
            <a:r>
              <a:rPr lang="en-US" sz="4000" dirty="0">
                <a:latin typeface="Times New Roman" panose="02020603050405020304" pitchFamily="18" charset="0"/>
                <a:ea typeface="Calibri" panose="020F0502020204030204" pitchFamily="34" charset="0"/>
              </a:rPr>
              <a:t>, park i </a:t>
            </a:r>
            <a:r>
              <a:rPr lang="en-US" sz="4000" dirty="0" err="1">
                <a:latin typeface="Times New Roman" panose="02020603050405020304" pitchFamily="18" charset="0"/>
                <a:ea typeface="Calibri" panose="020F0502020204030204" pitchFamily="34" charset="0"/>
              </a:rPr>
              <a:t>partsoonûs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géragroghit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hanabaz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géragrés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arakya</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ûzhokévor</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zorhnootyoon</a:t>
            </a:r>
            <a:r>
              <a:rPr lang="en-US" sz="4000" dirty="0">
                <a:latin typeface="Times New Roman" panose="02020603050405020304" pitchFamily="18" charset="0"/>
                <a:ea typeface="Calibri" panose="020F0502020204030204" pitchFamily="34" charset="0"/>
              </a:rPr>
              <a:t>. Park i </a:t>
            </a:r>
            <a:r>
              <a:rPr lang="en-US" sz="4000" dirty="0" err="1">
                <a:latin typeface="Times New Roman" panose="02020603050405020304" pitchFamily="18" charset="0"/>
                <a:ea typeface="Calibri" panose="020F0502020204030204" pitchFamily="34" charset="0"/>
              </a:rPr>
              <a:t>partsoonûs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géragroghit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We have been filled with your goodness, O Lord, by partaking of your body and blood. Glory in the highest to you who have fed us.</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You who continually feed us, send down upon us your spiritual blessing. Glory in the highest to you who have fed us.</a:t>
            </a:r>
            <a:endParaRPr lang="hy-AM"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Լըցաք ի բարութեանց քոց, Տէր, ճաշակելով ըզմարմին քո եւ զարիւն. փառք ի բարձունըս կերակրողիդ ըզմեզ: Որ եւ հանապազ կերակրես ըզմեզ, առաքեա ի մեզ ըզհոգեւոր քո զօրհնութիւն. փառք ի բարձունըս կերակրողիդ ըզմեզ:</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05C069-5CDF-8F07-C3E0-84C971B66831}"/>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29</a:t>
            </a:r>
          </a:p>
        </p:txBody>
      </p:sp>
    </p:spTree>
    <p:extLst>
      <p:ext uri="{BB962C8B-B14F-4D97-AF65-F5344CB8AC3E}">
        <p14:creationId xmlns:p14="http://schemas.microsoft.com/office/powerpoint/2010/main" val="380759126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3170099"/>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havadov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ûngalyalk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hasdvadzayin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yérgnayin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anmah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anarad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anabagan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khorhûrtooys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ûzDyarné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kohatsarook</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And again for peace let us beseech the Lord.</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Lord, have mercy.</a:t>
            </a:r>
            <a:endParaRPr lang="hy-AM" sz="4000" dirty="0">
              <a:latin typeface="Times New Roman" panose="02020603050405020304" pitchFamily="18" charset="0"/>
              <a:ea typeface="Calibri" panose="020F0502020204030204" pitchFamily="34" charset="0"/>
            </a:endParaRPr>
          </a:p>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And again, having received in faith this divine, holy, heavenly, immortal, immaculate and incorruptible mystery, let us thank the Lord.  </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Եւ եւըս խաղաղութեան ըզՏէր աղաչեսցուք:  </a:t>
            </a:r>
          </a:p>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Տէր ողորմեա:</a:t>
            </a:r>
          </a:p>
          <a:p>
            <a:r>
              <a:rPr lang="hy-AM" sz="4000" dirty="0">
                <a:solidFill>
                  <a:schemeClr val="accent1">
                    <a:lumMod val="75000"/>
                  </a:schemeClr>
                </a:solidFill>
                <a:latin typeface="Arm HelvU" pitchFamily="2" charset="0"/>
                <a:ea typeface="Calibri" panose="020F0502020204030204" pitchFamily="34" charset="0"/>
              </a:rPr>
              <a:t>ՍՐԿ.</a:t>
            </a:r>
            <a:r>
              <a:rPr lang="hy-AM" sz="4000" dirty="0">
                <a:latin typeface="Arm HelvU" pitchFamily="2" charset="0"/>
                <a:ea typeface="Calibri" panose="020F0502020204030204" pitchFamily="34" charset="0"/>
              </a:rPr>
              <a:t>	Եւ եւըս հաւատով ընկալեալք յաստուածային, սուրբ, երկնային, անմահ, անարատ եւ անապական խորհըրդոյս, ըզՏեառնէ գոհացարուք:</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92B5B6B-91F8-9E33-C02F-C9E2AFD7D5D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29</a:t>
            </a:r>
          </a:p>
        </p:txBody>
      </p:sp>
    </p:spTree>
    <p:extLst>
      <p:ext uri="{BB962C8B-B14F-4D97-AF65-F5344CB8AC3E}">
        <p14:creationId xmlns:p14="http://schemas.microsoft.com/office/powerpoint/2010/main" val="314208919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Kohanamk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géragrétsér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hanmahagan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séghano</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Pashkhélov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ûzmarmint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zaryoont</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pûrgootyoon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ashkharhi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gyank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antsants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We thank you, O Lord, for having fed us from your immortal table, by distributing your body and your blood for the salvation of the world and for life of our souls.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Գոհանամք ըզքէն, Տէր, որ կերակրեցեր ըզմեզ յանմահական սեղանոյ քո: բաշխելով ըզմարմինդ եւ զարիւնդ ի փըրկութիւն աշխարհի: Եւ կեանք անձանց մերոց:</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CFD29C3-AB9C-F74F-EA95-7224F499E46F}"/>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29</a:t>
            </a:r>
          </a:p>
        </p:txBody>
      </p:sp>
    </p:spTree>
    <p:extLst>
      <p:ext uri="{BB962C8B-B14F-4D97-AF65-F5344CB8AC3E}">
        <p14:creationId xmlns:p14="http://schemas.microsoft.com/office/powerpoint/2010/main" val="280798573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b="0" i="0" u="none" strike="noStrike" baseline="0" dirty="0">
                <a:latin typeface="TimesNewRomanPSMT"/>
              </a:rPr>
              <a:t>KHOSDOVANOOTYOON</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DISMISSAL</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ԱՐՁԱԿՈՒՄ</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C384A8F-7C97-CD3E-D842-75E7C1D4FE9B}"/>
              </a:ext>
            </a:extLst>
          </p:cNvPr>
          <p:cNvSpPr txBox="1"/>
          <p:nvPr/>
        </p:nvSpPr>
        <p:spPr>
          <a:xfrm>
            <a:off x="0" y="3375"/>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a:t>
            </a:r>
          </a:p>
        </p:txBody>
      </p:sp>
    </p:spTree>
    <p:extLst>
      <p:ext uri="{BB962C8B-B14F-4D97-AF65-F5344CB8AC3E}">
        <p14:creationId xmlns:p14="http://schemas.microsoft.com/office/powerpoint/2010/main" val="366952898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zaynosig</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arnés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ûzhoosatsyals</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é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a:t>
            </a:r>
            <a:r>
              <a:rPr lang="en-US" sz="4000" dirty="0">
                <a:solidFill>
                  <a:srgbClr val="FF0000"/>
                </a:solidFill>
                <a:latin typeface="Times New Roman" panose="02020603050405020304" pitchFamily="18" charset="0"/>
                <a:ea typeface="Calibri" panose="020F0502020204030204" pitchFamily="34" charset="0"/>
              </a:rPr>
              <a:t> </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O Lord, you bless those who bless you and sanctify those who put their trust in you.</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Blessed is God.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Որ օրհնես զայնոսիկ, որք օրհնեն զքեզ, Տէր, եւ սուրբ առնես զյուսացեալս ի քեզ:</a:t>
            </a:r>
          </a:p>
          <a:p>
            <a:r>
              <a:rPr lang="hy-AM" sz="4000" dirty="0">
                <a:solidFill>
                  <a:srgbClr val="00B050"/>
                </a:solidFill>
                <a:latin typeface="Arm HelvU" pitchFamily="2" charset="0"/>
                <a:ea typeface="Calibri" panose="020F0502020204030204" pitchFamily="34" charset="0"/>
              </a:rPr>
              <a:t>ԴՊՐ. </a:t>
            </a:r>
            <a:r>
              <a:rPr lang="hy-AM" sz="4000" dirty="0">
                <a:latin typeface="Arm HelvU" pitchFamily="2" charset="0"/>
                <a:ea typeface="Calibri" panose="020F0502020204030204" pitchFamily="34" charset="0"/>
              </a:rPr>
              <a:t>Օրհնեալ է Աստուած:</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756DBC8-CBFE-E823-55D5-5D68C55B81B0}"/>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29</a:t>
            </a:r>
          </a:p>
        </p:txBody>
      </p:sp>
    </p:spTree>
    <p:extLst>
      <p:ext uri="{BB962C8B-B14F-4D97-AF65-F5344CB8AC3E}">
        <p14:creationId xmlns:p14="http://schemas.microsoft.com/office/powerpoint/2010/main" val="290014275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ûzzhoghovoortûs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ûzzharankootyoonûs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ûzlûroomûn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yégéghétsvo</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bahya</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Save your people and bless your inheritance, preserve the fullness of your Church.</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Կեցո զժողովուրդս քո եւ օրհնեա զժառանգութիւնս քո, զլրումն եկեղեցւոյ քո պահեա:  </a:t>
            </a:r>
          </a:p>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Ամէն: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F814192-2ED5-1391-DD09-7CD3F673C57F}"/>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29</a:t>
            </a:r>
          </a:p>
        </p:txBody>
      </p:sp>
    </p:spTree>
    <p:extLst>
      <p:ext uri="{BB962C8B-B14F-4D97-AF65-F5344CB8AC3E}">
        <p14:creationId xmlns:p14="http://schemas.microsoft.com/office/powerpoint/2010/main" val="354963541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Ûzkhaghaghootyoon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barkévya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ashkharhi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yégéghétsyats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kahanayits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takavorats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krisdonéyits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hayrabédootyan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hanrabédootyan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azkis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hanrabédootyan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Miyatsyal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Nahankatsn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Amérigayi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zinvoryal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mangants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notsa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zhoghovûrtyans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Grant peace to the whole world, to the churches, to the priests, to the Christian kings, to the Armenian Church, to the Republic of Armenia, and to the Republic of the United States of America, and to their armed forces, and to all your people.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Զխաղաղութիւն պարգեւեա ամենայն աշխարհի, եկեղեցեաց, քահանայ-ից, թագաւորաց քրիստոնէից, հայրապետութեան եւ հանրապետութեան ազգ-իս Հայոց, եւ հանրապետութեան Միացեալ նահանգացն Ամերիկայի, եւ զինուորեալ մանկանց նոցա եւ ամենայն ժողովրդեանս:</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8406E0F-06BD-03F8-B96D-2853463EB01D}"/>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30</a:t>
            </a:r>
          </a:p>
        </p:txBody>
      </p:sp>
    </p:spTree>
    <p:extLst>
      <p:ext uri="{BB962C8B-B14F-4D97-AF65-F5344CB8AC3E}">
        <p14:creationId xmlns:p14="http://schemas.microsoft.com/office/powerpoint/2010/main" val="100310155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solidFill>
                  <a:prstClr val="black"/>
                </a:solidFill>
                <a:latin typeface="Times New Roman" panose="02020603050405020304" pitchFamily="18" charset="0"/>
                <a:ea typeface="Calibri" panose="020F0502020204030204" pitchFamily="34" charset="0"/>
              </a:rPr>
              <a:t>	</a:t>
            </a:r>
            <a:r>
              <a:rPr lang="en-US" sz="4000" dirty="0" err="1">
                <a:solidFill>
                  <a:prstClr val="black"/>
                </a:solidFill>
                <a:latin typeface="Times New Roman" panose="02020603050405020304" pitchFamily="18" charset="0"/>
                <a:ea typeface="Calibri" panose="020F0502020204030204" pitchFamily="34" charset="0"/>
              </a:rPr>
              <a:t>Amén</a:t>
            </a:r>
            <a:r>
              <a:rPr lang="en-US" sz="4000" dirty="0">
                <a:solidFill>
                  <a:prstClr val="black"/>
                </a:solidFill>
                <a:latin typeface="Times New Roman" panose="02020603050405020304" pitchFamily="18" charset="0"/>
                <a:ea typeface="Calibri" panose="020F0502020204030204" pitchFamily="34" charset="0"/>
              </a:rPr>
              <a:t>.</a:t>
            </a:r>
            <a:endParaRPr lang="hy-AM" sz="4000" dirty="0">
              <a:solidFill>
                <a:prstClr val="black"/>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doork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parik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barkévk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gadaryalk</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véroosd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ichyalk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looso</a:t>
            </a:r>
            <a:r>
              <a:rPr lang="hy-AM"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vayélé</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ishkhanootyoon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3170099"/>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solidFill>
                  <a:prstClr val="black"/>
                </a:solidFill>
                <a:latin typeface="Times New Roman" panose="02020603050405020304" pitchFamily="18" charset="0"/>
                <a:ea typeface="Calibri" panose="020F0502020204030204" pitchFamily="34" charset="0"/>
              </a:rPr>
              <a:t>	Amen.</a:t>
            </a:r>
            <a:endParaRPr lang="hy-AM" sz="4000" dirty="0">
              <a:solidFill>
                <a:prstClr val="black"/>
              </a:solidFill>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For all good gifts and all perfect bounties come from above, from you, the Father of light; and to you is befitting glory, dominion, and honor, now and always and forever and ever. Amen.</a:t>
            </a:r>
          </a:p>
          <a:p>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Ամէն:</a:t>
            </a:r>
          </a:p>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Զի ամենայն տուրք բարիք եւ ամենայն պարգեւք կատարեալք ի վերուստ են իջեալք առ ի քէն, որ ես Հայր լուսոյ. եւ քեզ վայել է փառք, իշխանութիւն եւ պատիւ, այժմ եւ միշտ եւ յաւիտեանս յաւիտենից։ Ամէն: </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EC47A75-43DC-1B7E-B64B-10B5A9278F2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30</a:t>
            </a:r>
          </a:p>
        </p:txBody>
      </p:sp>
    </p:spTree>
    <p:extLst>
      <p:ext uri="{BB962C8B-B14F-4D97-AF65-F5344CB8AC3E}">
        <p14:creationId xmlns:p14="http://schemas.microsoft.com/office/powerpoint/2010/main" val="269201806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haysûmhédé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minchév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haysûmhédé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minchév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Dyarn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haysûmhédé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minchév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Amen. Blessed be the name of the Lord from now to evermore. Blessed be the name of the Lord from now to evermore. And blessed be the name of the Lord from now to evermore.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Ամէն: Եղիցի անուն Տեառն օրհնեալ յայսըմհետէ մինչեւ յաւիտեան։ Եղիցի անուն Տեառն օրհնեալ յայսըմհետէ մինչեւ յաւիտեան։ Եւ եղիցի անուն Տեառն օրհնեալ յայսըմհետէ մինչեւ յաւիտեան:</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1D26D23-FD73-3805-42D5-E73DCB221B3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30</a:t>
            </a:r>
          </a:p>
        </p:txBody>
      </p:sp>
    </p:spTree>
    <p:extLst>
      <p:ext uri="{BB962C8B-B14F-4D97-AF65-F5344CB8AC3E}">
        <p14:creationId xmlns:p14="http://schemas.microsoft.com/office/powerpoint/2010/main" val="197855093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Gadaroomn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orinats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markaréyits</a:t>
            </a:r>
            <a:r>
              <a:rPr lang="en-US" sz="4000" dirty="0">
                <a:latin typeface="Times New Roman" panose="02020603050405020304" pitchFamily="18" charset="0"/>
                <a:ea typeface="Calibri" panose="020F0502020204030204" pitchFamily="34" charset="0"/>
              </a:rPr>
              <a:t> too </a:t>
            </a:r>
            <a:r>
              <a:rPr lang="en-US" sz="4000" dirty="0" err="1">
                <a:latin typeface="Times New Roman" panose="02020603050405020304" pitchFamily="18" charset="0"/>
                <a:ea typeface="Calibri" panose="020F0502020204030204" pitchFamily="34" charset="0"/>
              </a:rPr>
              <a:t>yés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pûrgich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lûtsér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hayragam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dûnorénootyoonûs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lits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Hokvovût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Sûrpov</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You are the fulfillment of the Law and the prophets, O Christ God, our Savior, who fulfilled all dispensations willed by the Father. Fill us also with your Holy Spirit.</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Կատարումն օրինաց եւ մարգարէից դու ես, Քրիստոս Աստուած փրկիչ մեր, որ լըցեր զամենայն հայրակամ տնօրէնութիւնս քո. լից եւ  զմեզ Հոգւովդ քով Սրբով:</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C982FA9-8AB1-FD73-5181-3806C69CA089}"/>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30</a:t>
            </a:r>
          </a:p>
        </p:txBody>
      </p:sp>
    </p:spTree>
    <p:extLst>
      <p:ext uri="{BB962C8B-B14F-4D97-AF65-F5344CB8AC3E}">
        <p14:creationId xmlns:p14="http://schemas.microsoft.com/office/powerpoint/2010/main" val="314967981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4441913"/>
            <a:ext cx="16276320" cy="707886"/>
          </a:xfrm>
          <a:prstGeom prst="rect">
            <a:avLst/>
          </a:prstGeom>
          <a:noFill/>
          <a:ln>
            <a:noFill/>
          </a:ln>
        </p:spPr>
        <p:txBody>
          <a:bodyPr wrap="square" rtlCol="0">
            <a:spAutoFit/>
          </a:bodyPr>
          <a:lstStyle/>
          <a:p>
            <a:pPr algn="ctr"/>
            <a:r>
              <a:rPr lang="en-US" sz="4000" b="0" i="0" u="none" strike="noStrike" baseline="0" dirty="0">
                <a:latin typeface="TimesNewRomanPSMT"/>
              </a:rPr>
              <a:t>KHOSDOVANOOTYOON</a:t>
            </a:r>
            <a:endParaRPr lang="en-US" sz="4000" dirty="0">
              <a:latin typeface="Times New Roman" panose="02020603050405020304" pitchFamily="18" charset="0"/>
              <a:ea typeface="Calibri" panose="020F0502020204030204" pitchFamily="34"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1" y="7164839"/>
            <a:ext cx="16276320" cy="707886"/>
          </a:xfrm>
          <a:prstGeom prst="rect">
            <a:avLst/>
          </a:prstGeom>
          <a:noFill/>
          <a:ln>
            <a:noFill/>
          </a:ln>
        </p:spPr>
        <p:txBody>
          <a:bodyPr wrap="square" rtlCol="0">
            <a:spAutoFit/>
          </a:bodyPr>
          <a:lstStyle/>
          <a:p>
            <a:pPr algn="ctr"/>
            <a:r>
              <a:rPr lang="en-US" sz="4000" dirty="0">
                <a:latin typeface="Times New Roman" panose="02020603050405020304" pitchFamily="18" charset="0"/>
                <a:ea typeface="Calibri" panose="020F0502020204030204" pitchFamily="34" charset="0"/>
              </a:rPr>
              <a:t>REQUIEM SERVICE</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1763487"/>
            <a:ext cx="16276320" cy="707886"/>
          </a:xfrm>
          <a:prstGeom prst="rect">
            <a:avLst/>
          </a:prstGeom>
          <a:noFill/>
          <a:ln w="12700">
            <a:noFill/>
          </a:ln>
        </p:spPr>
        <p:txBody>
          <a:bodyPr wrap="square" rtlCol="0">
            <a:spAutoFit/>
          </a:bodyPr>
          <a:lstStyle/>
          <a:p>
            <a:pPr algn="ctr"/>
            <a:r>
              <a:rPr lang="hy-AM" sz="4000" dirty="0">
                <a:latin typeface="Arm HelvU" pitchFamily="2" charset="0"/>
                <a:ea typeface="Calibri" panose="020F0502020204030204" pitchFamily="34" charset="0"/>
              </a:rPr>
              <a:t>ՊԱՇՏՕՆ ՀՈԳԵՀԱՆԳՍՏԵԱՆ</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C384A8F-7C97-CD3E-D842-75E7C1D4FE9B}"/>
              </a:ext>
            </a:extLst>
          </p:cNvPr>
          <p:cNvSpPr txBox="1"/>
          <p:nvPr/>
        </p:nvSpPr>
        <p:spPr>
          <a:xfrm>
            <a:off x="0" y="0"/>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a:t>
            </a:r>
          </a:p>
        </p:txBody>
      </p:sp>
    </p:spTree>
    <p:extLst>
      <p:ext uri="{BB962C8B-B14F-4D97-AF65-F5344CB8AC3E}">
        <p14:creationId xmlns:p14="http://schemas.microsoft.com/office/powerpoint/2010/main" val="185882467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Vortvo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a:t>
            </a:r>
            <a:r>
              <a:rPr lang="en-US" sz="4000" dirty="0">
                <a:latin typeface="Times New Roman" panose="02020603050405020304" pitchFamily="18" charset="0"/>
                <a:ea typeface="Calibri" panose="020F0502020204030204" pitchFamily="34" charset="0"/>
              </a:rPr>
              <a:t>	And again for peace let us beseech the Lord. Receive us, save us, and have mercy upon us.</a:t>
            </a:r>
          </a:p>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Blessing and glory be to the Father and to the Son and to the Holy Spirit, now and always and forever and 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եւըս խաղաղութեան ըզՏէր աղաչեսցուք, ընկալ, կեցո եւ ողորմեա։</a:t>
            </a:r>
          </a:p>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Օրհնութիւն եւ փառք Հօր եւ Որդւոյ եւ Հոգւոյն Սրբոյ, այժմ եւ միշտ եւ յաւիտեանս յաւիտենից։ Ամէն։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D096133-1CBA-1B8E-0AC1-34A7F1F673F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33</a:t>
            </a:r>
          </a:p>
        </p:txBody>
      </p:sp>
    </p:spTree>
    <p:extLst>
      <p:ext uri="{BB962C8B-B14F-4D97-AF65-F5344CB8AC3E}">
        <p14:creationId xmlns:p14="http://schemas.microsoft.com/office/powerpoint/2010/main" val="389371098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hanéyits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sdéghdzogh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koyits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ararchagits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a:t>
            </a:r>
            <a:r>
              <a:rPr lang="en-US" sz="4000" dirty="0">
                <a:latin typeface="Times New Roman" panose="02020603050405020304" pitchFamily="18" charset="0"/>
                <a:ea typeface="Calibri" panose="020F0502020204030204" pitchFamily="34" charset="0"/>
              </a:rPr>
              <a:t> Pant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toghootyoon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nûnchétsélots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dzarayits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horzham</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kas </a:t>
            </a:r>
            <a:r>
              <a:rPr lang="en-US" sz="4000" dirty="0" err="1">
                <a:latin typeface="Times New Roman" panose="02020603050405020304" pitchFamily="18" charset="0"/>
                <a:ea typeface="Calibri" panose="020F0502020204030204" pitchFamily="34" charset="0"/>
              </a:rPr>
              <a:t>tadél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anarad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tsérok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sdéghdzér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O God the Word, with the Father you are the Creator of beings out of nothing, grant forgiveness to your servants who have fallen asleep, when you come to judge those whom</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you created with your immaculate hands. </a:t>
            </a:r>
            <a:endParaRPr lang="hy-AM"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Որ յանէից ստեղծող քոյից արարչակից Հօր Բանդ Աստուած, թողութիւն շնորհեա նընջեցելոց քոց ծառայից, յորժամ գաս դատել զոր անարատ ձեռօք ստեղծեր։ </a:t>
            </a:r>
          </a:p>
          <a:p>
            <a:endParaRPr lang="hy-AM"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45D1A0D-5522-4E37-8310-626084FC2CF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33</a:t>
            </a:r>
          </a:p>
        </p:txBody>
      </p:sp>
    </p:spTree>
    <p:extLst>
      <p:ext uri="{BB962C8B-B14F-4D97-AF65-F5344CB8AC3E}">
        <p14:creationId xmlns:p14="http://schemas.microsoft.com/office/powerpoint/2010/main" val="210903446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bûsagicht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anvakhjan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paryats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pashkhogh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toghootyoon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nûnchétsélots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dzarayits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horzham</a:t>
            </a:r>
            <a:r>
              <a:rPr lang="en-US" sz="4000" dirty="0">
                <a:latin typeface="Times New Roman" panose="02020603050405020304" pitchFamily="18" charset="0"/>
                <a:ea typeface="Calibri" panose="020F0502020204030204" pitchFamily="34" charset="0"/>
              </a:rPr>
              <a:t> kas </a:t>
            </a:r>
            <a:r>
              <a:rPr lang="en-US" sz="4000" dirty="0" err="1">
                <a:latin typeface="Times New Roman" panose="02020603050405020304" pitchFamily="18" charset="0"/>
                <a:ea typeface="Calibri" panose="020F0502020204030204" pitchFamily="34" charset="0"/>
              </a:rPr>
              <a:t>tadél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anarad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tsérok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sdéghdzér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You who crown your saints and distribute everlasting bounties, grant forgiveness to your servants who have fallen asleep, when you come to judge those whom you created with your immaculate hands.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Որ պըսակիչդ ես քոց սըրբոց եւ անվախ</a:t>
            </a:r>
            <a:r>
              <a:rPr lang="en-US" sz="4000" dirty="0">
                <a:latin typeface="Arm HelvU" pitchFamily="2" charset="0"/>
                <a:ea typeface="Calibri" panose="020F0502020204030204" pitchFamily="34" charset="0"/>
              </a:rPr>
              <a:t>q</a:t>
            </a:r>
            <a:r>
              <a:rPr lang="hy-AM" sz="4000" dirty="0">
                <a:latin typeface="Arm HelvU" pitchFamily="2" charset="0"/>
                <a:ea typeface="Calibri" panose="020F0502020204030204" pitchFamily="34" charset="0"/>
              </a:rPr>
              <a:t>ան բարեաց բաշխող, թողութիւն շնորհեա նընջեցելոց քոց ծառայից, յորժամ գաս դատել զոր անարատ ձեռօք ստեղծեր։</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15022F2-4F78-407F-B2F2-DCD5C5AB7C79}"/>
              </a:ext>
            </a:extLst>
          </p:cNvPr>
          <p:cNvSpPr txBox="1"/>
          <p:nvPr/>
        </p:nvSpPr>
        <p:spPr>
          <a:xfrm>
            <a:off x="0" y="3374"/>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33</a:t>
            </a:r>
          </a:p>
        </p:txBody>
      </p:sp>
    </p:spTree>
    <p:extLst>
      <p:ext uri="{BB962C8B-B14F-4D97-AF65-F5344CB8AC3E}">
        <p14:creationId xmlns:p14="http://schemas.microsoft.com/office/powerpoint/2010/main" val="247799012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alélooya</a:t>
            </a:r>
            <a:r>
              <a:rPr lang="en-US" sz="4000" dirty="0">
                <a:latin typeface="Times New Roman" panose="02020603050405020304" pitchFamily="18" charset="0"/>
                <a:ea typeface="Calibri" panose="020F0502020204030204" pitchFamily="34" charset="0"/>
              </a:rPr>
              <a:t>.</a:t>
            </a:r>
          </a:p>
          <a:p>
            <a:r>
              <a:rPr lang="en-US" sz="4000" dirty="0">
                <a:latin typeface="Times New Roman" panose="02020603050405020304" pitchFamily="18" charset="0"/>
                <a:ea typeface="Calibri" panose="020F0502020204030204" pitchFamily="34" charset="0"/>
              </a:rPr>
              <a:t>i </a:t>
            </a:r>
            <a:r>
              <a:rPr lang="en-US" sz="4000" dirty="0" err="1">
                <a:latin typeface="Times New Roman" panose="02020603050405020304" pitchFamily="18" charset="0"/>
                <a:ea typeface="Calibri" panose="020F0502020204030204" pitchFamily="34" charset="0"/>
              </a:rPr>
              <a:t>khorots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gartatsi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loor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tsayni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aganchk</a:t>
            </a:r>
            <a:r>
              <a:rPr lang="en-US" sz="4000" dirty="0">
                <a:latin typeface="Times New Roman" panose="02020603050405020304" pitchFamily="18" charset="0"/>
                <a:ea typeface="Calibri" panose="020F0502020204030204" pitchFamily="34" charset="0"/>
              </a:rPr>
              <a:t> ko i </a:t>
            </a:r>
            <a:r>
              <a:rPr lang="en-US" sz="4000" dirty="0" err="1">
                <a:latin typeface="Times New Roman" panose="02020603050405020304" pitchFamily="18" charset="0"/>
                <a:ea typeface="Calibri" panose="020F0502020204030204" pitchFamily="34" charset="0"/>
              </a:rPr>
              <a:t>lûsél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ûztsayn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aghotits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imots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Alleluia! Alleluia!</a:t>
            </a:r>
          </a:p>
          <a:p>
            <a:r>
              <a:rPr lang="en-US" sz="4000" dirty="0">
                <a:latin typeface="Times New Roman" panose="02020603050405020304" pitchFamily="18" charset="0"/>
                <a:ea typeface="Calibri" panose="020F0502020204030204" pitchFamily="34" charset="0"/>
              </a:rPr>
              <a:t>Out of depths I cry to you, O</a:t>
            </a:r>
            <a:r>
              <a:rPr lang="en-US" sz="4000" dirty="0">
                <a:latin typeface="Cambria Math" panose="02040503050406030204" pitchFamily="18" charset="0"/>
                <a:ea typeface="Calibri" panose="020F0502020204030204" pitchFamily="34" charset="0"/>
                <a:cs typeface="Cambria Math" panose="02040503050406030204" pitchFamily="18" charset="0"/>
              </a:rPr>
              <a:t> </a:t>
            </a:r>
            <a:r>
              <a:rPr lang="en-US" sz="4000" dirty="0">
                <a:latin typeface="Times New Roman" panose="02020603050405020304" pitchFamily="18" charset="0"/>
                <a:ea typeface="Calibri" panose="020F0502020204030204" pitchFamily="34" charset="0"/>
              </a:rPr>
              <a:t>Lord. Lord, hear my voice! Let your ears be attentive to the voice of my supplications!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Ալէլուիա, ալէլուիա։</a:t>
            </a:r>
          </a:p>
          <a:p>
            <a:r>
              <a:rPr lang="hy-AM" sz="4000" dirty="0">
                <a:latin typeface="Arm HelvU" pitchFamily="2" charset="0"/>
                <a:ea typeface="Calibri" panose="020F0502020204030204" pitchFamily="34" charset="0"/>
              </a:rPr>
              <a:t>Ի խորոց կարդացի առ քեզ, Տէր, Տէր, լուր ձայնի իմում։ Եղիցին ականջք քո ի լըսել ըզձայն աղօթից իմոց։</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B2F0F98-AA16-C39A-630C-60FE2658034C}"/>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33</a:t>
            </a:r>
          </a:p>
        </p:txBody>
      </p:sp>
    </p:spTree>
    <p:extLst>
      <p:ext uri="{BB962C8B-B14F-4D97-AF65-F5344CB8AC3E}">
        <p14:creationId xmlns:p14="http://schemas.microsoft.com/office/powerpoint/2010/main" val="152767542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pPr algn="l"/>
            <a:r>
              <a:rPr lang="en-US" sz="4000" b="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 </a:t>
            </a:r>
            <a:r>
              <a:rPr lang="en-US" sz="4000" b="0" u="none" strike="noStrike" baseline="0" dirty="0" err="1">
                <a:latin typeface="Times New Roman" panose="02020603050405020304" pitchFamily="18" charset="0"/>
                <a:cs typeface="Times New Roman" panose="02020603050405020304" pitchFamily="18" charset="0"/>
              </a:rPr>
              <a:t>Alélooya</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orti</a:t>
            </a:r>
            <a:r>
              <a:rPr lang="en-US" sz="4000" b="0" u="none" strike="noStrike" baseline="0" dirty="0">
                <a:latin typeface="Times New Roman" panose="02020603050405020304" pitchFamily="18" charset="0"/>
                <a:cs typeface="Times New Roman" panose="02020603050405020304" pitchFamily="18" charset="0"/>
              </a:rPr>
              <a:t>.</a:t>
            </a:r>
          </a:p>
          <a:p>
            <a:pPr algn="l"/>
            <a:r>
              <a:rPr lang="en-US" sz="4000" b="0" u="none" strike="noStrike" baseline="0" dirty="0">
                <a:solidFill>
                  <a:srgbClr val="FF0000"/>
                </a:solidFill>
                <a:latin typeface="Times New Roman" panose="02020603050405020304" pitchFamily="18" charset="0"/>
                <a:cs typeface="Times New Roman" panose="02020603050405020304" pitchFamily="18" charset="0"/>
              </a:rPr>
              <a:t>CLB. </a:t>
            </a:r>
            <a:r>
              <a:rPr lang="en-US" sz="4000" b="0" u="none" strike="noStrike" baseline="0" dirty="0">
                <a:latin typeface="Wingdings-Regular"/>
              </a:rPr>
              <a:t>X </a:t>
            </a:r>
            <a:r>
              <a:rPr lang="en-US" sz="4000" b="0" u="none" strike="noStrike" baseline="0" dirty="0" err="1">
                <a:latin typeface="Times New Roman" panose="02020603050405020304" pitchFamily="18" charset="0"/>
                <a:cs typeface="Times New Roman" panose="02020603050405020304" pitchFamily="18" charset="0"/>
              </a:rPr>
              <a:t>Khaghaghootyoon</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aménétsoon</a:t>
            </a:r>
            <a:r>
              <a:rPr lang="en-US" sz="4000" b="0" u="none" strike="noStrike" baseline="0" dirty="0">
                <a:latin typeface="Times New Roman" panose="02020603050405020304" pitchFamily="18" charset="0"/>
                <a:cs typeface="Times New Roman" panose="02020603050405020304" pitchFamily="18" charset="0"/>
              </a:rPr>
              <a:t>.</a:t>
            </a:r>
          </a:p>
          <a:p>
            <a:pPr algn="l"/>
            <a:r>
              <a:rPr lang="en-US" sz="4000" b="0" u="none" strike="noStrike" baseline="0" dirty="0">
                <a:solidFill>
                  <a:srgbClr val="00B050"/>
                </a:solidFill>
                <a:latin typeface="Times New Roman" panose="02020603050405020304" pitchFamily="18" charset="0"/>
                <a:cs typeface="Times New Roman" panose="02020603050405020304" pitchFamily="18" charset="0"/>
              </a:rPr>
              <a:t>CHR. </a:t>
            </a:r>
            <a:r>
              <a:rPr lang="en-US" sz="4000" b="0" u="none" strike="noStrike" baseline="0" dirty="0" err="1">
                <a:latin typeface="Times New Roman" panose="02020603050405020304" pitchFamily="18" charset="0"/>
                <a:cs typeface="Times New Roman" panose="02020603050405020304" pitchFamily="18" charset="0"/>
              </a:rPr>
              <a:t>Yév</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ûnt</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hokvooyt</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koom</a:t>
            </a:r>
            <a:r>
              <a:rPr lang="en-US" sz="4000" b="0" u="none" strike="noStrike" baseline="0" dirty="0">
                <a:latin typeface="Times New Roman" panose="02020603050405020304" pitchFamily="18" charset="0"/>
                <a:cs typeface="Times New Roman" panose="02020603050405020304" pitchFamily="18" charset="0"/>
              </a:rPr>
              <a:t>.</a:t>
            </a:r>
          </a:p>
          <a:p>
            <a:pPr algn="l"/>
            <a:r>
              <a:rPr lang="en-US" sz="4000" b="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 </a:t>
            </a:r>
            <a:r>
              <a:rPr lang="en-US" sz="4000" b="0" u="none" strike="noStrike" baseline="0" dirty="0" err="1">
                <a:latin typeface="Times New Roman" panose="02020603050405020304" pitchFamily="18" charset="0"/>
                <a:cs typeface="Times New Roman" panose="02020603050405020304" pitchFamily="18" charset="0"/>
              </a:rPr>
              <a:t>Yérgyooghadzootyamp</a:t>
            </a:r>
            <a:r>
              <a:rPr lang="en-US" sz="4000" b="0" u="none" strike="noStrike" baseline="0" dirty="0">
                <a:latin typeface="Times New Roman" panose="02020603050405020304" pitchFamily="18" charset="0"/>
                <a:cs typeface="Times New Roman" panose="02020603050405020304" pitchFamily="18" charset="0"/>
              </a:rPr>
              <a:t> </a:t>
            </a:r>
            <a:r>
              <a:rPr lang="en-US" sz="4000" b="0" u="none" strike="noStrike" baseline="0" dirty="0" err="1">
                <a:latin typeface="Times New Roman" panose="02020603050405020304" pitchFamily="18" charset="0"/>
                <a:cs typeface="Times New Roman" panose="02020603050405020304" pitchFamily="18" charset="0"/>
              </a:rPr>
              <a:t>lûvarook</a:t>
            </a:r>
            <a:r>
              <a:rPr lang="en-US" sz="4000" b="0" u="none" strike="noStrike" baseline="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pPr algn="l"/>
            <a:r>
              <a:rPr lang="en-US" sz="40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a:t>
            </a:r>
            <a:r>
              <a:rPr lang="en-US" sz="4000" b="0" i="0" u="none" strike="noStrike" baseline="0" dirty="0">
                <a:latin typeface="Times New Roman" panose="02020603050405020304" pitchFamily="18" charset="0"/>
                <a:cs typeface="Times New Roman" panose="02020603050405020304" pitchFamily="18" charset="0"/>
              </a:rPr>
              <a:t> Alleluia! Rise.</a:t>
            </a:r>
          </a:p>
          <a:p>
            <a:pPr algn="l"/>
            <a:r>
              <a:rPr lang="en-US" sz="4000" b="0" i="0" u="none" strike="noStrike" baseline="0" dirty="0">
                <a:solidFill>
                  <a:srgbClr val="FF0000"/>
                </a:solidFill>
                <a:latin typeface="Times New Roman" panose="02020603050405020304" pitchFamily="18" charset="0"/>
                <a:cs typeface="Times New Roman" panose="02020603050405020304" pitchFamily="18" charset="0"/>
              </a:rPr>
              <a:t>CLB. </a:t>
            </a:r>
            <a:r>
              <a:rPr lang="en-US" sz="4000" b="0" i="0" u="none" strike="noStrike" baseline="0" dirty="0">
                <a:latin typeface="Wingdings-Regular"/>
              </a:rPr>
              <a:t>X</a:t>
            </a:r>
            <a:r>
              <a:rPr lang="en-US" sz="4000" b="0" i="0" u="none" strike="noStrike" baseline="0" dirty="0">
                <a:latin typeface="Times New Roman" panose="02020603050405020304" pitchFamily="18" charset="0"/>
                <a:cs typeface="Times New Roman" panose="02020603050405020304" pitchFamily="18" charset="0"/>
              </a:rPr>
              <a:t> Peace be to all.</a:t>
            </a:r>
          </a:p>
          <a:p>
            <a:pPr algn="l"/>
            <a:r>
              <a:rPr lang="en-US" sz="4000" b="0" i="0" u="none" strike="noStrike" baseline="0" dirty="0">
                <a:solidFill>
                  <a:srgbClr val="00B050"/>
                </a:solidFill>
                <a:latin typeface="Times New Roman" panose="02020603050405020304" pitchFamily="18" charset="0"/>
                <a:cs typeface="Times New Roman" panose="02020603050405020304" pitchFamily="18" charset="0"/>
              </a:rPr>
              <a:t>CHR. </a:t>
            </a:r>
            <a:r>
              <a:rPr lang="en-US" sz="4000" b="0" i="0" u="none" strike="noStrike" baseline="0" dirty="0">
                <a:latin typeface="Times New Roman" panose="02020603050405020304" pitchFamily="18" charset="0"/>
                <a:cs typeface="Times New Roman" panose="02020603050405020304" pitchFamily="18" charset="0"/>
              </a:rPr>
              <a:t>And with your spirit.</a:t>
            </a:r>
          </a:p>
          <a:p>
            <a:pPr algn="l"/>
            <a:r>
              <a:rPr lang="en-US" sz="40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 </a:t>
            </a:r>
            <a:r>
              <a:rPr lang="en-US" sz="4000" b="0" i="0" u="none" strike="noStrike" baseline="0" dirty="0">
                <a:latin typeface="Times New Roman" panose="02020603050405020304" pitchFamily="18" charset="0"/>
                <a:cs typeface="Times New Roman" panose="02020603050405020304" pitchFamily="18" charset="0"/>
              </a:rPr>
              <a:t>Listen in awe.</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Ալէլուիա, օրթի:</a:t>
            </a:r>
          </a:p>
          <a:p>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en-US" sz="4000" dirty="0">
                <a:latin typeface="Wingdings" panose="05000000000000000000" pitchFamily="2" charset="2"/>
                <a:ea typeface="Calibri" panose="020F0502020204030204" pitchFamily="34" charset="0"/>
              </a:rPr>
              <a:t>X</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Խաղաղութիւն ամենեցուն:</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ընդ հոգւոյդ քում:</a:t>
            </a:r>
          </a:p>
          <a:p>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Երկիւղածութեամբ լըւարուք:</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A068F2A-18D4-AA8B-B9F2-9C177748E0BA}"/>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34</a:t>
            </a:r>
          </a:p>
        </p:txBody>
      </p:sp>
    </p:spTree>
    <p:extLst>
      <p:ext uri="{BB962C8B-B14F-4D97-AF65-F5344CB8AC3E}">
        <p14:creationId xmlns:p14="http://schemas.microsoft.com/office/powerpoint/2010/main" val="30231191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pPr algn="l"/>
            <a:r>
              <a:rPr lang="fi-FI" sz="4000" u="none" strike="noStrike" baseline="0" dirty="0">
                <a:solidFill>
                  <a:srgbClr val="FF0000"/>
                </a:solidFill>
                <a:latin typeface="Times New Roman" panose="02020603050405020304" pitchFamily="18" charset="0"/>
                <a:cs typeface="Times New Roman" panose="02020603050405020304" pitchFamily="18" charset="0"/>
              </a:rPr>
              <a:t>CLB. </a:t>
            </a:r>
            <a:r>
              <a:rPr lang="fi-FI" sz="4000" u="none" strike="noStrike" baseline="0" dirty="0">
                <a:latin typeface="Times New Roman" panose="02020603050405020304" pitchFamily="18" charset="0"/>
                <a:cs typeface="Times New Roman" panose="02020603050405020304" pitchFamily="18" charset="0"/>
              </a:rPr>
              <a:t>Sûrpo Avédaranis Hisoosi Krisdosi </a:t>
            </a:r>
            <a:r>
              <a:rPr lang="en-US" sz="4000" u="none" strike="noStrike" baseline="0" dirty="0" err="1">
                <a:latin typeface="Times New Roman" panose="02020603050405020304" pitchFamily="18" charset="0"/>
                <a:cs typeface="Times New Roman" panose="02020603050405020304" pitchFamily="18" charset="0"/>
              </a:rPr>
              <a:t>vor</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ûsd</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Hovhannoo</a:t>
            </a:r>
            <a:r>
              <a:rPr lang="en-US" sz="4000" u="none" strike="noStrike" baseline="0" dirty="0">
                <a:latin typeface="Times New Roman" panose="02020603050405020304" pitchFamily="18" charset="0"/>
                <a:cs typeface="Times New Roman" panose="02020603050405020304" pitchFamily="18" charset="0"/>
              </a:rPr>
              <a:t>. (12.24-26)</a:t>
            </a:r>
          </a:p>
          <a:p>
            <a:pPr algn="l"/>
            <a:r>
              <a:rPr lang="en-US" sz="4000" u="none" strike="noStrike" baseline="0" dirty="0">
                <a:solidFill>
                  <a:srgbClr val="00B050"/>
                </a:solidFill>
                <a:latin typeface="Times New Roman" panose="02020603050405020304" pitchFamily="18" charset="0"/>
                <a:cs typeface="Times New Roman" panose="02020603050405020304" pitchFamily="18" charset="0"/>
              </a:rPr>
              <a:t>CHR. </a:t>
            </a:r>
            <a:r>
              <a:rPr lang="en-US" sz="4000" u="none" strike="noStrike" baseline="0" dirty="0">
                <a:latin typeface="Times New Roman" panose="02020603050405020304" pitchFamily="18" charset="0"/>
                <a:cs typeface="Times New Roman" panose="02020603050405020304" pitchFamily="18" charset="0"/>
              </a:rPr>
              <a:t>Park </a:t>
            </a:r>
            <a:r>
              <a:rPr lang="en-US" sz="4000" u="none" strike="noStrike" baseline="0" dirty="0" err="1">
                <a:latin typeface="Times New Roman" panose="02020603050405020304" pitchFamily="18" charset="0"/>
                <a:cs typeface="Times New Roman" panose="02020603050405020304" pitchFamily="18" charset="0"/>
              </a:rPr>
              <a:t>kéz</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Dér</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Asdvadz</a:t>
            </a:r>
            <a:r>
              <a:rPr lang="en-US" sz="4000" u="none" strike="noStrike" baseline="0" dirty="0">
                <a:latin typeface="Times New Roman" panose="02020603050405020304" pitchFamily="18" charset="0"/>
                <a:cs typeface="Times New Roman" panose="02020603050405020304" pitchFamily="18" charset="0"/>
              </a:rPr>
              <a:t> </a:t>
            </a:r>
            <a:r>
              <a:rPr lang="en-US" sz="4000" u="none" strike="noStrike" baseline="0" dirty="0" err="1">
                <a:latin typeface="Times New Roman" panose="02020603050405020304" pitchFamily="18" charset="0"/>
                <a:cs typeface="Times New Roman" panose="02020603050405020304" pitchFamily="18" charset="0"/>
              </a:rPr>
              <a:t>mér</a:t>
            </a:r>
            <a:r>
              <a:rPr lang="en-US" sz="4000" u="none" strike="noStrike" baseline="0" dirty="0">
                <a:latin typeface="Times New Roman" panose="02020603050405020304" pitchFamily="18" charset="0"/>
                <a:cs typeface="Times New Roman" panose="02020603050405020304" pitchFamily="18" charset="0"/>
              </a:rPr>
              <a:t>.</a:t>
            </a:r>
          </a:p>
          <a:p>
            <a:pPr algn="l"/>
            <a:r>
              <a:rPr lang="en-US" sz="400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 </a:t>
            </a:r>
            <a:r>
              <a:rPr lang="en-US" sz="4000" u="none" strike="noStrike" baseline="0" dirty="0" err="1">
                <a:latin typeface="Times New Roman" panose="02020603050405020304" pitchFamily="18" charset="0"/>
                <a:cs typeface="Times New Roman" panose="02020603050405020304" pitchFamily="18" charset="0"/>
              </a:rPr>
              <a:t>Broskhoomé</a:t>
            </a:r>
            <a:r>
              <a:rPr lang="en-US" sz="4000" u="none" strike="noStrike" baseline="0" dirty="0">
                <a:latin typeface="Times New Roman" panose="02020603050405020304" pitchFamily="18" charset="0"/>
                <a:cs typeface="Times New Roman" panose="02020603050405020304" pitchFamily="18" charset="0"/>
              </a:rPr>
              <a:t>.</a:t>
            </a:r>
            <a:endParaRPr lang="hy-AM" sz="4000" u="none" strike="noStrike" baseline="0" dirty="0">
              <a:latin typeface="Times New Roman" panose="02020603050405020304" pitchFamily="18" charset="0"/>
              <a:cs typeface="Times New Roman" panose="02020603050405020304" pitchFamily="18" charset="0"/>
            </a:endParaRPr>
          </a:p>
          <a:p>
            <a:pPr algn="l"/>
            <a:r>
              <a:rPr lang="en-US" sz="4000" u="none" strike="noStrike" baseline="0" dirty="0">
                <a:solidFill>
                  <a:srgbClr val="00B050"/>
                </a:solidFill>
                <a:latin typeface="TimesNewRomanPSMT"/>
              </a:rPr>
              <a:t>CHR.</a:t>
            </a:r>
            <a:r>
              <a:rPr lang="en-US" sz="4000" u="none" strike="noStrike" baseline="0" dirty="0">
                <a:latin typeface="TimesNewRomanPSMT"/>
              </a:rPr>
              <a:t> </a:t>
            </a:r>
            <a:r>
              <a:rPr lang="en-US" sz="4000" u="none" strike="noStrike" baseline="0" dirty="0" err="1">
                <a:latin typeface="TimesNewRomanPS-ItalicMT"/>
              </a:rPr>
              <a:t>Asé</a:t>
            </a:r>
            <a:r>
              <a:rPr lang="en-US" sz="4000" u="none" strike="noStrike" baseline="0" dirty="0">
                <a:latin typeface="TimesNewRomanPS-ItalicMT"/>
              </a:rPr>
              <a:t> </a:t>
            </a:r>
            <a:r>
              <a:rPr lang="en-US" sz="4000" u="none" strike="noStrike" baseline="0" dirty="0" err="1">
                <a:latin typeface="TimesNewRomanPS-ItalicMT"/>
              </a:rPr>
              <a:t>Asdvadz</a:t>
            </a:r>
            <a:r>
              <a:rPr lang="en-US" sz="4000" u="none" strike="noStrike" baseline="0" dirty="0">
                <a:latin typeface="TimesNewRomanPS-ItalicMT"/>
              </a:rPr>
              <a:t>.</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pPr algn="l"/>
            <a:r>
              <a:rPr lang="en-US" sz="4000" b="0" i="0" u="none" strike="noStrike" baseline="0" dirty="0">
                <a:solidFill>
                  <a:srgbClr val="FF0000"/>
                </a:solidFill>
                <a:latin typeface="Times New Roman" panose="02020603050405020304" pitchFamily="18" charset="0"/>
                <a:cs typeface="Times New Roman" panose="02020603050405020304" pitchFamily="18" charset="0"/>
              </a:rPr>
              <a:t>CLB. </a:t>
            </a:r>
            <a:r>
              <a:rPr lang="en-US" sz="4000" b="0" i="0" u="none" strike="noStrike" baseline="0" dirty="0">
                <a:latin typeface="Times New Roman" panose="02020603050405020304" pitchFamily="18" charset="0"/>
                <a:cs typeface="Times New Roman" panose="02020603050405020304" pitchFamily="18" charset="0"/>
              </a:rPr>
              <a:t>To the holy Gospel of Jesus Christ according to John. (12.24-26)</a:t>
            </a:r>
          </a:p>
          <a:p>
            <a:pPr algn="l"/>
            <a:r>
              <a:rPr lang="en-US" sz="4000" b="0" i="0" u="none" strike="noStrike" baseline="0" dirty="0">
                <a:solidFill>
                  <a:srgbClr val="00B050"/>
                </a:solidFill>
                <a:latin typeface="Times New Roman" panose="02020603050405020304" pitchFamily="18" charset="0"/>
                <a:cs typeface="Times New Roman" panose="02020603050405020304" pitchFamily="18" charset="0"/>
              </a:rPr>
              <a:t>CHR.</a:t>
            </a:r>
            <a:r>
              <a:rPr lang="en-US" sz="4000" b="0" i="0" u="none" strike="noStrike" baseline="0" dirty="0">
                <a:latin typeface="Times New Roman" panose="02020603050405020304" pitchFamily="18" charset="0"/>
                <a:cs typeface="Times New Roman" panose="02020603050405020304" pitchFamily="18" charset="0"/>
              </a:rPr>
              <a:t> Glory be to you, Lord, our God.</a:t>
            </a:r>
          </a:p>
          <a:p>
            <a:pPr algn="l"/>
            <a:r>
              <a:rPr lang="en-US" sz="40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DCN.</a:t>
            </a:r>
            <a:r>
              <a:rPr lang="en-US" sz="4000" b="0" i="0" u="none" strike="noStrike" baseline="0" dirty="0">
                <a:latin typeface="Times New Roman" panose="02020603050405020304" pitchFamily="18" charset="0"/>
                <a:cs typeface="Times New Roman" panose="02020603050405020304" pitchFamily="18" charset="0"/>
              </a:rPr>
              <a:t> Be attentive.</a:t>
            </a:r>
            <a:endParaRPr lang="hy-AM" sz="4000" b="0" i="0" u="none" strike="noStrike" baseline="0" dirty="0">
              <a:latin typeface="Times New Roman" panose="02020603050405020304" pitchFamily="18" charset="0"/>
              <a:cs typeface="Times New Roman" panose="02020603050405020304" pitchFamily="18" charset="0"/>
            </a:endParaRPr>
          </a:p>
          <a:p>
            <a:pPr algn="l"/>
            <a:r>
              <a:rPr lang="en-US" sz="4000" b="0" i="0" u="none" strike="noStrike" baseline="0" dirty="0">
                <a:solidFill>
                  <a:srgbClr val="00B050"/>
                </a:solidFill>
                <a:latin typeface="Times New Roman" panose="02020603050405020304" pitchFamily="18" charset="0"/>
                <a:cs typeface="Times New Roman" panose="02020603050405020304" pitchFamily="18" charset="0"/>
              </a:rPr>
              <a:t>CHR. </a:t>
            </a:r>
            <a:r>
              <a:rPr lang="en-US" sz="4000" b="0" i="0" u="none" strike="noStrike" baseline="0" dirty="0">
                <a:latin typeface="Times New Roman" panose="02020603050405020304" pitchFamily="18" charset="0"/>
                <a:cs typeface="Times New Roman" panose="02020603050405020304" pitchFamily="18" charset="0"/>
              </a:rPr>
              <a:t>God is speaking.</a:t>
            </a:r>
            <a:endParaRPr lang="en-US"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pPr algn="l"/>
            <a:r>
              <a:rPr lang="hy-AM" sz="4000" dirty="0">
                <a:solidFill>
                  <a:srgbClr val="FF0000"/>
                </a:solidFill>
                <a:latin typeface="Arm HelvU" pitchFamily="2" charset="0"/>
                <a:ea typeface="Calibri" panose="020F0502020204030204" pitchFamily="34" charset="0"/>
              </a:rPr>
              <a:t>ՔՀՆ.</a:t>
            </a:r>
            <a:r>
              <a:rPr lang="en-US" sz="4000" dirty="0">
                <a:solidFill>
                  <a:srgbClr val="FF000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Սրբոյ Աւետարանիս Յիսուսի Քրիստոսի որ ըստ Յովհաննու: </a:t>
            </a:r>
            <a:r>
              <a:rPr lang="hy-AM" sz="3800" dirty="0">
                <a:latin typeface="Arm HelvU" pitchFamily="2" charset="0"/>
                <a:ea typeface="Calibri" panose="020F0502020204030204" pitchFamily="34" charset="0"/>
              </a:rPr>
              <a:t>(12.24-26)</a:t>
            </a:r>
          </a:p>
          <a:p>
            <a:pPr algn="l"/>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Փառք քեզ, Տէր, Աստուած մեր:</a:t>
            </a:r>
          </a:p>
          <a:p>
            <a:pPr algn="l"/>
            <a:r>
              <a:rPr lang="hy-AM" sz="4000" dirty="0">
                <a:solidFill>
                  <a:schemeClr val="accent1">
                    <a:lumMod val="75000"/>
                  </a:schemeClr>
                </a:solidFill>
                <a:latin typeface="Arm HelvU" pitchFamily="2" charset="0"/>
                <a:ea typeface="Calibri" panose="020F0502020204030204" pitchFamily="34" charset="0"/>
              </a:rPr>
              <a:t>ՍՐԿ.</a:t>
            </a:r>
            <a:r>
              <a:rPr lang="en-US" sz="4000" dirty="0">
                <a:solidFill>
                  <a:schemeClr val="accent1">
                    <a:lumMod val="75000"/>
                  </a:schemeClr>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Պռօսխումէ։</a:t>
            </a:r>
          </a:p>
          <a:p>
            <a:pPr algn="l"/>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Ասէ Աստուած</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403550C-932F-C004-3C52-2F90AF604AE5}"/>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34</a:t>
            </a:r>
          </a:p>
        </p:txBody>
      </p:sp>
    </p:spTree>
    <p:extLst>
      <p:ext uri="{BB962C8B-B14F-4D97-AF65-F5344CB8AC3E}">
        <p14:creationId xmlns:p14="http://schemas.microsoft.com/office/powerpoint/2010/main" val="176123543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5046553"/>
            <a:ext cx="16276320" cy="1938992"/>
          </a:xfrm>
          <a:prstGeom prst="rect">
            <a:avLst/>
          </a:prstGeom>
          <a:noFill/>
          <a:ln>
            <a:noFill/>
          </a:ln>
        </p:spPr>
        <p:txBody>
          <a:bodyPr wrap="square" rtlCol="0">
            <a:spAutoFit/>
          </a:bodyPr>
          <a:lstStyle/>
          <a:p>
            <a:pPr algn="l"/>
            <a:r>
              <a:rPr lang="en-US" sz="4000" b="0" i="0" u="none" strike="noStrike" baseline="0" dirty="0">
                <a:solidFill>
                  <a:srgbClr val="FF0000"/>
                </a:solidFill>
                <a:latin typeface="TimesNewRomanPSMT"/>
              </a:rPr>
              <a:t>CLB.</a:t>
            </a:r>
            <a:r>
              <a:rPr lang="en-US" sz="4000" b="0" i="0" u="none" strike="noStrike" baseline="0" dirty="0">
                <a:latin typeface="TimesNewRomanPSMT"/>
              </a:rPr>
              <a:t> Our Lord Jesus Christ says:</a:t>
            </a:r>
          </a:p>
          <a:p>
            <a:pPr algn="l"/>
            <a:r>
              <a:rPr lang="en-US" sz="4000" b="0" i="0" u="none" strike="noStrike" baseline="0" dirty="0">
                <a:latin typeface="TimesNewRomanPSMT"/>
              </a:rPr>
              <a:t>Very truly, I tell you, unless a grain of wheat falls into the earth and dies, it remains just a single grain; but if it dies, it bears much fruit.</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pPr algn="l"/>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Մեր Տէրը՝ Յիսուս Քրիստոս կ</a:t>
            </a:r>
            <a:r>
              <a:rPr lang="en-US" sz="4000" dirty="0">
                <a:latin typeface="Arm HelvU" pitchFamily="2" charset="0"/>
                <a:ea typeface="Calibri" panose="020F0502020204030204" pitchFamily="34" charset="0"/>
              </a:rPr>
              <a:t>þ</a:t>
            </a:r>
            <a:r>
              <a:rPr lang="hy-AM" sz="4000" dirty="0">
                <a:latin typeface="Arm HelvU" pitchFamily="2" charset="0"/>
                <a:ea typeface="Calibri" panose="020F0502020204030204" pitchFamily="34" charset="0"/>
              </a:rPr>
              <a:t>ըսէ.</a:t>
            </a:r>
          </a:p>
          <a:p>
            <a:pPr algn="l"/>
            <a:r>
              <a:rPr lang="hy-AM" sz="4000" dirty="0">
                <a:latin typeface="Arm HelvU" pitchFamily="2" charset="0"/>
                <a:ea typeface="Calibri" panose="020F0502020204030204" pitchFamily="34" charset="0"/>
              </a:rPr>
              <a:t>Վստահ գիտցէք, որ եթէ ցորենի հատիկը հողին մէջ չիյնայ եւ չմեռնի, ինք որ պէս առանձին հատիկ կը մնայ, իսկ եթէ մեռնի՝ բազմաթիւ հատիկներ կուտայ։</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503498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B7D5D73-014C-4332-2847-70EC701B38F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34</a:t>
            </a:r>
          </a:p>
        </p:txBody>
      </p:sp>
    </p:spTree>
    <p:extLst>
      <p:ext uri="{BB962C8B-B14F-4D97-AF65-F5344CB8AC3E}">
        <p14:creationId xmlns:p14="http://schemas.microsoft.com/office/powerpoint/2010/main" val="128963722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5046553"/>
            <a:ext cx="16276320" cy="2554545"/>
          </a:xfrm>
          <a:prstGeom prst="rect">
            <a:avLst/>
          </a:prstGeom>
          <a:noFill/>
          <a:ln>
            <a:noFill/>
          </a:ln>
        </p:spPr>
        <p:txBody>
          <a:bodyPr wrap="square" rtlCol="0">
            <a:spAutoFit/>
          </a:bodyPr>
          <a:lstStyle/>
          <a:p>
            <a:pPr algn="l"/>
            <a:r>
              <a:rPr lang="en-US" sz="4000" b="0" i="0" u="none" strike="noStrike" baseline="0" dirty="0">
                <a:solidFill>
                  <a:srgbClr val="FF0000"/>
                </a:solidFill>
                <a:latin typeface="TimesNewRomanPSMT"/>
              </a:rPr>
              <a:t>CLB.</a:t>
            </a:r>
            <a:r>
              <a:rPr lang="en-US" sz="4000" b="0" i="0" u="none" strike="noStrike" baseline="0" dirty="0">
                <a:latin typeface="TimesNewRomanPSMT"/>
              </a:rPr>
              <a:t> Those who love their life lose it, and those who hate their life in this world will keep it for eternal life. Whoever </a:t>
            </a:r>
            <a:r>
              <a:rPr lang="en-US" sz="4000" b="0" i="0" u="none" strike="noStrike" baseline="0" dirty="0" err="1">
                <a:latin typeface="TimesNewRomanPSMT"/>
              </a:rPr>
              <a:t>servesme</a:t>
            </a:r>
            <a:r>
              <a:rPr lang="en-US" sz="4000" b="0" i="0" u="none" strike="noStrike" baseline="0" dirty="0">
                <a:latin typeface="TimesNewRomanPSMT"/>
              </a:rPr>
              <a:t>, must follow me, and where I am, there will my servant be also. Whoever serves me, the Father will honor.</a:t>
            </a:r>
            <a:endParaRPr lang="en-US" sz="4000" dirty="0">
              <a:latin typeface="Times New Roman" panose="02020603050405020304" pitchFamily="18" charset="0"/>
              <a:ea typeface="Calibri" panose="020F0502020204030204" pitchFamily="34" charset="0"/>
            </a:endParaRP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pPr algn="l"/>
            <a:r>
              <a:rPr lang="en-US" sz="4000" dirty="0" err="1">
                <a:solidFill>
                  <a:srgbClr val="FF0000"/>
                </a:solidFill>
                <a:latin typeface="Arm HelvU" pitchFamily="2" charset="0"/>
                <a:ea typeface="Calibri" panose="020F0502020204030204" pitchFamily="34" charset="0"/>
              </a:rPr>
              <a:t>øÐÜ</a:t>
            </a:r>
            <a:r>
              <a:rPr lang="en-US" sz="4000" dirty="0">
                <a:solidFill>
                  <a:srgbClr val="FF0000"/>
                </a:solidFill>
                <a:latin typeface="Arm HelvU" pitchFamily="2" charset="0"/>
                <a:ea typeface="Calibri" panose="020F0502020204030204" pitchFamily="34" charset="0"/>
              </a:rPr>
              <a:t>.</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Ով որ իր անձը կը սիրէ, կը կորսնցնէ զայն, իսկ ով որ իր անձը կ</a:t>
            </a:r>
            <a:r>
              <a:rPr lang="en-US" sz="4000" dirty="0">
                <a:latin typeface="Arm HelvU" pitchFamily="2" charset="0"/>
                <a:ea typeface="Calibri" panose="020F0502020204030204" pitchFamily="34" charset="0"/>
              </a:rPr>
              <a:t>þ</a:t>
            </a:r>
            <a:r>
              <a:rPr lang="hy-AM" sz="4000" dirty="0">
                <a:latin typeface="Arm HelvU" pitchFamily="2" charset="0"/>
                <a:ea typeface="Calibri" panose="020F0502020204030204" pitchFamily="34" charset="0"/>
              </a:rPr>
              <a:t>անտ-եսէ այս աշխարհի վրայ՝ զայն յաւիտենական կեանքին համար պահած կ</a:t>
            </a:r>
            <a:r>
              <a:rPr lang="en-US" sz="4000" dirty="0">
                <a:latin typeface="Arm HelvU" pitchFamily="2" charset="0"/>
                <a:ea typeface="Calibri" panose="020F0502020204030204" pitchFamily="34" charset="0"/>
              </a:rPr>
              <a:t>þ</a:t>
            </a:r>
            <a:r>
              <a:rPr lang="hy-AM" sz="4000" dirty="0">
                <a:latin typeface="Arm HelvU" pitchFamily="2" charset="0"/>
                <a:ea typeface="Calibri" panose="020F0502020204030204" pitchFamily="34" charset="0"/>
              </a:rPr>
              <a:t>ըլլայ։ Ով որ ուզէ ինծի ծառայել պէտք է ինծի հետեւի, եւ ինծի ծառայողը պիտի ըլ-լայ հոն՝ ուր ես կը գտնուիմ։ Եւ Հայրս պիտի պատուէ ինծի ծառայողը։</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503498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AFBA186-2F6A-63A1-897D-E2BE72BB17B0}"/>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34</a:t>
            </a:r>
          </a:p>
        </p:txBody>
      </p:sp>
    </p:spTree>
    <p:extLst>
      <p:ext uri="{BB962C8B-B14F-4D97-AF65-F5344CB8AC3E}">
        <p14:creationId xmlns:p14="http://schemas.microsoft.com/office/powerpoint/2010/main" val="370575127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Kahanayk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zhoghovoortk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haytsémk</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kén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parékoot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nûnchétsyalsûn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havadov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novin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hoosov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hÉroosaghém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kaghak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vérin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horoom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artarkûn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zhoghovin</a:t>
            </a:r>
            <a:r>
              <a:rPr lang="en-US" sz="4000" dirty="0">
                <a:latin typeface="Times New Roman" panose="02020603050405020304" pitchFamily="18" charset="0"/>
                <a:ea typeface="Calibri" panose="020F0502020204030204" pitchFamily="34" charset="0"/>
              </a:rPr>
              <a:t>, pars </a:t>
            </a:r>
            <a:r>
              <a:rPr lang="en-US" sz="4000" dirty="0" err="1">
                <a:latin typeface="Times New Roman" panose="02020603050405020304" pitchFamily="18" charset="0"/>
                <a:ea typeface="Calibri" panose="020F0502020204030204" pitchFamily="34" charset="0"/>
              </a:rPr>
              <a:t>vérérkél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nosin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Yérrortootyant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yérryag</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antsin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We, the priests and the people entreat you, O merciful Lord, with those who have fallen asleep in faith, receive us also in the same hope of resurrection into the city of Jerusalem above, in which the just are assembled, so that with them we may always glorify the three persons of the Trinity.</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Քահանայք եւ ժողովուրդք հայցեմք ի քէն, Տէր բարեգութ. ընդ նընջեցեալսըն հաւատով ընկալ ըզմեզ նովին յուսով. յԵրուսաղէմ քաղաք վերին յորում արդարքըն ժողովին, </a:t>
            </a:r>
            <a:r>
              <a:rPr lang="en-US" sz="4000" dirty="0">
                <a:latin typeface="Arm HelvU" pitchFamily="2" charset="0"/>
                <a:ea typeface="Calibri" panose="020F0502020204030204" pitchFamily="34" charset="0"/>
              </a:rPr>
              <a:t>w</a:t>
            </a:r>
            <a:r>
              <a:rPr lang="hy-AM" sz="4000" dirty="0">
                <a:latin typeface="Arm HelvU" pitchFamily="2" charset="0"/>
                <a:ea typeface="Calibri" panose="020F0502020204030204" pitchFamily="34" charset="0"/>
              </a:rPr>
              <a:t>առս վերերգել միշտ ընդ նոսին Երրորդութեանդ երրեակ անձին։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F167AB2-7548-5D4C-498C-021C30F00C6B}"/>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34</a:t>
            </a:r>
          </a:p>
        </p:txBody>
      </p:sp>
    </p:spTree>
    <p:extLst>
      <p:ext uri="{BB962C8B-B14F-4D97-AF65-F5344CB8AC3E}">
        <p14:creationId xmlns:p14="http://schemas.microsoft.com/office/powerpoint/2010/main" val="310066102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a:latin typeface="Times New Roman" panose="02020603050405020304" pitchFamily="18" charset="0"/>
                <a:ea typeface="Calibri" panose="020F0502020204030204" pitchFamily="34" charset="0"/>
              </a:rPr>
              <a:t>i </a:t>
            </a:r>
            <a:r>
              <a:rPr lang="en-US" sz="4000" dirty="0" err="1">
                <a:latin typeface="Times New Roman" panose="02020603050405020304" pitchFamily="18" charset="0"/>
                <a:ea typeface="Calibri" panose="020F0502020204030204" pitchFamily="34" charset="0"/>
              </a:rPr>
              <a:t>vérin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Yéroosaghém</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pnagaranûs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hréshdagats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Yénovk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Yéghiyas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dzératsyal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aghavnagérb</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trakhdin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yétémagan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baydzaratsyal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arzhanabés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hokvotsûn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nûnchétsélots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Receive us in Jerusalem above, in the dwellings of the angels, in Eden, the paradise where Enoch and Elijah live worthily resplendent in dove-like purity and in old age. O merciful</a:t>
            </a:r>
            <a:r>
              <a:rPr lang="en-US" sz="4000" dirty="0">
                <a:latin typeface="Cambria Math" panose="02040503050406030204" pitchFamily="18" charset="0"/>
                <a:ea typeface="Calibri" panose="020F0502020204030204" pitchFamily="34" charset="0"/>
                <a:cs typeface="Cambria Math" panose="02040503050406030204" pitchFamily="18" charset="0"/>
              </a:rPr>
              <a:t> </a:t>
            </a:r>
            <a:r>
              <a:rPr lang="en-US" sz="4000" dirty="0">
                <a:latin typeface="Times New Roman" panose="02020603050405020304" pitchFamily="18" charset="0"/>
                <a:ea typeface="Calibri" panose="020F0502020204030204" pitchFamily="34" charset="0"/>
              </a:rPr>
              <a:t>Lord, have mercy upon the souls of ours who have fallen asleep.</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938992"/>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Ի վերին Երուսաղէմ ի բնակարանըս հրեշտակաց ուր Ենովք եւ Եղիաս կան ծերացեալ աղաւնակերպ, ի դրախտին եդեմական պայծառացեալ արժանապէս. ողորմած Տէր, ողորմեա հոգւոցըն մեր նընջեցելոց։</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F9F737D-7CEB-6BF2-7F18-107701A1BEDE}"/>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35</a:t>
            </a:r>
          </a:p>
        </p:txBody>
      </p:sp>
    </p:spTree>
    <p:extLst>
      <p:ext uri="{BB962C8B-B14F-4D97-AF65-F5344CB8AC3E}">
        <p14:creationId xmlns:p14="http://schemas.microsoft.com/office/powerpoint/2010/main" val="48243229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Hokvotsûn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hankootsélots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hankisd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méghavoratsûs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ûztoghootyoon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hantsanats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132343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O Christ God, grant rest and mercy to the souls of those who are at rest; and to us, sinners, grant forgiveness of our transgressions.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132343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Հոգւոցն հանգուցելոց, Քրիստոս Աստուած, արա հանգիստ եւ ողորմութիւն, եւ մեզ՝ մեղաւորացս շնորհեա զթողութիւն յանցանաց։</a:t>
            </a: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4A50773-A55B-D48B-DDBD-4CEFE17860D1}"/>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35</a:t>
            </a:r>
          </a:p>
        </p:txBody>
      </p:sp>
    </p:spTree>
    <p:extLst>
      <p:ext uri="{BB962C8B-B14F-4D97-AF65-F5344CB8AC3E}">
        <p14:creationId xmlns:p14="http://schemas.microsoft.com/office/powerpoint/2010/main" val="361729713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a:t>
            </a:r>
          </a:p>
          <a:p>
            <a:r>
              <a:rPr lang="en-US" sz="4000" dirty="0" err="1">
                <a:latin typeface="Times New Roman" panose="02020603050405020304" pitchFamily="18" charset="0"/>
                <a:ea typeface="Calibri" panose="020F0502020204030204" pitchFamily="34" charset="0"/>
              </a:rPr>
              <a:t>Vasn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hankootsyal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hokvotsn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aghachéstsook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ûzpûrgichûn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zi </a:t>
            </a:r>
            <a:r>
              <a:rPr lang="en-US" sz="4000" dirty="0" err="1">
                <a:latin typeface="Times New Roman" panose="02020603050405020304" pitchFamily="18" charset="0"/>
                <a:ea typeface="Calibri" panose="020F0502020204030204" pitchFamily="34" charset="0"/>
              </a:rPr>
              <a:t>ûznosa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artarsûn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taséstsé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gétsoostsé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shnorhiv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yooro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Asdvadz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chemeClr val="accent1">
                    <a:lumMod val="75000"/>
                  </a:schemeClr>
                </a:solidFill>
                <a:latin typeface="Times New Roman" panose="02020603050405020304" pitchFamily="18" charset="0"/>
                <a:ea typeface="Calibri" panose="020F0502020204030204" pitchFamily="34" charset="0"/>
              </a:rPr>
              <a:t>DCN.	</a:t>
            </a:r>
            <a:r>
              <a:rPr lang="en-US" sz="4000" dirty="0">
                <a:latin typeface="Times New Roman" panose="02020603050405020304" pitchFamily="18" charset="0"/>
                <a:ea typeface="Calibri" panose="020F0502020204030204" pitchFamily="34" charset="0"/>
              </a:rPr>
              <a:t>And again let us beseech the Lord.</a:t>
            </a:r>
          </a:p>
          <a:p>
            <a:r>
              <a:rPr lang="en-US" sz="4000" dirty="0">
                <a:latin typeface="Times New Roman" panose="02020603050405020304" pitchFamily="18" charset="0"/>
                <a:ea typeface="Calibri" panose="020F0502020204030204" pitchFamily="34" charset="0"/>
              </a:rPr>
              <a:t>For the souls who are at rest, let us beseech Christ our Savior, that he may rank them with the righteous and save us by his mercy. Almighty Lord, our God, save us and have mercy upon us.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ՍՐԿ.</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Եւ եւըս խաղաղութեան ըզՏէր աղաչեսցուք։</a:t>
            </a:r>
          </a:p>
          <a:p>
            <a:r>
              <a:rPr lang="hy-AM" sz="4000" dirty="0">
                <a:latin typeface="Arm HelvU" pitchFamily="2" charset="0"/>
                <a:ea typeface="Calibri" panose="020F0502020204030204" pitchFamily="34" charset="0"/>
              </a:rPr>
              <a:t>Վասն հանգուցեալ հոգւոցն աղաչեսցուք ըզփըրկիչըն մեր Քրիստոս, զի ըզնոսա ընդ արդարսըն դասեսցէ, եւ ըզմեզ կեցուսցէ շնորհիւ ողորմութեան իւրոյ։ Ամենակալ Տէր Աստուած մեր, կեցո եւ ողորմեա։</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1248ACC-56AA-FBE6-5A20-F8A490E3C766}"/>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35</a:t>
            </a:r>
          </a:p>
        </p:txBody>
      </p:sp>
    </p:spTree>
    <p:extLst>
      <p:ext uri="{BB962C8B-B14F-4D97-AF65-F5344CB8AC3E}">
        <p14:creationId xmlns:p14="http://schemas.microsoft.com/office/powerpoint/2010/main" val="307496085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voghormya</a:t>
            </a:r>
            <a:r>
              <a:rPr lang="en-US" sz="4000" dirty="0">
                <a:latin typeface="Times New Roman" panose="02020603050405020304" pitchFamily="18" charset="0"/>
                <a:ea typeface="Calibri" panose="020F0502020204030204" pitchFamily="34" charset="0"/>
              </a:rPr>
              <a:t>.</a:t>
            </a:r>
          </a:p>
          <a:p>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Vorti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Asdoodzo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anokhagal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parékoot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kûta</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ararchagan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sirovût</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hokis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hankootsyal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dzarayits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Hishya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havoor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médzi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kalûsdyan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arkayootyan</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ara</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arzhani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voghormootyan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kavootyan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toghootyan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méghats</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3170099"/>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Lord, have mercy, Lord, have mercy, Lord, have mercy.</a:t>
            </a:r>
          </a:p>
          <a:p>
            <a:r>
              <a:rPr lang="en-US" sz="4000" dirty="0">
                <a:latin typeface="Times New Roman" panose="02020603050405020304" pitchFamily="18" charset="0"/>
                <a:ea typeface="Calibri" panose="020F0502020204030204" pitchFamily="34" charset="0"/>
              </a:rPr>
              <a:t>O Christ, Son of God, </a:t>
            </a:r>
            <a:r>
              <a:rPr lang="en-US" sz="4000" dirty="0" err="1">
                <a:latin typeface="Times New Roman" panose="02020603050405020304" pitchFamily="18" charset="0"/>
                <a:ea typeface="Calibri" panose="020F0502020204030204" pitchFamily="34" charset="0"/>
              </a:rPr>
              <a:t>forebearing</a:t>
            </a:r>
            <a:r>
              <a:rPr lang="en-US" sz="4000" dirty="0">
                <a:latin typeface="Times New Roman" panose="02020603050405020304" pitchFamily="18" charset="0"/>
                <a:ea typeface="Calibri" panose="020F0502020204030204" pitchFamily="34" charset="0"/>
              </a:rPr>
              <a:t> and compassionate, have mercy through your love as Creator upon the souls of your servants who are at rest. Remember them on the great day when you come with your kingdom. Make them worthy of mercy, expiation,</a:t>
            </a:r>
            <a:r>
              <a:rPr lang="hy-AM" sz="4000" dirty="0">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and forgiveness of sins.</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Տէր ողորմեա, Տէր ողորմեա, Տէր ողորմեա։ Քրիստոս Որդի Աստուծոյ անոխակալ եւ բարեգութ, գթա քո արարչական սիրովդ ի հոգիս հանգուցեալ ծառայից քոց։ Յիշեա յաւուր մեծի գալստեան արքայութեան քո։ Արա արժանի ողորմութեան, քաւութեան եւ թողութեան մեղաց։</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8923B96-3A45-788C-BFA8-FE1399FE4750}"/>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35</a:t>
            </a:r>
          </a:p>
        </p:txBody>
      </p:sp>
    </p:spTree>
    <p:extLst>
      <p:ext uri="{BB962C8B-B14F-4D97-AF65-F5344CB8AC3E}">
        <p14:creationId xmlns:p14="http://schemas.microsoft.com/office/powerpoint/2010/main" val="427898087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Tasavoryal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baydzaratso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soorpûs</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hachagoghmyan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tasoon</a:t>
            </a:r>
            <a:r>
              <a:rPr lang="en-US" sz="4000" dirty="0">
                <a:latin typeface="Times New Roman" panose="02020603050405020304" pitchFamily="18" charset="0"/>
                <a:ea typeface="Calibri" panose="020F0502020204030204" pitchFamily="34" charset="0"/>
              </a:rPr>
              <a:t>. Zi too </a:t>
            </a:r>
            <a:r>
              <a:rPr lang="en-US" sz="4000" dirty="0" err="1">
                <a:latin typeface="Times New Roman" panose="02020603050405020304" pitchFamily="18" charset="0"/>
                <a:ea typeface="Calibri" panose="020F0502020204030204" pitchFamily="34" charset="0"/>
              </a:rPr>
              <a:t>yés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ararich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aménétsoon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tadavor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géntanyats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mérélots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vayélé</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ishkhanootyoon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badiv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ayzhm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mishd</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havidyanûs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havidénits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Rank and glorify them among the saints at your right hand, for you are Lord and the Creator of all, the judge of the living and of the dead. And to you is befitting glory, dominion, and honor, now and always and forever and 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Դասաւորեալ պայծառացո ընդ սուրբս քո յաջակողմեան դասուն, զի դու ես Տէր եւ արարիչ ամենեցուն, դատաւոր կենդանեաց եւ մեռելոց։ Եւ քեզ վայել է </a:t>
            </a:r>
            <a:r>
              <a:rPr lang="en-US" sz="4000" dirty="0">
                <a:latin typeface="Arm HelvU" pitchFamily="2" charset="0"/>
                <a:ea typeface="Calibri" panose="020F0502020204030204" pitchFamily="34" charset="0"/>
              </a:rPr>
              <a:t>w</a:t>
            </a:r>
            <a:r>
              <a:rPr lang="hy-AM" sz="4000" dirty="0">
                <a:latin typeface="Arm HelvU" pitchFamily="2" charset="0"/>
                <a:ea typeface="Calibri" panose="020F0502020204030204" pitchFamily="34" charset="0"/>
              </a:rPr>
              <a:t>առք, իշխանութիւն եւ պատիւ, այժմ եւ միշտ եւ յաւիտեանս յաւիտենից։ Ամէն։ </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79A2597-FEEF-76A6-F00E-9DA2C58F0892}"/>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35</a:t>
            </a:r>
          </a:p>
        </p:txBody>
      </p:sp>
    </p:spTree>
    <p:extLst>
      <p:ext uri="{BB962C8B-B14F-4D97-AF65-F5344CB8AC3E}">
        <p14:creationId xmlns:p14="http://schemas.microsoft.com/office/powerpoint/2010/main" val="345874399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Orhynal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Hisoos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Krisdos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Hayr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hérgins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soorp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anoon</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Yégéstsé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arkayootyoon</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Yéghitsin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gamk</a:t>
            </a:r>
            <a:r>
              <a:rPr lang="en-US" sz="4000" dirty="0">
                <a:latin typeface="Times New Roman" panose="02020603050405020304" pitchFamily="18" charset="0"/>
                <a:ea typeface="Calibri" panose="020F0502020204030204" pitchFamily="34" charset="0"/>
              </a:rPr>
              <a:t> ko </a:t>
            </a:r>
            <a:r>
              <a:rPr lang="en-US" sz="4000" dirty="0" err="1">
                <a:latin typeface="Times New Roman" panose="02020603050405020304" pitchFamily="18" charset="0"/>
                <a:ea typeface="Calibri" panose="020F0502020204030204" pitchFamily="34" charset="0"/>
              </a:rPr>
              <a:t>vorbés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hérgins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hérgri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hanabazort</a:t>
            </a:r>
            <a:r>
              <a:rPr lang="en-US" sz="4000" dirty="0">
                <a:latin typeface="Times New Roman" panose="02020603050405020304" pitchFamily="18" charset="0"/>
                <a:ea typeface="Calibri" panose="020F0502020204030204" pitchFamily="34" charset="0"/>
              </a:rPr>
              <a:t> door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aysor</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Blessed be our Lord, Jesus Christ. Amen.</a:t>
            </a:r>
            <a:endParaRPr lang="en-US" sz="4000" dirty="0">
              <a:solidFill>
                <a:srgbClr val="00B050"/>
              </a:solidFill>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Our Father who art in heaven, hallowed be Thy name. Thy kingdom come. Thy will be done on earth as it is in heaven. Give us this day our daily bread.</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FF0000"/>
                </a:solidFill>
                <a:latin typeface="Arm HelvU" pitchFamily="2" charset="0"/>
                <a:ea typeface="Calibri" panose="020F0502020204030204" pitchFamily="34" charset="0"/>
              </a:rPr>
              <a:t>ՔՀՆ.</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Օրհնեալ Տէր մեր Յիսուս Քրիստոս։ Ամէն։</a:t>
            </a:r>
          </a:p>
          <a:p>
            <a:r>
              <a:rPr lang="hy-AM" sz="4000" dirty="0">
                <a:solidFill>
                  <a:srgbClr val="00B050"/>
                </a:solidFill>
                <a:latin typeface="Arm HelvU" pitchFamily="2" charset="0"/>
                <a:ea typeface="Calibri" panose="020F0502020204030204" pitchFamily="34" charset="0"/>
              </a:rPr>
              <a:t>ԴՊՐ.</a:t>
            </a:r>
            <a:r>
              <a:rPr lang="en-US" sz="4000" dirty="0">
                <a:solidFill>
                  <a:srgbClr val="00B050"/>
                </a:solidFill>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Հայր մեր որ յերկինս ես, սուրբ եղիցի անուն քո: Եկեսցէ արքայութիւն քո. եղիցին կամք քո որպէս յերկինս եւ յերկրի: Զհաց մեր հանապազորդ տուր մեզ այսօր:</a:t>
            </a:r>
          </a:p>
          <a:p>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8C45BDB-8308-A624-ACE9-121681C52E48}"/>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36</a:t>
            </a:r>
          </a:p>
        </p:txBody>
      </p:sp>
    </p:spTree>
    <p:extLst>
      <p:ext uri="{BB962C8B-B14F-4D97-AF65-F5344CB8AC3E}">
        <p14:creationId xmlns:p14="http://schemas.microsoft.com/office/powerpoint/2010/main" val="238282828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1938992"/>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	</a:t>
            </a:r>
            <a:r>
              <a:rPr lang="en-US" sz="4000" dirty="0" err="1">
                <a:latin typeface="Times New Roman" panose="02020603050405020304" pitchFamily="18" charset="0"/>
                <a:ea typeface="Calibri" panose="020F0502020204030204" pitchFamily="34" charset="0"/>
              </a:rPr>
              <a:t>Togh</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ûzbardis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vorbés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toghoomk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mérots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bardabanats</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mi </a:t>
            </a:r>
            <a:r>
              <a:rPr lang="en-US" sz="4000" dirty="0" err="1">
                <a:latin typeface="Times New Roman" panose="02020603050405020304" pitchFamily="18" charset="0"/>
                <a:ea typeface="Calibri" panose="020F0502020204030204" pitchFamily="34" charset="0"/>
              </a:rPr>
              <a:t>danir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zméz</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portsootyoon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ayl</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pûrgya</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charé</a:t>
            </a:r>
            <a:r>
              <a:rPr lang="en-US" sz="4000" dirty="0">
                <a:latin typeface="Times New Roman" panose="02020603050405020304" pitchFamily="18" charset="0"/>
                <a:ea typeface="Calibri" panose="020F0502020204030204" pitchFamily="34" charset="0"/>
              </a:rPr>
              <a:t>.</a:t>
            </a:r>
          </a:p>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Zi ko </a:t>
            </a:r>
            <a:r>
              <a:rPr lang="en-US" sz="4000" dirty="0" err="1">
                <a:latin typeface="Times New Roman" panose="02020603050405020304" pitchFamily="18" charset="0"/>
                <a:ea typeface="Calibri" panose="020F0502020204030204" pitchFamily="34" charset="0"/>
              </a:rPr>
              <a:t>yé</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arkayootyoon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zorootyoon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park </a:t>
            </a:r>
            <a:r>
              <a:rPr lang="en-US" sz="4000" dirty="0" err="1">
                <a:latin typeface="Times New Roman" panose="02020603050405020304" pitchFamily="18" charset="0"/>
                <a:ea typeface="Calibri" panose="020F0502020204030204" pitchFamily="34" charset="0"/>
              </a:rPr>
              <a:t>havidyans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And forgive us our trespasses, as we forgive those who trespass against us.</a:t>
            </a:r>
            <a:endParaRPr lang="hy-AM" sz="4000" dirty="0">
              <a:latin typeface="Times New Roman" panose="02020603050405020304" pitchFamily="18" charset="0"/>
              <a:ea typeface="Calibri" panose="020F0502020204030204" pitchFamily="34" charset="0"/>
            </a:endParaRPr>
          </a:p>
          <a:p>
            <a:r>
              <a:rPr lang="en-US" sz="4000" dirty="0">
                <a:solidFill>
                  <a:srgbClr val="00B050"/>
                </a:solidFill>
                <a:latin typeface="Times New Roman" panose="02020603050405020304" pitchFamily="18" charset="0"/>
                <a:ea typeface="Calibri" panose="020F0502020204030204" pitchFamily="34" charset="0"/>
              </a:rPr>
              <a:t>CHR.</a:t>
            </a:r>
            <a:r>
              <a:rPr lang="en-US" sz="4000" dirty="0">
                <a:latin typeface="Times New Roman" panose="02020603050405020304" pitchFamily="18" charset="0"/>
                <a:ea typeface="Calibri" panose="020F0502020204030204" pitchFamily="34" charset="0"/>
              </a:rPr>
              <a:t>	And lead us not into temptation, but deliver us from evil.</a:t>
            </a:r>
          </a:p>
          <a:p>
            <a:r>
              <a:rPr lang="en-US" sz="4000" dirty="0">
                <a:solidFill>
                  <a:srgbClr val="FF0000"/>
                </a:solidFill>
                <a:latin typeface="Times New Roman" panose="02020603050405020304" pitchFamily="18" charset="0"/>
                <a:ea typeface="Calibri" panose="020F0502020204030204" pitchFamily="34" charset="0"/>
              </a:rPr>
              <a:t>PRS.</a:t>
            </a:r>
            <a:r>
              <a:rPr lang="en-US" sz="4000" dirty="0">
                <a:latin typeface="Times New Roman" panose="02020603050405020304" pitchFamily="18" charset="0"/>
                <a:ea typeface="Calibri" panose="020F0502020204030204" pitchFamily="34" charset="0"/>
              </a:rPr>
              <a:t>	For Thine is the kingdom and the power and the glory forever.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2554545"/>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latin typeface="Arm HelvU" pitchFamily="2" charset="0"/>
                <a:ea typeface="Calibri" panose="020F0502020204030204" pitchFamily="34" charset="0"/>
              </a:rPr>
              <a:t> Թող մեզ ըզպարտիս մեր, որպէս եւ մեք թողումք մերոց</a:t>
            </a:r>
            <a:r>
              <a:rPr lang="en-US" sz="4000" dirty="0">
                <a:latin typeface="Arm HelvU" pitchFamily="2" charset="0"/>
                <a:ea typeface="Calibri" panose="020F0502020204030204" pitchFamily="34" charset="0"/>
              </a:rPr>
              <a:t> </a:t>
            </a:r>
            <a:r>
              <a:rPr lang="hy-AM" sz="4000" dirty="0">
                <a:latin typeface="Arm HelvU" pitchFamily="2" charset="0"/>
                <a:ea typeface="Calibri" panose="020F0502020204030204" pitchFamily="34" charset="0"/>
              </a:rPr>
              <a:t>պարտապանաց:</a:t>
            </a:r>
          </a:p>
          <a:p>
            <a:r>
              <a:rPr lang="hy-AM" sz="4000" dirty="0">
                <a:latin typeface="Arm HelvU" pitchFamily="2" charset="0"/>
                <a:ea typeface="Calibri" panose="020F0502020204030204" pitchFamily="34" charset="0"/>
              </a:rPr>
              <a:t>Եւ մի` տանիր զմեզ ի փորձութիւն. այլ փըրկեա ի չարէ:</a:t>
            </a:r>
          </a:p>
          <a:p>
            <a:r>
              <a:rPr lang="hy-AM" sz="4000" dirty="0">
                <a:solidFill>
                  <a:srgbClr val="FF0000"/>
                </a:solidFill>
                <a:latin typeface="Arm HelvU" pitchFamily="2" charset="0"/>
                <a:ea typeface="Calibri" panose="020F0502020204030204" pitchFamily="34" charset="0"/>
              </a:rPr>
              <a:t>ՔՀՆ.</a:t>
            </a:r>
            <a:r>
              <a:rPr lang="hy-AM" sz="4000" dirty="0">
                <a:latin typeface="Arm HelvU" pitchFamily="2" charset="0"/>
                <a:ea typeface="Calibri" panose="020F0502020204030204" pitchFamily="34" charset="0"/>
              </a:rPr>
              <a:t>	Զի քո է արքայութիւն եւ զօրութիւն եւ փառք յաւիտեանս։ Ամէն:</a:t>
            </a:r>
            <a:endParaRPr lang="en-US" sz="4000" dirty="0">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8F5819B-4ED2-1AD9-B813-47287A5D44B4}"/>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36</a:t>
            </a:r>
          </a:p>
        </p:txBody>
      </p:sp>
    </p:spTree>
    <p:extLst>
      <p:ext uri="{BB962C8B-B14F-4D97-AF65-F5344CB8AC3E}">
        <p14:creationId xmlns:p14="http://schemas.microsoft.com/office/powerpoint/2010/main" val="363679729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75F7C7-B2DB-4AF2-A0CA-031339EC1718}"/>
              </a:ext>
            </a:extLst>
          </p:cNvPr>
          <p:cNvSpPr txBox="1"/>
          <p:nvPr/>
        </p:nvSpPr>
        <p:spPr>
          <a:xfrm>
            <a:off x="0" y="3483975"/>
            <a:ext cx="16276320"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solidFill>
                  <a:prstClr val="black"/>
                </a:solidFill>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Orhnétsits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ûzDér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zham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haménayn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zham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orhootyoon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nora</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péram</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im</a:t>
            </a:r>
            <a:r>
              <a:rPr lang="en-US" sz="4000" dirty="0">
                <a:latin typeface="Times New Roman" panose="02020603050405020304" pitchFamily="18" charset="0"/>
                <a:ea typeface="Calibri" panose="020F0502020204030204" pitchFamily="34" charset="0"/>
              </a:rPr>
              <a:t>.</a:t>
            </a:r>
            <a:endParaRPr lang="hy-AM" sz="4000" dirty="0">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latin typeface="Times New Roman" panose="02020603050405020304" pitchFamily="18" charset="0"/>
                <a:ea typeface="Calibri" panose="020F0502020204030204" pitchFamily="34" charset="0"/>
              </a:rPr>
              <a:t>	</a:t>
            </a:r>
            <a:r>
              <a:rPr lang="en-US" sz="4000" dirty="0">
                <a:latin typeface="Wingdings" panose="05000000000000000000" pitchFamily="2" charset="2"/>
                <a:ea typeface="Calibri" panose="020F0502020204030204" pitchFamily="34" charset="0"/>
              </a:rPr>
              <a:t>X</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Orhnyalk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yéghérook</a:t>
            </a:r>
            <a:r>
              <a:rPr lang="en-US" sz="4000" dirty="0">
                <a:latin typeface="Times New Roman" panose="02020603050405020304" pitchFamily="18" charset="0"/>
                <a:ea typeface="Calibri" panose="020F0502020204030204" pitchFamily="34" charset="0"/>
              </a:rPr>
              <a:t> i </a:t>
            </a:r>
            <a:r>
              <a:rPr lang="en-US" sz="4000" dirty="0" err="1">
                <a:latin typeface="Times New Roman" panose="02020603050405020304" pitchFamily="18" charset="0"/>
                <a:ea typeface="Calibri" panose="020F0502020204030204" pitchFamily="34" charset="0"/>
              </a:rPr>
              <a:t>shnorhats</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Sûrpo</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Hokvooyn</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yértayk</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khaghaghootyamp</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yév</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Dér</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yéghitsi</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tséz</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ûnt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aménésyanût</a:t>
            </a:r>
            <a:r>
              <a:rPr lang="en-US" sz="4000" dirty="0">
                <a:latin typeface="Times New Roman" panose="02020603050405020304" pitchFamily="18" charset="0"/>
                <a:ea typeface="Calibri" panose="020F0502020204030204" pitchFamily="34" charset="0"/>
              </a:rPr>
              <a:t>. </a:t>
            </a:r>
            <a:r>
              <a:rPr lang="en-US" sz="4000" dirty="0" err="1">
                <a:latin typeface="Times New Roman" panose="02020603050405020304" pitchFamily="18" charset="0"/>
                <a:ea typeface="Calibri" panose="020F0502020204030204" pitchFamily="34" charset="0"/>
              </a:rPr>
              <a:t>Amén</a:t>
            </a:r>
            <a:r>
              <a:rPr lang="en-US" sz="4000" dirty="0">
                <a:latin typeface="Times New Roman" panose="02020603050405020304" pitchFamily="18" charset="0"/>
                <a:ea typeface="Calibri" panose="020F0502020204030204" pitchFamily="34" charset="0"/>
              </a:rPr>
              <a:t>.</a:t>
            </a:r>
          </a:p>
        </p:txBody>
      </p:sp>
      <p:sp>
        <p:nvSpPr>
          <p:cNvPr id="6" name="TextBox 5">
            <a:extLst>
              <a:ext uri="{FF2B5EF4-FFF2-40B4-BE49-F238E27FC236}">
                <a16:creationId xmlns:a16="http://schemas.microsoft.com/office/drawing/2014/main" id="{7903C8A4-BAFA-4C25-AE19-DE42EC8F17D6}"/>
              </a:ext>
            </a:extLst>
          </p:cNvPr>
          <p:cNvSpPr txBox="1"/>
          <p:nvPr/>
        </p:nvSpPr>
        <p:spPr>
          <a:xfrm>
            <a:off x="-2" y="6032724"/>
            <a:ext cx="16256001" cy="2554545"/>
          </a:xfrm>
          <a:prstGeom prst="rect">
            <a:avLst/>
          </a:prstGeom>
          <a:noFill/>
          <a:ln>
            <a:noFill/>
          </a:ln>
        </p:spPr>
        <p:txBody>
          <a:bodyPr wrap="square" rtlCol="0">
            <a:spAutoFit/>
          </a:bodyPr>
          <a:lstStyle/>
          <a:p>
            <a:r>
              <a:rPr lang="en-US" sz="4000" dirty="0">
                <a:solidFill>
                  <a:srgbClr val="00B050"/>
                </a:solidFill>
                <a:latin typeface="Times New Roman" panose="02020603050405020304" pitchFamily="18" charset="0"/>
                <a:ea typeface="Calibri" panose="020F0502020204030204" pitchFamily="34" charset="0"/>
              </a:rPr>
              <a:t>CHR.</a:t>
            </a:r>
            <a:r>
              <a:rPr lang="en-US" sz="4000" dirty="0">
                <a:solidFill>
                  <a:prstClr val="black"/>
                </a:solidFill>
                <a:latin typeface="Times New Roman" panose="02020603050405020304" pitchFamily="18" charset="0"/>
                <a:ea typeface="Calibri" panose="020F0502020204030204" pitchFamily="34" charset="0"/>
              </a:rPr>
              <a:t> </a:t>
            </a:r>
            <a:r>
              <a:rPr lang="en-US" sz="4000" dirty="0">
                <a:latin typeface="Times New Roman" panose="02020603050405020304" pitchFamily="18" charset="0"/>
                <a:ea typeface="Calibri" panose="020F0502020204030204" pitchFamily="34" charset="0"/>
              </a:rPr>
              <a:t>I will bless the Lord at all times, his praise shall continually be in my mouth.</a:t>
            </a:r>
            <a:endParaRPr lang="hy-AM" sz="4000" dirty="0">
              <a:latin typeface="Times New Roman" panose="02020603050405020304" pitchFamily="18" charset="0"/>
              <a:ea typeface="Calibri" panose="020F0502020204030204" pitchFamily="34" charset="0"/>
            </a:endParaRPr>
          </a:p>
          <a:p>
            <a:r>
              <a:rPr lang="en-US" sz="4000" dirty="0">
                <a:solidFill>
                  <a:srgbClr val="FF0000"/>
                </a:solidFill>
                <a:latin typeface="Times New Roman" panose="02020603050405020304" pitchFamily="18" charset="0"/>
                <a:ea typeface="Calibri" panose="020F0502020204030204" pitchFamily="34" charset="0"/>
              </a:rPr>
              <a:t>CLB.</a:t>
            </a:r>
            <a:r>
              <a:rPr lang="en-US" sz="4000" dirty="0">
                <a:solidFill>
                  <a:prstClr val="black"/>
                </a:solidFill>
                <a:latin typeface="Times New Roman" panose="02020603050405020304" pitchFamily="18" charset="0"/>
                <a:ea typeface="Calibri" panose="020F0502020204030204" pitchFamily="34" charset="0"/>
              </a:rPr>
              <a:t>	</a:t>
            </a:r>
            <a:r>
              <a:rPr lang="en-US" sz="4000" dirty="0">
                <a:solidFill>
                  <a:prstClr val="black"/>
                </a:solidFill>
                <a:latin typeface="Wingdings" panose="05000000000000000000" pitchFamily="2" charset="2"/>
                <a:ea typeface="Calibri" panose="020F0502020204030204" pitchFamily="34" charset="0"/>
              </a:rPr>
              <a:t>X</a:t>
            </a:r>
            <a:r>
              <a:rPr lang="en-US" sz="4000" dirty="0">
                <a:solidFill>
                  <a:prstClr val="black"/>
                </a:solidFill>
                <a:latin typeface="Times New Roman" panose="02020603050405020304" pitchFamily="18" charset="0"/>
                <a:ea typeface="Calibri" panose="020F0502020204030204" pitchFamily="34" charset="0"/>
              </a:rPr>
              <a:t> Be blessed by the grace of the Holy Spirit; depart in peace, and may the Lord be with you all. Amen.</a:t>
            </a:r>
          </a:p>
        </p:txBody>
      </p:sp>
      <p:sp>
        <p:nvSpPr>
          <p:cNvPr id="7" name="TextBox 6">
            <a:extLst>
              <a:ext uri="{FF2B5EF4-FFF2-40B4-BE49-F238E27FC236}">
                <a16:creationId xmlns:a16="http://schemas.microsoft.com/office/drawing/2014/main" id="{9DE048ED-A26E-41C7-8586-6AFA4E4B4738}"/>
              </a:ext>
            </a:extLst>
          </p:cNvPr>
          <p:cNvSpPr txBox="1"/>
          <p:nvPr/>
        </p:nvSpPr>
        <p:spPr>
          <a:xfrm>
            <a:off x="0" y="914400"/>
            <a:ext cx="16276320" cy="3170099"/>
          </a:xfrm>
          <a:prstGeom prst="rect">
            <a:avLst/>
          </a:prstGeom>
          <a:noFill/>
          <a:ln w="12700">
            <a:noFill/>
          </a:ln>
        </p:spPr>
        <p:txBody>
          <a:bodyPr wrap="square" rtlCol="0">
            <a:spAutoFit/>
          </a:bodyPr>
          <a:lstStyle/>
          <a:p>
            <a:r>
              <a:rPr lang="hy-AM" sz="4000" dirty="0">
                <a:solidFill>
                  <a:srgbClr val="00B050"/>
                </a:solidFill>
                <a:latin typeface="Arm HelvU" pitchFamily="2" charset="0"/>
                <a:ea typeface="Calibri" panose="020F0502020204030204" pitchFamily="34" charset="0"/>
              </a:rPr>
              <a:t>ԴՊՐ.</a:t>
            </a:r>
            <a:r>
              <a:rPr lang="hy-AM" sz="4000" dirty="0">
                <a:solidFill>
                  <a:prstClr val="black"/>
                </a:solidFill>
                <a:latin typeface="Arm HelvU" pitchFamily="2" charset="0"/>
                <a:ea typeface="Calibri" panose="020F0502020204030204" pitchFamily="34" charset="0"/>
              </a:rPr>
              <a:t> Օրհնեցից ըզՏէր յամենայն ժամ, յամենայն ժամ, օրհնութիւն նորա ի բերան իմ:</a:t>
            </a:r>
          </a:p>
          <a:p>
            <a:r>
              <a:rPr lang="hy-AM" sz="4000" dirty="0">
                <a:solidFill>
                  <a:srgbClr val="FF0000"/>
                </a:solidFill>
                <a:latin typeface="Arm HelvU" pitchFamily="2" charset="0"/>
                <a:ea typeface="Calibri" panose="020F0502020204030204" pitchFamily="34" charset="0"/>
              </a:rPr>
              <a:t>ՔՀՆ.</a:t>
            </a:r>
            <a:r>
              <a:rPr lang="hy-AM" sz="4000" dirty="0">
                <a:solidFill>
                  <a:prstClr val="black"/>
                </a:solidFill>
                <a:latin typeface="Arm HelvU" pitchFamily="2" charset="0"/>
                <a:ea typeface="Calibri" panose="020F0502020204030204" pitchFamily="34" charset="0"/>
              </a:rPr>
              <a:t>  </a:t>
            </a:r>
            <a:r>
              <a:rPr lang="en-US" sz="4000" dirty="0">
                <a:solidFill>
                  <a:prstClr val="black"/>
                </a:solidFill>
                <a:latin typeface="Wingdings" panose="05000000000000000000" pitchFamily="2" charset="2"/>
                <a:ea typeface="Calibri" panose="020F0502020204030204" pitchFamily="34" charset="0"/>
              </a:rPr>
              <a:t>X</a:t>
            </a:r>
            <a:r>
              <a:rPr lang="en-US" sz="4000" dirty="0">
                <a:solidFill>
                  <a:prstClr val="black"/>
                </a:solidFill>
                <a:latin typeface="Arm HelvU" pitchFamily="2" charset="0"/>
                <a:ea typeface="Calibri" panose="020F0502020204030204" pitchFamily="34" charset="0"/>
              </a:rPr>
              <a:t> </a:t>
            </a:r>
            <a:r>
              <a:rPr lang="hy-AM" sz="4000" dirty="0">
                <a:solidFill>
                  <a:prstClr val="black"/>
                </a:solidFill>
                <a:latin typeface="Arm HelvU" pitchFamily="2" charset="0"/>
                <a:ea typeface="Calibri" panose="020F0502020204030204" pitchFamily="34" charset="0"/>
              </a:rPr>
              <a:t>Օրհնեալք եղերուք ի շնորհաց Սրբոյ Հոգւոյն, երթայք խաղաղութեամբ, եւ Տէր եղիցի ընդ ձեզ, ընդ ամենեսեանդ։ Ամէն:</a:t>
            </a:r>
          </a:p>
          <a:p>
            <a:endParaRPr lang="en-US" sz="4000" dirty="0">
              <a:solidFill>
                <a:prstClr val="black"/>
              </a:solidFill>
              <a:latin typeface="Arm HelvU" pitchFamily="2" charset="0"/>
              <a:ea typeface="Calibri" panose="020F0502020204030204" pitchFamily="34" charset="0"/>
            </a:endParaRPr>
          </a:p>
        </p:txBody>
      </p:sp>
      <p:cxnSp>
        <p:nvCxnSpPr>
          <p:cNvPr id="9" name="Straight Connector 8"/>
          <p:cNvCxnSpPr/>
          <p:nvPr/>
        </p:nvCxnSpPr>
        <p:spPr>
          <a:xfrm>
            <a:off x="0" y="3483975"/>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032724"/>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914400"/>
            <a:ext cx="16276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F75FF17-419A-5D57-4841-DB8EBBBE30E7}"/>
              </a:ext>
            </a:extLst>
          </p:cNvPr>
          <p:cNvSpPr txBox="1"/>
          <p:nvPr/>
        </p:nvSpPr>
        <p:spPr>
          <a:xfrm>
            <a:off x="0" y="3376"/>
            <a:ext cx="16276320" cy="769441"/>
          </a:xfrm>
          <a:prstGeom prst="rect">
            <a:avLst/>
          </a:prstGeom>
          <a:noFill/>
          <a:ln>
            <a:noFill/>
          </a:ln>
        </p:spPr>
        <p:txBody>
          <a:bodyPr wrap="square" rtlCol="0">
            <a:spAutoFit/>
          </a:bodyPr>
          <a:lstStyle/>
          <a:p>
            <a:r>
              <a:rPr lang="hy-AM" sz="4400" dirty="0">
                <a:solidFill>
                  <a:srgbClr val="00B0F0"/>
                </a:solidFill>
                <a:latin typeface="Times New Roman" panose="02020603050405020304" pitchFamily="18" charset="0"/>
                <a:ea typeface="Calibri" panose="020F0502020204030204" pitchFamily="34" charset="0"/>
              </a:rPr>
              <a:t>ՈՏՔԻ ԿԱՆԳՆԻԼ/</a:t>
            </a:r>
            <a:r>
              <a:rPr lang="en-US" sz="4400" dirty="0">
                <a:solidFill>
                  <a:srgbClr val="00B0F0"/>
                </a:solidFill>
                <a:latin typeface="Times New Roman" panose="02020603050405020304" pitchFamily="18" charset="0"/>
                <a:ea typeface="Calibri" panose="020F0502020204030204" pitchFamily="34" charset="0"/>
              </a:rPr>
              <a:t>Stand   											                  </a:t>
            </a:r>
            <a:r>
              <a:rPr lang="hy-AM" sz="4400" dirty="0">
                <a:solidFill>
                  <a:srgbClr val="00B0F0"/>
                </a:solidFill>
                <a:latin typeface="Times New Roman" panose="02020603050405020304" pitchFamily="18" charset="0"/>
                <a:ea typeface="Calibri" panose="020F0502020204030204" pitchFamily="34" charset="0"/>
              </a:rPr>
              <a:t>Էջ/</a:t>
            </a:r>
            <a:r>
              <a:rPr lang="en-US" sz="4400" dirty="0">
                <a:solidFill>
                  <a:srgbClr val="00B0F0"/>
                </a:solidFill>
                <a:latin typeface="Times New Roman" panose="02020603050405020304" pitchFamily="18" charset="0"/>
                <a:ea typeface="Calibri" panose="020F0502020204030204" pitchFamily="34" charset="0"/>
              </a:rPr>
              <a:t>Page 36</a:t>
            </a:r>
          </a:p>
        </p:txBody>
      </p:sp>
    </p:spTree>
    <p:extLst>
      <p:ext uri="{BB962C8B-B14F-4D97-AF65-F5344CB8AC3E}">
        <p14:creationId xmlns:p14="http://schemas.microsoft.com/office/powerpoint/2010/main" val="26699552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16030</TotalTime>
  <Words>21431</Words>
  <Application>Microsoft Office PowerPoint</Application>
  <PresentationFormat>Custom</PresentationFormat>
  <Paragraphs>1096</Paragraphs>
  <Slides>183</Slides>
  <Notes>0</Notes>
  <HiddenSlides>11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183</vt:i4>
      </vt:variant>
    </vt:vector>
  </HeadingPairs>
  <TitlesOfParts>
    <vt:vector size="195" baseType="lpstr">
      <vt:lpstr>MK Times Armenian</vt:lpstr>
      <vt:lpstr>TimesNewRomanPS-ItalicMT</vt:lpstr>
      <vt:lpstr>TimesNewRomanPSMT</vt:lpstr>
      <vt:lpstr>Wingdings-Regular</vt:lpstr>
      <vt:lpstr>Arial</vt:lpstr>
      <vt:lpstr>Arm HelvU</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Pages from page 42 for  Þ²ð²Î²Ü Ö²Þàô-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Canon U.S.A.,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Raffi Nenejian</dc:creator>
  <cp:lastModifiedBy>Raffi Nenejian</cp:lastModifiedBy>
  <cp:revision>239</cp:revision>
  <dcterms:created xsi:type="dcterms:W3CDTF">2023-03-03T13:03:31Z</dcterms:created>
  <dcterms:modified xsi:type="dcterms:W3CDTF">2025-10-10T13:38:08Z</dcterms:modified>
</cp:coreProperties>
</file>